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66" r:id="rId3"/>
    <p:sldId id="267" r:id="rId4"/>
    <p:sldId id="257" r:id="rId5"/>
    <p:sldId id="259" r:id="rId7"/>
    <p:sldId id="260" r:id="rId8"/>
    <p:sldId id="261" r:id="rId9"/>
    <p:sldId id="258" r:id="rId6"/>
    <p:sldId id="262" r:id="rId10"/>
    <p:sldId id="263" r:id="rId11"/>
    <p:sldId id="264" r:id="rId12"/>
    <p:sldId id="268" r:id="rId13"/>
    <p:sldId id="265" r:id="rId14"/>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735"/>
    <p:restoredTop sz="94631"/>
  </p:normalViewPr>
  <p:slideViewPr>
    <p:cSldViewPr snapToGrid="0">
      <p:cViewPr varScale="1">
        <p:scale>
          <a:sx n="77" d="100"/>
          <a:sy n="77" d="100"/>
        </p:scale>
        <p:origin x="216" y="9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afternoon, Professor and everyone.</a:t>
            </a:r>
          </a:p>
          <a:p>
            <a:endParaRPr dirty="0"/>
          </a:p>
          <a:p>
            <a:r>
              <a:rPr dirty="0"/>
              <a:t>Today, our team would like to introduce our project, called Where-Is-It 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7A770-931D-42E3-2802-BE50866A08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F0B4B-DDDA-D966-6B31-02833A1D2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B5DC86-30F9-DF40-8040-323E8A3B71D6}"/>
              </a:ext>
            </a:extLst>
          </p:cNvPr>
          <p:cNvSpPr>
            <a:spLocks noGrp="1"/>
          </p:cNvSpPr>
          <p:nvPr>
            <p:ph type="body" idx="1"/>
          </p:nvPr>
        </p:nvSpPr>
        <p:spPr/>
        <p:txBody>
          <a:bodyPr/>
          <a:lstStyle/>
          <a:p>
            <a:r>
              <a:t>Today, I will first explain our interviews and what we found. Then I will show the problem we defined from that evidence, and how we used it to design our proposed solution.</a:t>
            </a:r>
          </a:p>
        </p:txBody>
      </p:sp>
      <p:sp>
        <p:nvSpPr>
          <p:cNvPr id="4" name="Slide Number Placeholder 3">
            <a:extLst>
              <a:ext uri="{FF2B5EF4-FFF2-40B4-BE49-F238E27FC236}">
                <a16:creationId xmlns:a16="http://schemas.microsoft.com/office/drawing/2014/main" id="{436D755E-1A0A-EEB6-5DC1-E94CAA63057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77650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6E212-011F-8E7A-7F95-19D2F3FC4E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4D759-E0C6-2684-C1B1-7570C8A837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50E952-2533-1325-CBA3-C97E3483A437}"/>
              </a:ext>
            </a:extLst>
          </p:cNvPr>
          <p:cNvSpPr>
            <a:spLocks noGrp="1"/>
          </p:cNvSpPr>
          <p:nvPr>
            <p:ph type="body" idx="1"/>
          </p:nvPr>
        </p:nvSpPr>
        <p:spPr/>
        <p:txBody>
          <a:bodyPr/>
          <a:lstStyle/>
          <a:p>
            <a:r>
              <a:t>Before developing our solution, we wanted to make sure that the problem actually exists and that people experience it in their daily lives.</a:t>
            </a:r>
          </a:p>
        </p:txBody>
      </p:sp>
      <p:sp>
        <p:nvSpPr>
          <p:cNvPr id="4" name="Slide Number Placeholder 3">
            <a:extLst>
              <a:ext uri="{FF2B5EF4-FFF2-40B4-BE49-F238E27FC236}">
                <a16:creationId xmlns:a16="http://schemas.microsoft.com/office/drawing/2014/main" id="{6792850D-F2AD-7A6A-DF78-5BD0BEBC97E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99300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this reason, we conducted interviews with ten Ajou University students and analyzed their experiences with misplaced belongings.</a:t>
            </a:r>
          </a:p>
          <a:p>
            <a:endParaRPr/>
          </a:p>
          <a:p>
            <a:r>
              <a:t>Based on these interviews, we created our problem definition, mini ontology, and the first version of our project specification.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Based on these findings, we defined our problem.</a:t>
            </a:r>
          </a:p>
          <a:p/>
          <a:p>
            <a:r>
              <a:t>For example, imagine that you are getting ready to go to university, but suddenly you cannot find your wallet or earphones.</a:t>
            </a:r>
          </a:p>
          <a:p/>
          <a:p>
            <a:r>
              <a:t>You check your desk because that is where you usually keep them. However, they are not there.</a:t>
            </a:r>
          </a:p>
          <a:p/>
          <a:p>
            <a:r>
              <a:t>Then you start checking your bed, your bag, and other places around your room.</a:t>
            </a:r>
          </a:p>
          <a:p/>
          <a:p>
            <a:r>
              <a:t>This situation may seem like a small problem, but it can become stressful, especially when you are in a hurry.</a:t>
            </a:r>
          </a:p>
          <a:p/>
          <a:p>
            <a:r>
              <a:t>This is exactly the situation our participants described, and our project focuses on it.</a:t>
            </a:r>
          </a:p>
          <a:p/>
          <a:p>
            <a:r>
              <a:t>Our problem definition is:</a:t>
            </a:r>
          </a:p>
          <a:p/>
          <a:p>
            <a:r>
              <a:t>University students who frequently misplace everyday belongings have difficulty finding them when the items are not in their usual locations. Because they do not know where the items were last seen, they spend unnecessary time searching multiple places.</a:t>
            </a:r>
          </a:p>
          <a:p/>
          <a:p>
            <a:r>
              <a:t>Target User:</a:t>
            </a:r>
          </a:p>
          <a:p/>
          <a:p>
            <a:r>
              <a:t>Our primary target users are university students living in small spaces, such as dormitories or one-room apartments, who frequently spend time searching for misplaced belongings.</a:t>
            </a:r>
          </a:p>
          <a:p/>
          <a:p>
            <a:r>
              <a:t>We distinguish them from students who rarely experience significant inconvenience when looking for their belongings.</a:t>
            </a:r>
          </a:p>
          <a:p/>
          <a:p>
            <a:r>
              <a:t>We are not focusing on large-scale lost-and-found services, business equipment, or tracking belongings outside the home.</a:t>
            </a:r>
          </a:p>
          <a:p/>
          <a:p>
            <a:r>
              <a:t>Our goal is to help students find their personal belongings more quickly and reduce unnecessary stress from searching.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First, to understand whether this problem really exists, we interviewed ten Ajou University students.</a:t>
            </a:r>
          </a:p>
          <a:p/>
          <a:p>
            <a:r>
              <a:t>We asked ten questions about their actual experiences with losing or misplacing everyday belongings.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We focused particularly on their most recent experiences, where they searched, how long it took, and how they finally found their belongings.</a:t>
            </a:r>
          </a:p>
          <a:p>
            <a:endParaRPr dirty="0"/>
          </a:p>
          <a:p>
            <a:r>
              <a:rPr dirty="0"/>
              <a:t>We focused on their real experiences rather than simply asking whether they would like to use our application.</a:t>
            </a:r>
          </a:p>
          <a:p>
            <a:endParaRPr dirty="0"/>
          </a:p>
          <a:p>
            <a:r>
              <a:rPr dirty="0"/>
              <a:t>This is important because someone saying that an application sounds useful does not necessarily prove that they have a real problem.</a:t>
            </a:r>
          </a:p>
          <a:p>
            <a:endParaRPr dirty="0"/>
          </a:p>
          <a:p>
            <a:r>
              <a:rPr dirty="0"/>
              <a:t>After collecting the interviews, we compared the answers and identified several common patterns.</a:t>
            </a:r>
          </a:p>
          <a:p>
            <a:endParaRPr dirty="0"/>
          </a:p>
          <a:p>
            <a:r>
              <a:rPr dirty="0"/>
              <a:t>All ten participants reported having had trouble finding personal belongings.</a:t>
            </a:r>
          </a:p>
          <a:p>
            <a:endParaRPr dirty="0"/>
          </a:p>
          <a:p>
            <a:r>
              <a:rPr dirty="0"/>
              <a:t>However, we also wanted to understand exactly when the problem happened and why searching became difficult.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From our interviews, we identified five important findings.</a:t>
            </a:r>
          </a:p>
          <a:p/>
          <a:p>
            <a:r>
              <a:t>The first finding is that small everyday objects are difficult to find.</a:t>
            </a:r>
          </a:p>
          <a:p/>
          <a:p>
            <a:r>
              <a:t>Participants frequently mentioned items such as glasses, cards, earphones, phones, chargers, and hair ties.</a:t>
            </a:r>
          </a:p>
          <a:p/>
          <a:p>
            <a:r>
              <a:t>This shows that object size and visibility can make searching more difficult.</a:t>
            </a:r>
          </a:p>
          <a:p/>
          <a:p>
            <a:r>
              <a:t>The second finding is that people usually notice missing items when they need them.</a:t>
            </a:r>
          </a:p>
          <a:p/>
          <a:p>
            <a:r>
              <a:t>For example, participant three could not find their phone before going to work.</a:t>
            </a:r>
          </a:p>
          <a:p/>
          <a:p>
            <a:r>
              <a:t>They explained that searching usually took around ten to fifteen minutes and was inconvenient when they were in a hurry.</a:t>
            </a:r>
          </a:p>
          <a:p/>
          <a:p>
            <a:r>
              <a:t>Other participants experienced similar situations before going to class or leaving home.</a:t>
            </a:r>
          </a:p>
          <a:p/>
          <a:p>
            <a:r>
              <a:t>Therefore, the problem is not only about forgetting where an item is. It is also about losing time when the item is urgently needed.</a:t>
            </a:r>
          </a:p>
          <a:p/>
          <a:p>
            <a:r>
              <a:t>The third finding is that people first check their usual locations.</a:t>
            </a:r>
          </a:p>
          <a:p/>
          <a:p>
            <a:r>
              <a:t>All ten participants described checking familiar places, such as their desks, beds, or bags.</a:t>
            </a:r>
          </a:p>
          <a:p/>
          <a:p>
            <a:r>
              <a:t>When they didn't find it there, they kept searching other possible locations.</a:t>
            </a:r>
          </a:p>
          <a:p/>
          <a:p>
            <a:r>
              <a:t>In some cases, they even checked the same places repeatedly.</a:t>
            </a:r>
          </a:p>
          <a:p/>
          <a:p>
            <a:r>
              <a:t>This shows that without reliable location information, users may waste time searching places they have already checked.</a:t>
            </a:r>
          </a:p>
          <a:p/>
          <a:p>
            <a:r>
              <a:t>This repeated searching is one of the main problems we want to reduce.</a:t>
            </a:r>
          </a:p>
          <a:p/>
          <a:p>
            <a:r>
              <a:t>The fourth finding is that existing tracking applications have limitations.</a:t>
            </a:r>
          </a:p>
          <a:p/>
          <a:p>
            <a:r>
              <a:t>Some participants used Apple Find My or Samsung Find My Device.</a:t>
            </a:r>
          </a:p>
          <a:p/>
          <a:p>
            <a:r>
              <a:t>However, participants six and nine explained that these applications could indicate that an item was nearby without showing its exact indoor location.</a:t>
            </a:r>
          </a:p>
          <a:p/>
          <a:p>
            <a:r>
              <a:t>As a result, they still needed to search physically.</a:t>
            </a:r>
          </a:p>
          <a:p/>
          <a:p>
            <a:r>
              <a:t>The fifth finding is that remembering the last-used location is helpful.</a:t>
            </a:r>
          </a:p>
          <a:p/>
          <a:p>
            <a:r>
              <a:t>Several participants eventually found their missing belongings by remembering where they had last used them.</a:t>
            </a:r>
          </a:p>
          <a:p/>
          <a:p>
            <a:r>
              <a:t>For example, participant ten found an item under clothes near the place where it had been used the previous night.</a:t>
            </a:r>
          </a:p>
          <a:p/>
          <a:p>
            <a:r>
              <a:t>This was especially important to our project because it showed us that information about an object’s previous location could help users decide where to search first.</a:t>
            </a:r>
          </a:p>
          <a:p/>
          <a:p>
            <a:r>
              <a:t>Based on these findings, we defined our problem, which I will explain next.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proposed solution is a camera-based AI assistant that helps users locate misplaced belongings.</a:t>
            </a:r>
          </a:p>
          <a:p>
            <a:endParaRPr/>
          </a:p>
          <a:p>
            <a:r>
              <a:t>After analyzing the interview results, we created a mini ontology to organize the important information our system needs.</a:t>
            </a:r>
          </a:p>
          <a:p>
            <a:endParaRPr/>
          </a:p>
          <a:p>
            <a:r>
              <a:t>Our ontology contains six main entities.</a:t>
            </a:r>
          </a:p>
          <a:p>
            <a:endParaRPr/>
          </a:p>
          <a:p>
            <a:r>
              <a:t>These are Object, Query, Detection, Camera, Context Event, and Response.</a:t>
            </a:r>
          </a:p>
          <a:p>
            <a:endParaRPr/>
          </a:p>
          <a:p>
            <a:r>
              <a:t>Each entity has its own attributes, and we defined relationships between them.</a:t>
            </a:r>
          </a:p>
          <a:p>
            <a:endParaRPr/>
          </a:p>
          <a:p>
            <a:r>
              <a:t>Let me explain them briefly.</a:t>
            </a:r>
          </a:p>
          <a:p>
            <a:endParaRPr/>
          </a:p>
          <a:p>
            <a:r>
              <a:t>Object represents the item the user wants to find, such as glasses or a wallet.</a:t>
            </a:r>
          </a:p>
          <a:p>
            <a:endParaRPr/>
          </a:p>
          <a:p>
            <a:r>
              <a:t>Query represents the user's question, such as "Where are my glasses?"</a:t>
            </a:r>
          </a:p>
          <a:p>
            <a:endParaRPr/>
          </a:p>
          <a:p>
            <a:r>
              <a:t>Based on our interviews, Query also includes attributes such as urgency, checkedPlaces, and lastUsedPlace.</a:t>
            </a:r>
          </a:p>
          <a:p>
            <a:endParaRPr/>
          </a:p>
          <a:p>
            <a:r>
              <a:t>For example, participant three’s experience before work relates to urgency, while participants’ searching behavior relates to checkedPlaces.</a:t>
            </a:r>
          </a:p>
          <a:p>
            <a:endParaRPr/>
          </a:p>
          <a:p>
            <a:r>
              <a:t>Detection stores information about where and when the item was detected, together with a confidence score.</a:t>
            </a:r>
          </a:p>
          <a:p>
            <a:endParaRPr/>
          </a:p>
          <a:p>
            <a:r>
              <a:t>Camera identifies the camera and room associated with the detection.</a:t>
            </a:r>
          </a:p>
          <a:p>
            <a:endParaRPr/>
          </a:p>
          <a:p>
            <a:r>
              <a:t>Context Event represents relevant surrounding events, such as a person or pet appearing near an object.</a:t>
            </a:r>
          </a:p>
          <a:p>
            <a:endParaRPr/>
          </a:p>
          <a:p>
            <a:r>
              <a:t>Finally, Response represents the answer provided to the user.</a:t>
            </a:r>
          </a:p>
          <a:p>
            <a:endParaRPr/>
          </a:p>
          <a:p>
            <a:r>
              <a:t>These entities are connected to help the system understand the relationship between a user's question and the available camera evidence.</a:t>
            </a:r>
          </a:p>
          <a:p>
            <a:endParaRPr/>
          </a:p>
          <a:p>
            <a:r>
              <a:t>For example, when a user asks where their wallet is, the system searches for the latest reliable detection of that wallet and uses it to prepare a response.</a:t>
            </a:r>
          </a:p>
          <a:p>
            <a:endParaRPr/>
          </a:p>
          <a:p>
            <a:r>
              <a:t>Our ontology also defines an important rule: detections must have at least 75 percent confidence to be treated as reliable records.</a:t>
            </a:r>
          </a:p>
          <a:p>
            <a:endParaRPr/>
          </a:p>
          <a:p>
            <a:r>
              <a:t>If the system uses contextual information to suggest a possible location, it must clearly distinguish that possibility from a confirmed detection.</a:t>
            </a:r>
          </a:p>
          <a:p>
            <a:endParaRPr/>
          </a:p>
          <a:p>
            <a:r>
              <a:t>This helps prevent the system from providing uncertain information as a confirmed fact.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Based on our interview findings and ontology, we created our first specification.</a:t>
            </a:r>
          </a:p>
          <a:p>
            <a:endParaRPr/>
          </a:p>
          <a:p>
            <a:r>
              <a:t>The basic process is:</a:t>
            </a:r>
          </a:p>
          <a:p>
            <a:endParaRPr/>
          </a:p>
          <a:p>
            <a:r>
              <a:t>Detect, Save, Search, and Explain.</a:t>
            </a:r>
          </a:p>
          <a:p>
            <a:endParaRPr/>
          </a:p>
          <a:p>
            <a:r>
              <a:t>First, we need a home camera or CCTV. The camera periodically captures images of the room.</a:t>
            </a:r>
          </a:p>
          <a:p>
            <a:endParaRPr/>
          </a:p>
          <a:p>
            <a:r>
              <a:t>Second, the AI detects supported objects in those images.</a:t>
            </a:r>
          </a:p>
          <a:p>
            <a:endParaRPr/>
          </a:p>
          <a:p>
            <a:r>
              <a:t>Third, the system saves their detected locations and timestamps.</a:t>
            </a:r>
          </a:p>
          <a:p>
            <a:endParaRPr/>
          </a:p>
          <a:p>
            <a:r>
              <a:t>Finally, when a user asks a question, the system searches the available records and provides an answer.</a:t>
            </a:r>
          </a:p>
          <a:p>
            <a:endParaRPr/>
          </a:p>
          <a:p>
            <a:r>
              <a:t>For example, imagine that the user asks:</a:t>
            </a:r>
          </a:p>
          <a:p>
            <a:endParaRPr/>
          </a:p>
          <a:p>
            <a:r>
              <a:t>"Where are my glasses?"</a:t>
            </a:r>
          </a:p>
          <a:p>
            <a:endParaRPr/>
          </a:p>
          <a:p>
            <a:r>
              <a:t>If the glasses are visible in the latest camera image, the system can provide their detected location.</a:t>
            </a:r>
          </a:p>
          <a:p>
            <a:endParaRPr/>
          </a:p>
          <a:p>
            <a:r>
              <a:t>However, if the glasses are no longer visible, the system searches previous records.</a:t>
            </a:r>
          </a:p>
          <a:p>
            <a:endParaRPr/>
          </a:p>
          <a:p>
            <a:r>
              <a:t>It might answer:</a:t>
            </a:r>
          </a:p>
          <a:p>
            <a:endParaRPr/>
          </a:p>
          <a:p>
            <a:r>
              <a:t>"Your glasses were last seen on the bedside table at 2:30 PM."</a:t>
            </a:r>
          </a:p>
          <a:p>
            <a:endParaRPr/>
          </a:p>
          <a:p>
            <a:r>
              <a:t>Importantly, the system should not claim that the glasses are still there if the latest camera image does not confirm this.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specification also defines testable acceptance criteria.</a:t>
            </a:r>
          </a:p>
          <a:p>
            <a:endParaRPr/>
          </a:p>
          <a:p>
            <a:r>
              <a:t>For example, if a detection has only 60 percent confidence, it must not be used as a confirmed location because our threshold is 75 percent.</a:t>
            </a:r>
          </a:p>
          <a:p>
            <a:endParaRPr/>
          </a:p>
          <a:p>
            <a:r>
              <a:t>If no reliable detection exists, the system must clearly state that the location cannot be determined instead of guessing.</a:t>
            </a:r>
          </a:p>
          <a:p>
            <a:endParaRPr/>
          </a:p>
          <a:p>
            <a:r>
              <a:t>For our first version, we focus on pre-captured images, a limited number of everyday objects, and a simple text-based interface.</a:t>
            </a:r>
          </a:p>
          <a:p>
            <a:endParaRPr/>
          </a:p>
          <a:p>
            <a:r>
              <a:t>We also exclude multiple-camera tracking, voice interaction, and predictive search from Version 1.</a:t>
            </a:r>
          </a:p>
          <a:p>
            <a:endParaRPr/>
          </a:p>
          <a:p>
            <a:r>
              <a:t>Our specification also includes initial evaluation targets, such as object detection accuracy above 90 percent, a false positive rate below 5 percent, and a total response time below six seconds.</a:t>
            </a:r>
          </a:p>
          <a:p>
            <a:endParaRPr/>
          </a:p>
          <a:p>
            <a:r>
              <a:t>These are targets for development and testing, not results we have already achieved.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Finally, we understand that interview evidence alone does not prove that our solution will be successful.</a:t>
            </a:r>
          </a:p>
          <a:p>
            <a:endParaRPr/>
          </a:p>
          <a:p>
            <a:r>
              <a:t>Our interviews support the existence of the problem, but we still need to test whether our system helps users.</a:t>
            </a:r>
          </a:p>
          <a:p>
            <a:endParaRPr/>
          </a:p>
          <a:p>
            <a:r>
              <a:t>To evaluate this, we plan to compare how long users take to find belongings with and without Where-Is-It AI.</a:t>
            </a:r>
          </a:p>
          <a:p>
            <a:endParaRPr/>
          </a:p>
          <a:p>
            <a:r>
              <a:t>We will also observe whether users check the suggested location first and whether the system provides correct last-seen information.</a:t>
            </a:r>
          </a:p>
          <a:p>
            <a:endParaRPr/>
          </a:p>
          <a:p>
            <a:r>
              <a:t>We plan to evaluate whether users check the last-seen location, search the suggested place first, and spend less time finding their belongings.</a:t>
            </a:r>
          </a:p>
          <a:p>
            <a:endParaRPr/>
          </a:p>
          <a:p>
            <a:r>
              <a:t>We also recognize several limitations.</a:t>
            </a:r>
          </a:p>
          <a:p>
            <a:endParaRPr/>
          </a:p>
          <a:p>
            <a:r>
              <a:t>For example, a camera cannot detect objects hidden inside closed bags or drawers.</a:t>
            </a:r>
          </a:p>
          <a:p>
            <a:endParaRPr/>
          </a:p>
          <a:p>
            <a:r>
              <a:t>Therefore, if there is no reliable evidence, the system should clearly explain that the object's location cannot be confirmed instead of guessing.</a:t>
            </a:r>
          </a:p>
          <a:p>
            <a:endParaRPr/>
          </a:p>
          <a:p>
            <a:r>
              <a:t>We also need to consider privacy and the security of camera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To conclude, our interviews showed that difficulty finding everyday belongings is a real problem among our participants, especially when they are in a hurry.</a:t>
            </a:r>
          </a:p>
          <a:p>
            <a:endParaRPr dirty="0"/>
          </a:p>
          <a:p>
            <a:r>
              <a:rPr dirty="0"/>
              <a:t>Based on this evidence, we defined our target users, created a mini ontology, and developed our first specification.</a:t>
            </a:r>
          </a:p>
          <a:p>
            <a:endParaRPr dirty="0"/>
          </a:p>
          <a:p>
            <a:r>
              <a:rPr dirty="0"/>
              <a:t>Our next goal is to validate whether Where-Is-It AI can help users find their belongings more efficiently.</a:t>
            </a:r>
          </a:p>
          <a:p>
            <a:endParaRPr dirty="0"/>
          </a:p>
          <a:p>
            <a:r>
              <a:rPr dirty="0"/>
              <a:t>Thank you for listening. We are happy to answer your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9D626A9-3AEE-4159-B7E6-B02D398E2145}"/>
              </a:ext>
            </a:extLst>
          </p:cNvPr>
          <p:cNvSpPr>
            <a:spLocks noGrp="1"/>
          </p:cNvSpPr>
          <p:nvPr>
            <p:ph type="title"/>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348984F1-8D93-4880-996F-9D60DBC03993}"/>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D99021B2-CBD0-4EAB-85B2-F3C2BB0FF51A}"/>
              </a:ext>
            </a:extLst>
          </p:cNvPr>
          <p:cNvSpPr>
            <a:spLocks noGrp="1"/>
          </p:cNvSpPr>
          <p:nvPr>
            <p:ph type="title"/>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9965045-E063-4F96-980D-424242D54CFE}"/>
              </a:ext>
            </a:extLst>
          </p:cNvPr>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96299720-E1E6-4F6B-93E9-391778DECD27}"/>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8479ECD-E509-44B1-9725-A04482E87D04}"/>
              </a:ext>
            </a:extLst>
          </p:cNvPr>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5CD4B0A2-6BE2-491A-BDE6-D13FBE541DA4}"/>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endParaRPr/>
          </a:p>
        </p:txBody>
      </p:sp>
      <p:sp>
        <p:nvSpPr>
          <p:cNvPr id="3" name="Right column">
            <a:extLst>
              <a:ext uri="{FF2B5EF4-FFF2-40B4-BE49-F238E27FC236}">
                <a16:creationId xmlns:a16="http://schemas.microsoft.com/office/drawing/2014/main" id="{878A8E7D-875A-4B79-A7A3-F6417C251675}"/>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C4D0B7A-E186-409D-A40D-4F795F71AAB8}"/>
              </a:ext>
            </a:extLst>
          </p:cNvPr>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BE8B16A0-F5FA-432D-8C5F-F96FB25F5BFF}"/>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D345405-50C1-BE60-2F7F-5A829096A7AC}"/>
              </a:ext>
            </a:extLst>
          </p:cNvPr>
          <p:cNvSpPr txBox="1"/>
          <p:nvPr/>
        </p:nvSpPr>
        <p:spPr>
          <a:xfrm>
            <a:off x="584549" y="5671096"/>
            <a:ext cx="17118899" cy="646331"/>
          </a:xfrm>
          <a:prstGeom prst="rect">
            <a:avLst/>
          </a:prstGeom>
          <a:noFill/>
        </p:spPr>
        <p:txBody>
          <a:bodyPr wrap="square">
            <a:spAutoFit/>
          </a:bodyPr>
          <a:lstStyle/>
          <a:p>
            <a:pPr algn="ctr">
              <a:defRPr sz="4200" b="1">
                <a:solidFill>
                  <a:srgbClr val="2C5BA9"/>
                </a:solidFill>
                <a:latin typeface="Noto Sans CJK KR"/>
                <a:ea typeface="Noto Sans CJK KR"/>
                <a:cs typeface="Noto Sans CJK KR"/>
              </a:defRPr>
            </a:pPr>
            <a:r>
              <a:rPr lang="en-US" sz="3600">
                <a:solidFill>
                  <a:srgbClr val="2C5BA9"/>
                </a:solidFill>
                <a:latin typeface="Aptos Light" panose="020B0004020202020204" pitchFamily="34" charset="0"/>
                <a:ea typeface="Noto Sans CJK KR"/>
                <a:cs typeface="Noto Sans CJK KR"/>
              </a:rPr>
              <a:t>Have You Ever Lost Your Things?</a:t>
            </a:r>
            <a:endParaRPr lang="en-US" sz="3600" dirty="0">
              <a:solidFill>
                <a:srgbClr val="2C5BA9"/>
              </a:solidFill>
              <a:latin typeface="Aptos Light" panose="020B0004020202020204" pitchFamily="34" charset="0"/>
              <a:ea typeface="Noto Sans CJK KR"/>
              <a:cs typeface="Noto Sans CJK KR"/>
            </a:endParaRPr>
          </a:p>
        </p:txBody>
      </p:sp>
      <p:sp>
        <p:nvSpPr>
          <p:cNvPr id="11" name="Rectangle 10">
            <a:extLst>
              <a:ext uri="{FF2B5EF4-FFF2-40B4-BE49-F238E27FC236}">
                <a16:creationId xmlns:a16="http://schemas.microsoft.com/office/drawing/2014/main" id="{7C4EC0D9-EAEF-68CF-FB82-B9529A8A71FD}"/>
              </a:ext>
            </a:extLst>
          </p:cNvPr>
          <p:cNvSpPr>
            <a:spLocks noGrp="1"/>
          </p:cNvSpPr>
          <p:nvPr/>
        </p:nvSpPr>
        <p:spPr>
          <a:xfrm>
            <a:off x="914398" y="4204129"/>
            <a:ext cx="16459200" cy="952500"/>
          </a:xfrm>
          <a:prstGeom prst="rect">
            <a:avLst/>
          </a:prstGeom>
          <a:noFill/>
          <a:ln w="0">
            <a:noFill/>
          </a:ln>
        </p:spPr>
        <p:txBody>
          <a:bodyPr/>
          <a:lstStyle>
            <a:defPPr>
              <a:defRPr sz="4200" b="1">
                <a:solidFill>
                  <a:srgbClr val="2C5BA9"/>
                </a:solidFill>
                <a:latin typeface="Noto Sans CJK KR"/>
                <a:ea typeface="Noto Sans CJK KR"/>
                <a:cs typeface="Noto Sans CJK KR"/>
              </a:defRPr>
            </a:defPPr>
          </a:lstStyle>
          <a:p>
            <a:pPr algn="ctr">
              <a:defRPr sz="4200" b="1">
                <a:solidFill>
                  <a:srgbClr val="2C5BA9"/>
                </a:solidFill>
                <a:latin typeface="Noto Sans CJK KR"/>
                <a:ea typeface="Noto Sans CJK KR"/>
                <a:cs typeface="Noto Sans CJK KR"/>
              </a:defRPr>
            </a:pPr>
            <a:r>
              <a:rPr lang="en-US" sz="6000" b="1">
                <a:solidFill>
                  <a:srgbClr val="2C5BA9"/>
                </a:solidFill>
                <a:latin typeface="Noto Sans CJK KR"/>
                <a:ea typeface="Noto Sans CJK KR"/>
                <a:cs typeface="Noto Sans CJK KR"/>
              </a:rPr>
              <a:t>WHERE-IS-IT</a:t>
            </a:r>
            <a:endParaRPr lang="en-US" sz="4200" b="1" dirty="0">
              <a:solidFill>
                <a:srgbClr val="2C5BA9"/>
              </a:solidFill>
              <a:latin typeface="Noto Sans CJK KR"/>
              <a:ea typeface="Noto Sans CJK KR"/>
              <a:cs typeface="Noto Sans CJK KR"/>
            </a:endParaRPr>
          </a:p>
        </p:txBody>
      </p:sp>
      <p:sp>
        <p:nvSpPr>
          <p:cNvPr id="19" name="TextBox 18">
            <a:extLst>
              <a:ext uri="{FF2B5EF4-FFF2-40B4-BE49-F238E27FC236}">
                <a16:creationId xmlns:a16="http://schemas.microsoft.com/office/drawing/2014/main" id="{62A3A19F-4D5E-215E-07B7-4DE3718DA776}"/>
              </a:ext>
            </a:extLst>
          </p:cNvPr>
          <p:cNvSpPr txBox="1"/>
          <p:nvPr/>
        </p:nvSpPr>
        <p:spPr>
          <a:xfrm>
            <a:off x="584548" y="9174480"/>
            <a:ext cx="17118899" cy="461665"/>
          </a:xfrm>
          <a:prstGeom prst="rect">
            <a:avLst/>
          </a:prstGeom>
          <a:noFill/>
        </p:spPr>
        <p:txBody>
          <a:bodyPr wrap="square">
            <a:spAutoFit/>
          </a:bodyPr>
          <a:lstStyle/>
          <a:p>
            <a:pPr algn="ctr">
              <a:defRPr sz="4200" b="1">
                <a:solidFill>
                  <a:srgbClr val="2C5BA9"/>
                </a:solidFill>
                <a:latin typeface="Noto Sans CJK KR"/>
                <a:ea typeface="Noto Sans CJK KR"/>
                <a:cs typeface="Noto Sans CJK KR"/>
              </a:defRPr>
            </a:pPr>
            <a:r>
              <a:rPr lang="en-US" sz="2400" dirty="0">
                <a:solidFill>
                  <a:schemeClr val="tx2"/>
                </a:solidFill>
                <a:latin typeface="Aptos Light" panose="020B0004020202020204" pitchFamily="34" charset="0"/>
                <a:ea typeface="Noto Sans CJK KR"/>
                <a:cs typeface="Noto Sans CJK KR"/>
              </a:rPr>
              <a:t>TEAM OILIL7   |   SHWE YIN MIN OO  ·  SHWE YI WIN LAE  ·  SU WAI TUN</a:t>
            </a:r>
          </a:p>
        </p:txBody>
      </p:sp>
    </p:spTree>
    <p:extLst>
      <p:ext uri="{BB962C8B-B14F-4D97-AF65-F5344CB8AC3E}">
        <p14:creationId xmlns:p14="http://schemas.microsoft.com/office/powerpoint/2010/main" val="922610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7D289-FEF7-A86B-501B-8D65A1DA355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3884333F-0F99-F10A-8F4A-2B7B38CC5F9D}"/>
              </a:ext>
            </a:extLst>
          </p:cNvPr>
          <p:cNvSpPr>
            <a:spLocks noGrp="1"/>
          </p:cNvSpPr>
          <p:nvPr/>
        </p:nvSpPr>
        <p:spPr>
          <a:xfrm>
            <a:off x="914400" y="609600"/>
            <a:ext cx="16459200" cy="952500"/>
          </a:xfrm>
          <a:prstGeom prst="rect">
            <a:avLst/>
          </a:prstGeom>
          <a:noFill/>
          <a:ln w="0">
            <a:noFill/>
          </a:ln>
        </p:spPr>
        <p:txBody>
          <a:bodyPr/>
          <a:lstStyle>
            <a:defPPr>
              <a:defRPr sz="4200" b="1">
                <a:solidFill>
                  <a:srgbClr val="2C5BA9"/>
                </a:solidFill>
                <a:latin typeface="Noto Sans CJK KR"/>
                <a:ea typeface="Noto Sans CJK KR"/>
                <a:cs typeface="Noto Sans CJK KR"/>
              </a:defRPr>
            </a:defPPr>
          </a:lstStyle>
          <a:p>
            <a:pPr>
              <a:defRPr sz="4200" b="1">
                <a:solidFill>
                  <a:srgbClr val="2C5BA9"/>
                </a:solidFill>
                <a:latin typeface="Noto Sans CJK KR"/>
                <a:ea typeface="Noto Sans CJK KR"/>
                <a:cs typeface="Noto Sans CJK KR"/>
              </a:defRPr>
            </a:pPr>
            <a:endParaRPr sz="6000" b="1" dirty="0">
              <a:solidFill>
                <a:srgbClr val="2C5BA9"/>
              </a:solidFill>
              <a:latin typeface="Noto Sans CJK KR"/>
              <a:ea typeface="Noto Sans CJK KR"/>
              <a:cs typeface="Noto Sans CJK KR"/>
            </a:endParaRPr>
          </a:p>
        </p:txBody>
      </p:sp>
      <p:pic>
        <p:nvPicPr>
          <p:cNvPr id="6" name="Picture 5">
            <a:extLst>
              <a:ext uri="{FF2B5EF4-FFF2-40B4-BE49-F238E27FC236}">
                <a16:creationId xmlns:a16="http://schemas.microsoft.com/office/drawing/2014/main" id="{E8887E46-1BB9-11C6-C07C-D04B147F7762}"/>
              </a:ext>
            </a:extLst>
          </p:cNvPr>
          <p:cNvPicPr>
            <a:picLocks noChangeAspect="1"/>
          </p:cNvPicPr>
          <p:nvPr/>
        </p:nvPicPr>
        <p:blipFill>
          <a:blip r:embed="rId3"/>
          <a:stretch/>
        </p:blipFill>
        <p:spPr>
          <a:xfrm>
            <a:off x="9143999" y="0"/>
            <a:ext cx="15430501" cy="10287000"/>
          </a:xfrm>
          <a:prstGeom prst="rect">
            <a:avLst/>
          </a:prstGeom>
        </p:spPr>
      </p:pic>
      <p:sp>
        <p:nvSpPr>
          <p:cNvPr id="5" name="Rectangle 4">
            <a:extLst>
              <a:ext uri="{FF2B5EF4-FFF2-40B4-BE49-F238E27FC236}">
                <a16:creationId xmlns:a16="http://schemas.microsoft.com/office/drawing/2014/main" id="{C280B2B7-E45B-DEE7-96D9-172CDDE778C3}"/>
              </a:ext>
            </a:extLst>
          </p:cNvPr>
          <p:cNvSpPr>
            <a:spLocks noGrp="1"/>
          </p:cNvSpPr>
          <p:nvPr/>
        </p:nvSpPr>
        <p:spPr>
          <a:xfrm>
            <a:off x="1066801" y="1562100"/>
            <a:ext cx="8077198"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lang="en-US" sz="4500" b="1" dirty="0">
                <a:solidFill>
                  <a:srgbClr val="2C5BA9"/>
                </a:solidFill>
                <a:latin typeface="Noto Sans CJK KR"/>
                <a:ea typeface="Noto Sans CJK KR"/>
                <a:cs typeface="Noto Sans CJK KR"/>
              </a:rPr>
              <a:t>Table of Contents</a:t>
            </a:r>
            <a:endParaRPr sz="4500" b="1" dirty="0">
              <a:solidFill>
                <a:srgbClr val="2C5BA9"/>
              </a:solidFill>
              <a:latin typeface="Noto Sans CJK KR"/>
              <a:ea typeface="Noto Sans CJK KR"/>
              <a:cs typeface="Noto Sans CJK KR"/>
            </a:endParaRPr>
          </a:p>
        </p:txBody>
      </p:sp>
      <p:sp>
        <p:nvSpPr>
          <p:cNvPr id="9" name="Rectangle 8">
            <a:extLst>
              <a:ext uri="{FF2B5EF4-FFF2-40B4-BE49-F238E27FC236}">
                <a16:creationId xmlns:a16="http://schemas.microsoft.com/office/drawing/2014/main" id="{4C2BFDD3-100B-70E9-1A39-C344D0C3E073}"/>
              </a:ext>
            </a:extLst>
          </p:cNvPr>
          <p:cNvSpPr>
            <a:spLocks noGrp="1"/>
          </p:cNvSpPr>
          <p:nvPr/>
        </p:nvSpPr>
        <p:spPr>
          <a:xfrm>
            <a:off x="1066801" y="3017520"/>
            <a:ext cx="8077199" cy="952500"/>
          </a:xfrm>
          <a:prstGeom prst="rect">
            <a:avLst/>
          </a:prstGeom>
          <a:noFill/>
          <a:ln w="0">
            <a:noFill/>
          </a:ln>
        </p:spPr>
        <p:txBody>
          <a:bodyPr/>
          <a:lstStyle>
            <a:defPPr>
              <a:defRPr sz="3300" b="0">
                <a:solidFill>
                  <a:srgbClr val="17212D"/>
                </a:solidFill>
                <a:latin typeface="Noto Sans CJK KR"/>
                <a:ea typeface="Noto Sans CJK KR"/>
                <a:cs typeface="Noto Sans CJK KR"/>
              </a:defRPr>
            </a:defPPr>
          </a:lstStyle>
          <a:p>
            <a:pPr>
              <a:defRPr sz="3300" b="0">
                <a:solidFill>
                  <a:srgbClr val="17212D"/>
                </a:solidFill>
                <a:latin typeface="Noto Sans CJK KR"/>
                <a:ea typeface="Noto Sans CJK KR"/>
                <a:cs typeface="Noto Sans CJK KR"/>
              </a:defRPr>
            </a:pPr>
            <a:r>
              <a:rPr lang="en-US" sz="3300" b="0" dirty="0">
                <a:solidFill>
                  <a:srgbClr val="17212D"/>
                </a:solidFill>
                <a:latin typeface="Noto Sans CJK KR"/>
                <a:ea typeface="Noto Sans CJK KR"/>
                <a:cs typeface="Noto Sans CJK KR"/>
              </a:rPr>
              <a:t>01   Interview Process</a:t>
            </a:r>
          </a:p>
          <a:p>
            <a:pPr>
              <a:defRPr sz="3300" b="0">
                <a:solidFill>
                  <a:srgbClr val="17212D"/>
                </a:solidFill>
                <a:latin typeface="Noto Sans CJK KR"/>
                <a:ea typeface="Noto Sans CJK KR"/>
                <a:cs typeface="Noto Sans CJK KR"/>
              </a:defRPr>
            </a:pPr>
            <a:endParaRPr lang="en-US" sz="3300" b="0" dirty="0">
              <a:solidFill>
                <a:srgbClr val="17212D"/>
              </a:solidFill>
              <a:latin typeface="Noto Sans CJK KR"/>
              <a:ea typeface="Noto Sans CJK KR"/>
              <a:cs typeface="Noto Sans CJK KR"/>
            </a:endParaRPr>
          </a:p>
          <a:p>
            <a:pPr>
              <a:defRPr sz="3300" b="0">
                <a:solidFill>
                  <a:srgbClr val="17212D"/>
                </a:solidFill>
                <a:latin typeface="Noto Sans CJK KR"/>
                <a:ea typeface="Noto Sans CJK KR"/>
                <a:cs typeface="Noto Sans CJK KR"/>
              </a:defRPr>
            </a:pPr>
            <a:r>
              <a:rPr lang="en-US" sz="3300" b="0" dirty="0">
                <a:solidFill>
                  <a:srgbClr val="17212D"/>
                </a:solidFill>
                <a:latin typeface="Noto Sans CJK KR"/>
                <a:ea typeface="Noto Sans CJK KR"/>
                <a:cs typeface="Noto Sans CJK KR"/>
              </a:rPr>
              <a:t>02   Main Interview Findings</a:t>
            </a:r>
          </a:p>
          <a:p>
            <a:pPr>
              <a:defRPr sz="3300" b="0">
                <a:solidFill>
                  <a:srgbClr val="17212D"/>
                </a:solidFill>
                <a:latin typeface="Noto Sans CJK KR"/>
                <a:ea typeface="Noto Sans CJK KR"/>
                <a:cs typeface="Noto Sans CJK KR"/>
              </a:defRPr>
            </a:pPr>
            <a:endParaRPr lang="en-US" sz="3300" b="0" dirty="0">
              <a:solidFill>
                <a:srgbClr val="17212D"/>
              </a:solidFill>
              <a:latin typeface="Noto Sans CJK KR"/>
              <a:ea typeface="Noto Sans CJK KR"/>
              <a:cs typeface="Noto Sans CJK KR"/>
            </a:endParaRPr>
          </a:p>
          <a:p>
            <a:pPr>
              <a:defRPr sz="3300" b="0">
                <a:solidFill>
                  <a:srgbClr val="17212D"/>
                </a:solidFill>
                <a:latin typeface="Noto Sans CJK KR"/>
                <a:ea typeface="Noto Sans CJK KR"/>
                <a:cs typeface="Noto Sans CJK KR"/>
              </a:defRPr>
            </a:pPr>
            <a:r>
              <a:rPr lang="en-US" sz="3300" b="0" dirty="0">
                <a:solidFill>
                  <a:srgbClr val="17212D"/>
                </a:solidFill>
                <a:latin typeface="Noto Sans CJK KR"/>
                <a:ea typeface="Noto Sans CJK KR"/>
                <a:cs typeface="Noto Sans CJK KR"/>
              </a:rPr>
              <a:t>03   Problem Definition</a:t>
            </a:r>
          </a:p>
          <a:p>
            <a:pPr>
              <a:defRPr sz="3300" b="0">
                <a:solidFill>
                  <a:srgbClr val="17212D"/>
                </a:solidFill>
                <a:latin typeface="Noto Sans CJK KR"/>
                <a:ea typeface="Noto Sans CJK KR"/>
                <a:cs typeface="Noto Sans CJK KR"/>
              </a:defRPr>
            </a:pPr>
            <a:endParaRPr lang="en-US" sz="3300" b="0" dirty="0">
              <a:solidFill>
                <a:srgbClr val="17212D"/>
              </a:solidFill>
              <a:latin typeface="Noto Sans CJK KR"/>
              <a:ea typeface="Noto Sans CJK KR"/>
              <a:cs typeface="Noto Sans CJK KR"/>
            </a:endParaRPr>
          </a:p>
          <a:p>
            <a:pPr>
              <a:defRPr sz="3300" b="0">
                <a:solidFill>
                  <a:srgbClr val="17212D"/>
                </a:solidFill>
                <a:latin typeface="Noto Sans CJK KR"/>
                <a:ea typeface="Noto Sans CJK KR"/>
                <a:cs typeface="Noto Sans CJK KR"/>
              </a:defRPr>
            </a:pPr>
            <a:r>
              <a:rPr lang="en-US" sz="3300" b="0" dirty="0">
                <a:solidFill>
                  <a:srgbClr val="17212D"/>
                </a:solidFill>
                <a:latin typeface="Noto Sans CJK KR"/>
                <a:ea typeface="Noto Sans CJK KR"/>
                <a:cs typeface="Noto Sans CJK KR"/>
              </a:rPr>
              <a:t>04   Mini Ontology</a:t>
            </a:r>
          </a:p>
          <a:p>
            <a:pPr>
              <a:defRPr sz="3300" b="0">
                <a:solidFill>
                  <a:srgbClr val="17212D"/>
                </a:solidFill>
                <a:latin typeface="Noto Sans CJK KR"/>
                <a:ea typeface="Noto Sans CJK KR"/>
                <a:cs typeface="Noto Sans CJK KR"/>
              </a:defRPr>
            </a:pPr>
            <a:endParaRPr lang="en-US" sz="3300" b="0" dirty="0">
              <a:solidFill>
                <a:srgbClr val="17212D"/>
              </a:solidFill>
              <a:latin typeface="Noto Sans CJK KR"/>
              <a:ea typeface="Noto Sans CJK KR"/>
              <a:cs typeface="Noto Sans CJK KR"/>
            </a:endParaRPr>
          </a:p>
          <a:p>
            <a:pPr>
              <a:defRPr sz="3300" b="0">
                <a:solidFill>
                  <a:srgbClr val="17212D"/>
                </a:solidFill>
                <a:latin typeface="Noto Sans CJK KR"/>
                <a:ea typeface="Noto Sans CJK KR"/>
                <a:cs typeface="Noto Sans CJK KR"/>
              </a:defRPr>
            </a:pPr>
            <a:r>
              <a:rPr lang="en-US" sz="3300" b="0" dirty="0">
                <a:solidFill>
                  <a:srgbClr val="17212D"/>
                </a:solidFill>
                <a:latin typeface="Noto Sans CJK KR"/>
                <a:ea typeface="Noto Sans CJK KR"/>
                <a:cs typeface="Noto Sans CJK KR"/>
              </a:rPr>
              <a:t>05   Specification Version 1</a:t>
            </a:r>
          </a:p>
          <a:p>
            <a:pPr>
              <a:defRPr sz="3300" b="0">
                <a:solidFill>
                  <a:srgbClr val="17212D"/>
                </a:solidFill>
                <a:latin typeface="Noto Sans CJK KR"/>
                <a:ea typeface="Noto Sans CJK KR"/>
                <a:cs typeface="Noto Sans CJK KR"/>
              </a:defRPr>
            </a:pPr>
            <a:endParaRPr lang="en-US" sz="3300" b="0" dirty="0">
              <a:solidFill>
                <a:srgbClr val="17212D"/>
              </a:solidFill>
              <a:latin typeface="Noto Sans CJK KR"/>
              <a:ea typeface="Noto Sans CJK KR"/>
              <a:cs typeface="Noto Sans CJK KR"/>
            </a:endParaRPr>
          </a:p>
          <a:p>
            <a:pPr>
              <a:defRPr sz="3300" b="0">
                <a:solidFill>
                  <a:srgbClr val="17212D"/>
                </a:solidFill>
                <a:latin typeface="Noto Sans CJK KR"/>
                <a:ea typeface="Noto Sans CJK KR"/>
                <a:cs typeface="Noto Sans CJK KR"/>
              </a:defRPr>
            </a:pPr>
            <a:r>
              <a:rPr lang="en-US" sz="3300" b="0" dirty="0">
                <a:solidFill>
                  <a:srgbClr val="17212D"/>
                </a:solidFill>
                <a:latin typeface="Noto Sans CJK KR"/>
                <a:ea typeface="Noto Sans CJK KR"/>
                <a:cs typeface="Noto Sans CJK KR"/>
              </a:rPr>
              <a:t>06   Validation &amp; Limitations</a:t>
            </a:r>
          </a:p>
          <a:p>
            <a:pPr>
              <a:defRPr sz="3300" b="0">
                <a:solidFill>
                  <a:srgbClr val="17212D"/>
                </a:solidFill>
                <a:latin typeface="Noto Sans CJK KR"/>
                <a:ea typeface="Noto Sans CJK KR"/>
                <a:cs typeface="Noto Sans CJK KR"/>
              </a:defRPr>
            </a:pPr>
            <a:endParaRPr lang="en-US" sz="3300" b="0" dirty="0">
              <a:solidFill>
                <a:srgbClr val="17212D"/>
              </a:solidFill>
              <a:latin typeface="Noto Sans CJK KR"/>
              <a:ea typeface="Noto Sans CJK KR"/>
              <a:cs typeface="Noto Sans CJK KR"/>
            </a:endParaRPr>
          </a:p>
          <a:p>
            <a:pPr>
              <a:defRPr sz="3300" b="0">
                <a:solidFill>
                  <a:srgbClr val="17212D"/>
                </a:solidFill>
                <a:latin typeface="Noto Sans CJK KR"/>
                <a:ea typeface="Noto Sans CJK KR"/>
                <a:cs typeface="Noto Sans CJK KR"/>
              </a:defRPr>
            </a:pPr>
            <a:r>
              <a:rPr lang="en-US" sz="3300" b="0" dirty="0">
                <a:solidFill>
                  <a:srgbClr val="17212D"/>
                </a:solidFill>
                <a:latin typeface="Noto Sans CJK KR"/>
                <a:ea typeface="Noto Sans CJK KR"/>
                <a:cs typeface="Noto Sans CJK KR"/>
              </a:rPr>
              <a:t>07   Conclusion</a:t>
            </a:r>
          </a:p>
        </p:txBody>
      </p:sp>
    </p:spTree>
    <p:extLst>
      <p:ext uri="{BB962C8B-B14F-4D97-AF65-F5344CB8AC3E}">
        <p14:creationId xmlns:p14="http://schemas.microsoft.com/office/powerpoint/2010/main" val="1002049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0C448-E689-1B5A-1426-09578422F18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AE2F59A-F5FF-2F19-2792-B904BFCC2FF3}"/>
              </a:ext>
            </a:extLst>
          </p:cNvPr>
          <p:cNvSpPr>
            <a:spLocks noGrp="1"/>
          </p:cNvSpPr>
          <p:nvPr/>
        </p:nvSpPr>
        <p:spPr>
          <a:xfrm>
            <a:off x="914400" y="609600"/>
            <a:ext cx="16459200" cy="952500"/>
          </a:xfrm>
          <a:prstGeom prst="rect">
            <a:avLst/>
          </a:prstGeom>
          <a:noFill/>
          <a:ln w="0">
            <a:noFill/>
          </a:ln>
        </p:spPr>
        <p:txBody>
          <a:bodyPr/>
          <a:lstStyle>
            <a:defPPr>
              <a:defRPr sz="4200" b="1">
                <a:solidFill>
                  <a:srgbClr val="2C5BA9"/>
                </a:solidFill>
                <a:latin typeface="Noto Sans CJK KR"/>
                <a:ea typeface="Noto Sans CJK KR"/>
                <a:cs typeface="Noto Sans CJK KR"/>
              </a:defRPr>
            </a:defPPr>
          </a:lstStyle>
          <a:p>
            <a:pPr>
              <a:defRPr sz="4200" b="1">
                <a:solidFill>
                  <a:srgbClr val="2C5BA9"/>
                </a:solidFill>
                <a:latin typeface="Noto Sans CJK KR"/>
                <a:ea typeface="Noto Sans CJK KR"/>
                <a:cs typeface="Noto Sans CJK KR"/>
              </a:defRPr>
            </a:pPr>
            <a:endParaRPr sz="6000" b="1" dirty="0">
              <a:solidFill>
                <a:srgbClr val="2C5BA9"/>
              </a:solidFill>
              <a:latin typeface="Noto Sans CJK KR"/>
              <a:ea typeface="Noto Sans CJK KR"/>
              <a:cs typeface="Noto Sans CJK KR"/>
            </a:endParaRPr>
          </a:p>
        </p:txBody>
      </p:sp>
      <p:sp>
        <p:nvSpPr>
          <p:cNvPr id="3" name="Rectangle 2">
            <a:extLst>
              <a:ext uri="{FF2B5EF4-FFF2-40B4-BE49-F238E27FC236}">
                <a16:creationId xmlns:a16="http://schemas.microsoft.com/office/drawing/2014/main" id="{38CFE44F-CA66-4B37-FD13-0BBEBB081659}"/>
              </a:ext>
            </a:extLst>
          </p:cNvPr>
          <p:cNvSpPr>
            <a:spLocks noGrp="1"/>
          </p:cNvSpPr>
          <p:nvPr/>
        </p:nvSpPr>
        <p:spPr>
          <a:xfrm>
            <a:off x="963828" y="4048125"/>
            <a:ext cx="7239000" cy="2217008"/>
          </a:xfrm>
          <a:prstGeom prst="rect">
            <a:avLst/>
          </a:prstGeom>
          <a:noFill/>
          <a:ln w="0">
            <a:noFill/>
          </a:ln>
        </p:spPr>
        <p:txBody>
          <a:bodyPr/>
          <a:lstStyle>
            <a:defPPr>
              <a:defRPr sz="2550" b="0">
                <a:solidFill>
                  <a:srgbClr val="17212D"/>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endParaRPr sz="2550" b="0" dirty="0">
              <a:solidFill>
                <a:srgbClr val="17212D"/>
              </a:solidFill>
              <a:latin typeface="Noto Sans CJK KR"/>
              <a:ea typeface="Noto Sans CJK KR"/>
              <a:cs typeface="Noto Sans CJK KR"/>
            </a:endParaRPr>
          </a:p>
        </p:txBody>
      </p:sp>
      <p:pic>
        <p:nvPicPr>
          <p:cNvPr id="6" name="Picture 5">
            <a:extLst>
              <a:ext uri="{FF2B5EF4-FFF2-40B4-BE49-F238E27FC236}">
                <a16:creationId xmlns:a16="http://schemas.microsoft.com/office/drawing/2014/main" id="{577E2154-415B-750D-82E3-387DCFE85CC5}"/>
              </a:ext>
            </a:extLst>
          </p:cNvPr>
          <p:cNvPicPr>
            <a:picLocks noChangeAspect="1"/>
          </p:cNvPicPr>
          <p:nvPr/>
        </p:nvPicPr>
        <p:blipFill>
          <a:blip r:embed="rId3"/>
          <a:stretch/>
        </p:blipFill>
        <p:spPr>
          <a:xfrm>
            <a:off x="-6286501" y="13129"/>
            <a:ext cx="15430501" cy="10287000"/>
          </a:xfrm>
          <a:prstGeom prst="rect">
            <a:avLst/>
          </a:prstGeom>
        </p:spPr>
      </p:pic>
      <p:sp>
        <p:nvSpPr>
          <p:cNvPr id="2" name="Rectangle 1">
            <a:extLst>
              <a:ext uri="{FF2B5EF4-FFF2-40B4-BE49-F238E27FC236}">
                <a16:creationId xmlns:a16="http://schemas.microsoft.com/office/drawing/2014/main" id="{81DEDF81-22F6-E44B-5BC7-6461A683BCE9}"/>
              </a:ext>
            </a:extLst>
          </p:cNvPr>
          <p:cNvSpPr>
            <a:spLocks noGrp="1"/>
          </p:cNvSpPr>
          <p:nvPr/>
        </p:nvSpPr>
        <p:spPr>
          <a:xfrm>
            <a:off x="1066800" y="762000"/>
            <a:ext cx="16459200" cy="952500"/>
          </a:xfrm>
          <a:prstGeom prst="rect">
            <a:avLst/>
          </a:prstGeom>
          <a:noFill/>
          <a:ln w="0">
            <a:noFill/>
          </a:ln>
        </p:spPr>
        <p:txBody>
          <a:bodyPr/>
          <a:lstStyle>
            <a:defPPr>
              <a:defRPr sz="4200" b="1">
                <a:solidFill>
                  <a:srgbClr val="2C5BA9"/>
                </a:solidFill>
                <a:latin typeface="Noto Sans CJK KR"/>
                <a:ea typeface="Noto Sans CJK KR"/>
                <a:cs typeface="Noto Sans CJK KR"/>
              </a:defRPr>
            </a:defPPr>
          </a:lstStyle>
          <a:p>
            <a:pPr algn="r">
              <a:defRPr sz="4200" b="1">
                <a:solidFill>
                  <a:srgbClr val="2C5BA9"/>
                </a:solidFill>
                <a:latin typeface="Noto Sans CJK KR"/>
                <a:ea typeface="Noto Sans CJK KR"/>
                <a:cs typeface="Noto Sans CJK KR"/>
              </a:defRPr>
            </a:pPr>
            <a:r>
              <a:rPr sz="6000" b="1" dirty="0">
                <a:solidFill>
                  <a:srgbClr val="2C5BA9"/>
                </a:solidFill>
                <a:latin typeface="Noto Sans CJK KR"/>
                <a:ea typeface="Noto Sans CJK KR"/>
                <a:cs typeface="Noto Sans CJK KR"/>
              </a:rPr>
              <a:t>Where-Is-It</a:t>
            </a:r>
            <a:r>
              <a:rPr lang="en-US" sz="6000" b="1" dirty="0">
                <a:solidFill>
                  <a:srgbClr val="2C5BA9"/>
                </a:solidFill>
                <a:latin typeface="Noto Sans CJK KR"/>
                <a:ea typeface="Noto Sans CJK KR"/>
                <a:cs typeface="Noto Sans CJK KR"/>
              </a:rPr>
              <a:t> AI</a:t>
            </a:r>
            <a:endParaRPr sz="4200" b="1" dirty="0">
              <a:solidFill>
                <a:srgbClr val="2C5BA9"/>
              </a:solidFill>
              <a:latin typeface="Noto Sans CJK KR"/>
              <a:ea typeface="Noto Sans CJK KR"/>
              <a:cs typeface="Noto Sans CJK KR"/>
            </a:endParaRPr>
          </a:p>
        </p:txBody>
      </p:sp>
      <p:sp>
        <p:nvSpPr>
          <p:cNvPr id="4" name="Rectangle 3">
            <a:extLst>
              <a:ext uri="{FF2B5EF4-FFF2-40B4-BE49-F238E27FC236}">
                <a16:creationId xmlns:a16="http://schemas.microsoft.com/office/drawing/2014/main" id="{57C61D05-8452-6DD0-9B4D-FBD8017C5E93}"/>
              </a:ext>
            </a:extLst>
          </p:cNvPr>
          <p:cNvSpPr>
            <a:spLocks noGrp="1"/>
          </p:cNvSpPr>
          <p:nvPr/>
        </p:nvSpPr>
        <p:spPr>
          <a:xfrm>
            <a:off x="9692640" y="2405062"/>
            <a:ext cx="7836408" cy="952500"/>
          </a:xfrm>
          <a:prstGeom prst="rect">
            <a:avLst/>
          </a:prstGeom>
          <a:noFill/>
          <a:ln w="0">
            <a:noFill/>
          </a:ln>
        </p:spPr>
        <p:txBody>
          <a:bodyPr/>
          <a:lstStyle>
            <a:defPPr>
              <a:defRPr sz="3300" b="0">
                <a:solidFill>
                  <a:srgbClr val="17212D"/>
                </a:solidFill>
                <a:latin typeface="Noto Sans CJK KR"/>
                <a:ea typeface="Noto Sans CJK KR"/>
                <a:cs typeface="Noto Sans CJK KR"/>
              </a:defRPr>
            </a:defPPr>
          </a:lstStyle>
          <a:p>
            <a:pPr algn="r">
              <a:defRPr sz="3300" b="0">
                <a:solidFill>
                  <a:srgbClr val="17212D"/>
                </a:solidFill>
                <a:latin typeface="Noto Sans CJK KR"/>
                <a:ea typeface="Noto Sans CJK KR"/>
                <a:cs typeface="Noto Sans CJK KR"/>
              </a:defRPr>
            </a:pPr>
            <a:r>
              <a:rPr sz="3300" b="0" dirty="0">
                <a:solidFill>
                  <a:srgbClr val="17212D"/>
                </a:solidFill>
                <a:latin typeface="Noto Sans CJK KR"/>
                <a:ea typeface="Noto Sans CJK KR"/>
                <a:cs typeface="Noto Sans CJK KR"/>
              </a:rPr>
              <a:t>An AI Assistant for Finding Misplaced Everyday Belongings</a:t>
            </a:r>
          </a:p>
        </p:txBody>
      </p:sp>
      <p:pic>
        <p:nvPicPr>
          <p:cNvPr id="8" name="Picture 7" descr="A person standing in front of a bed&#10;&#10;AI-generated content may be incorrect.">
            <a:extLst>
              <a:ext uri="{FF2B5EF4-FFF2-40B4-BE49-F238E27FC236}">
                <a16:creationId xmlns:a16="http://schemas.microsoft.com/office/drawing/2014/main" id="{AF65C052-12EE-3FED-E1BE-D01FA70CEC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28245" y="3848100"/>
            <a:ext cx="7772400" cy="5829300"/>
          </a:xfrm>
          <a:prstGeom prst="rect">
            <a:avLst/>
          </a:prstGeom>
        </p:spPr>
      </p:pic>
    </p:spTree>
    <p:extLst>
      <p:ext uri="{BB962C8B-B14F-4D97-AF65-F5344CB8AC3E}">
        <p14:creationId xmlns:p14="http://schemas.microsoft.com/office/powerpoint/2010/main" val="32301804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0C01F991-2C62-4B1B-97FA-EF7BB2807494}"/>
              </a:ext>
            </a:extLst>
          </p:cNvPr>
          <p:cNvCxnSpPr>
            <a:stCxn id="9" idx="3"/>
            <a:endCxn id="11" idx="1"/>
          </p:cNvCxnSpPr>
          <p:nvPr/>
        </p:nvCxnSpPr>
        <p:spPr>
          <a:xfrm>
            <a:off x="13144500" y="7072313"/>
            <a:ext cx="457200" cy="0"/>
          </a:xfrm>
          <a:prstGeom prst="straightConnector1">
            <a:avLst/>
          </a:prstGeom>
          <a:ln w="28575">
            <a:solidFill>
              <a:srgbClr val="2C5BA9"/>
            </a:solidFill>
            <a:tailEnd type="triangle" w="sm" len="sm"/>
          </a:ln>
        </p:spPr>
      </p:cxnSp>
      <p:cxnSp>
        <p:nvCxnSpPr>
          <p:cNvPr id="14" name="Straight Arrow Connector 13">
            <a:extLst>
              <a:ext uri="{FF2B5EF4-FFF2-40B4-BE49-F238E27FC236}">
                <a16:creationId xmlns:a16="http://schemas.microsoft.com/office/drawing/2014/main" id="{A78CCAD2-D4C0-4112-907E-D7CE449A0A4D}"/>
              </a:ext>
            </a:extLst>
          </p:cNvPr>
          <p:cNvCxnSpPr>
            <a:stCxn id="7" idx="3"/>
            <a:endCxn id="9" idx="1"/>
          </p:cNvCxnSpPr>
          <p:nvPr/>
        </p:nvCxnSpPr>
        <p:spPr>
          <a:xfrm>
            <a:off x="8915400" y="7072313"/>
            <a:ext cx="457200" cy="0"/>
          </a:xfrm>
          <a:prstGeom prst="straightConnector1">
            <a:avLst/>
          </a:prstGeom>
          <a:ln w="28575">
            <a:solidFill>
              <a:srgbClr val="2C5BA9"/>
            </a:solidFill>
            <a:tailEnd type="triangle" w="sm" len="sm"/>
          </a:ln>
        </p:spPr>
      </p:cxnSp>
      <p:cxnSp>
        <p:nvCxnSpPr>
          <p:cNvPr id="13" name="Straight Arrow Connector 12">
            <a:extLst>
              <a:ext uri="{FF2B5EF4-FFF2-40B4-BE49-F238E27FC236}">
                <a16:creationId xmlns:a16="http://schemas.microsoft.com/office/drawing/2014/main" id="{7F8239C7-39C0-44EC-B4B0-85DF9F2E60DB}"/>
              </a:ext>
            </a:extLst>
          </p:cNvPr>
          <p:cNvCxnSpPr>
            <a:stCxn id="5" idx="3"/>
            <a:endCxn id="7" idx="1"/>
          </p:cNvCxnSpPr>
          <p:nvPr/>
        </p:nvCxnSpPr>
        <p:spPr>
          <a:xfrm>
            <a:off x="4686300" y="7072313"/>
            <a:ext cx="457200" cy="0"/>
          </a:xfrm>
          <a:prstGeom prst="straightConnector1">
            <a:avLst/>
          </a:prstGeom>
          <a:ln w="28575">
            <a:solidFill>
              <a:srgbClr val="2C5BA9"/>
            </a:solidFill>
            <a:tailEnd type="triangle" w="sm" len="sm"/>
          </a:ln>
        </p:spPr>
      </p:cxnSp>
      <p:sp>
        <p:nvSpPr>
          <p:cNvPr id="16" name="Rectangle 15">
            <a:extLst>
              <a:ext uri="{FF2B5EF4-FFF2-40B4-BE49-F238E27FC236}">
                <a16:creationId xmlns:a16="http://schemas.microsoft.com/office/drawing/2014/main" id="{A6472AFC-E5E1-46C2-AD3B-636708F9A41E}"/>
              </a:ext>
            </a:extLst>
          </p:cNvPr>
          <p:cNvSpPr>
            <a:spLocks noGrp="1"/>
          </p:cNvSpPr>
          <p:nvPr/>
        </p:nvSpPr>
        <p:spPr>
          <a:xfrm>
            <a:off x="914400" y="609600"/>
            <a:ext cx="16459200" cy="952500"/>
          </a:xfrm>
          <a:prstGeom prst="rect">
            <a:avLst/>
          </a:prstGeom>
          <a:noFill/>
          <a:ln w="0">
            <a:noFill/>
          </a:ln>
        </p:spPr>
        <p:txBody>
          <a:bodyPr/>
          <a:lstStyle>
            <a:defPPr>
              <a:defRPr sz="4200" b="1">
                <a:solidFill>
                  <a:srgbClr val="2C5BA9"/>
                </a:solidFill>
                <a:latin typeface="Noto Sans CJK KR"/>
                <a:ea typeface="Noto Sans CJK KR"/>
                <a:cs typeface="Noto Sans CJK KR"/>
              </a:defRPr>
            </a:defPPr>
          </a:lstStyle>
          <a:p>
            <a:pPr>
              <a:defRPr sz="4200" b="1">
                <a:solidFill>
                  <a:srgbClr val="2C5BA9"/>
                </a:solidFill>
                <a:latin typeface="Noto Sans CJK KR"/>
                <a:ea typeface="Noto Sans CJK KR"/>
                <a:cs typeface="Noto Sans CJK KR"/>
              </a:defRPr>
            </a:pPr>
            <a:r>
              <a:rPr sz="6000" b="1" dirty="0">
                <a:solidFill>
                  <a:srgbClr val="2C5BA9"/>
                </a:solidFill>
                <a:latin typeface="Noto Sans CJK KR"/>
                <a:ea typeface="Noto Sans CJK KR"/>
                <a:cs typeface="Noto Sans CJK KR"/>
              </a:rPr>
              <a:t>Where-Is-It</a:t>
            </a:r>
            <a:r>
              <a:rPr lang="en-US" sz="6000" b="1" dirty="0">
                <a:solidFill>
                  <a:srgbClr val="2C5BA9"/>
                </a:solidFill>
                <a:latin typeface="Noto Sans CJK KR"/>
                <a:ea typeface="Noto Sans CJK KR"/>
                <a:cs typeface="Noto Sans CJK KR"/>
              </a:rPr>
              <a:t> AI</a:t>
            </a:r>
            <a:endParaRPr sz="4200" b="1" dirty="0">
              <a:solidFill>
                <a:srgbClr val="2C5BA9"/>
              </a:solidFill>
              <a:latin typeface="Noto Sans CJK KR"/>
              <a:ea typeface="Noto Sans CJK KR"/>
              <a:cs typeface="Noto Sans CJK KR"/>
            </a:endParaRPr>
          </a:p>
        </p:txBody>
      </p:sp>
      <p:sp>
        <p:nvSpPr>
          <p:cNvPr id="2" name="Rectangle 1">
            <a:extLst>
              <a:ext uri="{FF2B5EF4-FFF2-40B4-BE49-F238E27FC236}">
                <a16:creationId xmlns:a16="http://schemas.microsoft.com/office/drawing/2014/main" id="{B5530D2E-B260-41EA-8487-348418C07BC5}"/>
              </a:ext>
            </a:extLst>
          </p:cNvPr>
          <p:cNvSpPr>
            <a:spLocks noGrp="1"/>
          </p:cNvSpPr>
          <p:nvPr/>
        </p:nvSpPr>
        <p:spPr>
          <a:xfrm>
            <a:off x="914400" y="2143125"/>
            <a:ext cx="164592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Our Approach</a:t>
            </a:r>
          </a:p>
        </p:txBody>
      </p:sp>
      <p:sp>
        <p:nvSpPr>
          <p:cNvPr id="3" name="Rectangle 2">
            <a:extLst>
              <a:ext uri="{FF2B5EF4-FFF2-40B4-BE49-F238E27FC236}">
                <a16:creationId xmlns:a16="http://schemas.microsoft.com/office/drawing/2014/main" id="{E76E4D2A-5230-446B-811D-BB8150E648D6}"/>
              </a:ext>
            </a:extLst>
          </p:cNvPr>
          <p:cNvSpPr>
            <a:spLocks noGrp="1"/>
          </p:cNvSpPr>
          <p:nvPr/>
        </p:nvSpPr>
        <p:spPr>
          <a:xfrm>
            <a:off x="914400" y="3048000"/>
            <a:ext cx="16459200" cy="952500"/>
          </a:xfrm>
          <a:prstGeom prst="rect">
            <a:avLst/>
          </a:prstGeom>
          <a:noFill/>
          <a:ln w="0">
            <a:noFill/>
          </a:ln>
        </p:spPr>
        <p:txBody>
          <a:bodyPr/>
          <a:lstStyle>
            <a:defPPr>
              <a:defRPr sz="3300" b="0">
                <a:solidFill>
                  <a:srgbClr val="17212D"/>
                </a:solidFill>
                <a:latin typeface="Noto Sans CJK KR"/>
                <a:ea typeface="Noto Sans CJK KR"/>
                <a:cs typeface="Noto Sans CJK KR"/>
              </a:defRPr>
            </a:defPPr>
          </a:lstStyle>
          <a:p>
            <a:pPr>
              <a:defRPr sz="3300" b="0">
                <a:solidFill>
                  <a:srgbClr val="17212D"/>
                </a:solidFill>
                <a:latin typeface="Noto Sans CJK KR"/>
                <a:ea typeface="Noto Sans CJK KR"/>
                <a:cs typeface="Noto Sans CJK KR"/>
              </a:defRPr>
            </a:pPr>
            <a:r>
              <a:rPr sz="3300" b="0">
                <a:solidFill>
                  <a:srgbClr val="17212D"/>
                </a:solidFill>
                <a:latin typeface="Noto Sans CJK KR"/>
                <a:ea typeface="Noto Sans CJK KR"/>
                <a:cs typeface="Noto Sans CJK KR"/>
              </a:rPr>
              <a:t>Before designing a solution, we first verified that the problem really exists by interviewing 10 Ajou University students.</a:t>
            </a:r>
          </a:p>
        </p:txBody>
      </p:sp>
      <p:sp>
        <p:nvSpPr>
          <p:cNvPr id="4" name="Rectangle 3">
            <a:extLst>
              <a:ext uri="{FF2B5EF4-FFF2-40B4-BE49-F238E27FC236}">
                <a16:creationId xmlns:a16="http://schemas.microsoft.com/office/drawing/2014/main" id="{7CCB7B2E-D7A0-49F3-A496-49F4199C5778}"/>
              </a:ext>
            </a:extLst>
          </p:cNvPr>
          <p:cNvSpPr>
            <a:spLocks noGrp="1"/>
          </p:cNvSpPr>
          <p:nvPr/>
        </p:nvSpPr>
        <p:spPr>
          <a:xfrm>
            <a:off x="914400" y="4762500"/>
            <a:ext cx="164592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dirty="0">
                <a:solidFill>
                  <a:srgbClr val="2C5BA9"/>
                </a:solidFill>
                <a:latin typeface="Noto Sans CJK KR"/>
                <a:ea typeface="Noto Sans CJK KR"/>
                <a:cs typeface="Noto Sans CJK KR"/>
              </a:rPr>
              <a:t>Project Overview</a:t>
            </a:r>
          </a:p>
        </p:txBody>
      </p:sp>
      <p:sp>
        <p:nvSpPr>
          <p:cNvPr id="5" name="Rectangle: Rounded Corners 4">
            <a:extLst>
              <a:ext uri="{FF2B5EF4-FFF2-40B4-BE49-F238E27FC236}">
                <a16:creationId xmlns:a16="http://schemas.microsoft.com/office/drawing/2014/main" id="{25B93264-6A1C-401F-8E01-9FBE100B4A82}"/>
              </a:ext>
            </a:extLst>
          </p:cNvPr>
          <p:cNvSpPr>
            <a:spLocks noGrp="1"/>
          </p:cNvSpPr>
          <p:nvPr/>
        </p:nvSpPr>
        <p:spPr>
          <a:xfrm>
            <a:off x="914400" y="5953125"/>
            <a:ext cx="3771900" cy="2238375"/>
          </a:xfrm>
          <a:prstGeom prst="roundRect">
            <a:avLst>
              <a:gd name="adj" fmla="val 3404"/>
            </a:avLst>
          </a:prstGeom>
          <a:solidFill>
            <a:srgbClr val="F4F7FC"/>
          </a:solidFill>
          <a:ln w="19050">
            <a:solidFill>
              <a:srgbClr val="2C5BA9"/>
            </a:solidFill>
          </a:ln>
        </p:spPr>
        <p:txBody>
          <a:bodyPr/>
          <a:lstStyle/>
          <a:p>
            <a:endParaRPr lang="en-US"/>
          </a:p>
        </p:txBody>
      </p:sp>
      <p:sp>
        <p:nvSpPr>
          <p:cNvPr id="6" name="Rectangle 5">
            <a:extLst>
              <a:ext uri="{FF2B5EF4-FFF2-40B4-BE49-F238E27FC236}">
                <a16:creationId xmlns:a16="http://schemas.microsoft.com/office/drawing/2014/main" id="{542F4432-F43A-42C2-9B5D-5B7EE211BC69}"/>
              </a:ext>
            </a:extLst>
          </p:cNvPr>
          <p:cNvSpPr>
            <a:spLocks noGrp="1"/>
          </p:cNvSpPr>
          <p:nvPr/>
        </p:nvSpPr>
        <p:spPr>
          <a:xfrm>
            <a:off x="1219200" y="6438900"/>
            <a:ext cx="3162300" cy="1476375"/>
          </a:xfrm>
          <a:prstGeom prst="rect">
            <a:avLst/>
          </a:prstGeom>
          <a:noFill/>
          <a:ln w="0">
            <a:noFill/>
          </a:ln>
        </p:spPr>
        <p:txBody>
          <a:bodyPr/>
          <a:lstStyle>
            <a:defPPr>
              <a:defRPr sz="2550" b="1">
                <a:solidFill>
                  <a:srgbClr val="2C5BA9"/>
                </a:solidFill>
                <a:latin typeface="Noto Sans CJK KR"/>
                <a:ea typeface="Noto Sans CJK KR"/>
                <a:cs typeface="Noto Sans CJK KR"/>
              </a:defRPr>
            </a:defPPr>
          </a:lstStyle>
          <a:p>
            <a:pPr>
              <a:defRPr sz="2550" b="1">
                <a:solidFill>
                  <a:srgbClr val="2C5BA9"/>
                </a:solidFill>
                <a:latin typeface="Noto Sans CJK KR"/>
                <a:ea typeface="Noto Sans CJK KR"/>
                <a:cs typeface="Noto Sans CJK KR"/>
              </a:defRPr>
            </a:pPr>
            <a:r>
              <a:rPr sz="2550" b="1" dirty="0">
                <a:solidFill>
                  <a:srgbClr val="2C5BA9"/>
                </a:solidFill>
                <a:latin typeface="Noto Sans CJK KR"/>
                <a:ea typeface="Noto Sans CJK KR"/>
                <a:cs typeface="Noto Sans CJK KR"/>
              </a:rPr>
              <a:t>User interviews</a:t>
            </a:r>
          </a:p>
        </p:txBody>
      </p:sp>
      <p:sp>
        <p:nvSpPr>
          <p:cNvPr id="7" name="Rectangle: Rounded Corners 6">
            <a:extLst>
              <a:ext uri="{FF2B5EF4-FFF2-40B4-BE49-F238E27FC236}">
                <a16:creationId xmlns:a16="http://schemas.microsoft.com/office/drawing/2014/main" id="{38B00FB2-9881-4C39-9B56-CD1D65DF1C59}"/>
              </a:ext>
            </a:extLst>
          </p:cNvPr>
          <p:cNvSpPr>
            <a:spLocks noGrp="1"/>
          </p:cNvSpPr>
          <p:nvPr/>
        </p:nvSpPr>
        <p:spPr>
          <a:xfrm>
            <a:off x="5143500" y="5953125"/>
            <a:ext cx="3771900" cy="2238375"/>
          </a:xfrm>
          <a:prstGeom prst="roundRect">
            <a:avLst>
              <a:gd name="adj" fmla="val 3404"/>
            </a:avLst>
          </a:prstGeom>
          <a:solidFill>
            <a:srgbClr val="EAF0F9"/>
          </a:solidFill>
          <a:ln w="19050">
            <a:solidFill>
              <a:srgbClr val="2C5BA9"/>
            </a:solidFill>
          </a:ln>
        </p:spPr>
        <p:txBody>
          <a:bodyPr/>
          <a:lstStyle/>
          <a:p>
            <a:endParaRPr lang="en-US"/>
          </a:p>
        </p:txBody>
      </p:sp>
      <p:sp>
        <p:nvSpPr>
          <p:cNvPr id="8" name="Rectangle 7">
            <a:extLst>
              <a:ext uri="{FF2B5EF4-FFF2-40B4-BE49-F238E27FC236}">
                <a16:creationId xmlns:a16="http://schemas.microsoft.com/office/drawing/2014/main" id="{B4159AEE-0965-44C4-ADC9-D70E76C4AEF1}"/>
              </a:ext>
            </a:extLst>
          </p:cNvPr>
          <p:cNvSpPr>
            <a:spLocks noGrp="1"/>
          </p:cNvSpPr>
          <p:nvPr/>
        </p:nvSpPr>
        <p:spPr>
          <a:xfrm>
            <a:off x="5448300" y="6438900"/>
            <a:ext cx="3162300" cy="1476375"/>
          </a:xfrm>
          <a:prstGeom prst="rect">
            <a:avLst/>
          </a:prstGeom>
          <a:noFill/>
          <a:ln w="0">
            <a:noFill/>
          </a:ln>
        </p:spPr>
        <p:txBody>
          <a:bodyPr/>
          <a:lstStyle>
            <a:defPPr>
              <a:defRPr sz="2550" b="1">
                <a:solidFill>
                  <a:srgbClr val="2C5BA9"/>
                </a:solidFill>
                <a:latin typeface="Noto Sans CJK KR"/>
                <a:ea typeface="Noto Sans CJK KR"/>
                <a:cs typeface="Noto Sans CJK KR"/>
              </a:defRPr>
            </a:defPPr>
          </a:lstStyle>
          <a:p>
            <a:pPr>
              <a:defRPr sz="2550" b="1">
                <a:solidFill>
                  <a:srgbClr val="2C5BA9"/>
                </a:solidFill>
                <a:latin typeface="Noto Sans CJK KR"/>
                <a:ea typeface="Noto Sans CJK KR"/>
                <a:cs typeface="Noto Sans CJK KR"/>
              </a:defRPr>
            </a:pPr>
            <a:r>
              <a:rPr sz="2550" b="1">
                <a:solidFill>
                  <a:srgbClr val="2C5BA9"/>
                </a:solidFill>
                <a:latin typeface="Noto Sans CJK KR"/>
                <a:ea typeface="Noto Sans CJK KR"/>
                <a:cs typeface="Noto Sans CJK KR"/>
              </a:rPr>
              <a:t>Problem definition based on interview evidence</a:t>
            </a:r>
          </a:p>
        </p:txBody>
      </p:sp>
      <p:sp>
        <p:nvSpPr>
          <p:cNvPr id="9" name="Rectangle: Rounded Corners 8">
            <a:extLst>
              <a:ext uri="{FF2B5EF4-FFF2-40B4-BE49-F238E27FC236}">
                <a16:creationId xmlns:a16="http://schemas.microsoft.com/office/drawing/2014/main" id="{6EA80AD5-389D-4548-B3B5-B33859380F5D}"/>
              </a:ext>
            </a:extLst>
          </p:cNvPr>
          <p:cNvSpPr>
            <a:spLocks noGrp="1"/>
          </p:cNvSpPr>
          <p:nvPr/>
        </p:nvSpPr>
        <p:spPr>
          <a:xfrm>
            <a:off x="9372600" y="5953125"/>
            <a:ext cx="3771900" cy="2238375"/>
          </a:xfrm>
          <a:prstGeom prst="roundRect">
            <a:avLst>
              <a:gd name="adj" fmla="val 3404"/>
            </a:avLst>
          </a:prstGeom>
          <a:solidFill>
            <a:srgbClr val="F4F7FC"/>
          </a:solidFill>
          <a:ln w="19050">
            <a:solidFill>
              <a:srgbClr val="2C5BA9"/>
            </a:solidFill>
          </a:ln>
        </p:spPr>
        <p:txBody>
          <a:bodyPr/>
          <a:lstStyle/>
          <a:p>
            <a:endParaRPr lang="en-US"/>
          </a:p>
        </p:txBody>
      </p:sp>
      <p:sp>
        <p:nvSpPr>
          <p:cNvPr id="10" name="Rectangle 9">
            <a:extLst>
              <a:ext uri="{FF2B5EF4-FFF2-40B4-BE49-F238E27FC236}">
                <a16:creationId xmlns:a16="http://schemas.microsoft.com/office/drawing/2014/main" id="{D1ADA899-3D56-443F-B4C5-006512239E2A}"/>
              </a:ext>
            </a:extLst>
          </p:cNvPr>
          <p:cNvSpPr>
            <a:spLocks noGrp="1"/>
          </p:cNvSpPr>
          <p:nvPr/>
        </p:nvSpPr>
        <p:spPr>
          <a:xfrm>
            <a:off x="9677400" y="6438900"/>
            <a:ext cx="3162300" cy="1476375"/>
          </a:xfrm>
          <a:prstGeom prst="rect">
            <a:avLst/>
          </a:prstGeom>
          <a:noFill/>
          <a:ln w="0">
            <a:noFill/>
          </a:ln>
        </p:spPr>
        <p:txBody>
          <a:bodyPr/>
          <a:lstStyle>
            <a:defPPr>
              <a:defRPr sz="2550" b="1">
                <a:solidFill>
                  <a:srgbClr val="2C5BA9"/>
                </a:solidFill>
                <a:latin typeface="Noto Sans CJK KR"/>
                <a:ea typeface="Noto Sans CJK KR"/>
                <a:cs typeface="Noto Sans CJK KR"/>
              </a:defRPr>
            </a:defPPr>
          </a:lstStyle>
          <a:p>
            <a:pPr>
              <a:defRPr sz="2550" b="1">
                <a:solidFill>
                  <a:srgbClr val="2C5BA9"/>
                </a:solidFill>
                <a:latin typeface="Noto Sans CJK KR"/>
                <a:ea typeface="Noto Sans CJK KR"/>
                <a:cs typeface="Noto Sans CJK KR"/>
              </a:defRPr>
            </a:pPr>
            <a:r>
              <a:rPr sz="2550" b="1">
                <a:solidFill>
                  <a:srgbClr val="2C5BA9"/>
                </a:solidFill>
                <a:latin typeface="Noto Sans CJK KR"/>
                <a:ea typeface="Noto Sans CJK KR"/>
                <a:cs typeface="Noto Sans CJK KR"/>
              </a:rPr>
              <a:t>Mini ontology development</a:t>
            </a:r>
          </a:p>
        </p:txBody>
      </p:sp>
      <p:sp>
        <p:nvSpPr>
          <p:cNvPr id="11" name="Rectangle: Rounded Corners 10">
            <a:extLst>
              <a:ext uri="{FF2B5EF4-FFF2-40B4-BE49-F238E27FC236}">
                <a16:creationId xmlns:a16="http://schemas.microsoft.com/office/drawing/2014/main" id="{491FE2A4-4ABB-4170-9600-8A75509B2298}"/>
              </a:ext>
            </a:extLst>
          </p:cNvPr>
          <p:cNvSpPr>
            <a:spLocks noGrp="1"/>
          </p:cNvSpPr>
          <p:nvPr/>
        </p:nvSpPr>
        <p:spPr>
          <a:xfrm>
            <a:off x="13601700" y="5953125"/>
            <a:ext cx="3771900" cy="2238375"/>
          </a:xfrm>
          <a:prstGeom prst="roundRect">
            <a:avLst>
              <a:gd name="adj" fmla="val 3404"/>
            </a:avLst>
          </a:prstGeom>
          <a:solidFill>
            <a:srgbClr val="EAF0F9"/>
          </a:solidFill>
          <a:ln w="19050">
            <a:solidFill>
              <a:srgbClr val="2C5BA9"/>
            </a:solidFill>
          </a:ln>
        </p:spPr>
        <p:txBody>
          <a:bodyPr/>
          <a:lstStyle/>
          <a:p>
            <a:endParaRPr lang="en-US"/>
          </a:p>
        </p:txBody>
      </p:sp>
      <p:sp>
        <p:nvSpPr>
          <p:cNvPr id="12" name="Rectangle 11">
            <a:extLst>
              <a:ext uri="{FF2B5EF4-FFF2-40B4-BE49-F238E27FC236}">
                <a16:creationId xmlns:a16="http://schemas.microsoft.com/office/drawing/2014/main" id="{9DA18585-56D8-4FCD-BBB0-EB99DCD27421}"/>
              </a:ext>
            </a:extLst>
          </p:cNvPr>
          <p:cNvSpPr>
            <a:spLocks noGrp="1"/>
          </p:cNvSpPr>
          <p:nvPr/>
        </p:nvSpPr>
        <p:spPr>
          <a:xfrm>
            <a:off x="13906500" y="6438900"/>
            <a:ext cx="3162300" cy="1476375"/>
          </a:xfrm>
          <a:prstGeom prst="rect">
            <a:avLst/>
          </a:prstGeom>
          <a:noFill/>
          <a:ln w="0">
            <a:noFill/>
          </a:ln>
        </p:spPr>
        <p:txBody>
          <a:bodyPr/>
          <a:lstStyle>
            <a:defPPr>
              <a:defRPr sz="2550" b="1">
                <a:solidFill>
                  <a:srgbClr val="2C5BA9"/>
                </a:solidFill>
                <a:latin typeface="Noto Sans CJK KR"/>
                <a:ea typeface="Noto Sans CJK KR"/>
                <a:cs typeface="Noto Sans CJK KR"/>
              </a:defRPr>
            </a:defPPr>
          </a:lstStyle>
          <a:p>
            <a:pPr>
              <a:defRPr sz="2550" b="1">
                <a:solidFill>
                  <a:srgbClr val="2C5BA9"/>
                </a:solidFill>
                <a:latin typeface="Noto Sans CJK KR"/>
                <a:ea typeface="Noto Sans CJK KR"/>
                <a:cs typeface="Noto Sans CJK KR"/>
              </a:defRPr>
            </a:pPr>
            <a:r>
              <a:rPr sz="2550" b="1" dirty="0">
                <a:solidFill>
                  <a:srgbClr val="2C5BA9"/>
                </a:solidFill>
                <a:latin typeface="Noto Sans CJK KR"/>
                <a:ea typeface="Noto Sans CJK KR"/>
                <a:cs typeface="Noto Sans CJK KR"/>
              </a:rPr>
              <a:t>Specification</a:t>
            </a:r>
            <a:endParaRPr lang="en-US" sz="2550" b="1" dirty="0">
              <a:solidFill>
                <a:srgbClr val="2C5BA9"/>
              </a:solidFill>
              <a:latin typeface="Noto Sans CJK KR"/>
              <a:ea typeface="Noto Sans CJK KR"/>
              <a:cs typeface="Noto Sans CJK KR"/>
            </a:endParaRPr>
          </a:p>
          <a:p>
            <a:pPr>
              <a:defRPr sz="2550" b="1">
                <a:solidFill>
                  <a:srgbClr val="2C5BA9"/>
                </a:solidFill>
                <a:latin typeface="Noto Sans CJK KR"/>
                <a:ea typeface="Noto Sans CJK KR"/>
                <a:cs typeface="Noto Sans CJK KR"/>
              </a:defRPr>
            </a:pPr>
            <a:r>
              <a:rPr sz="2550" b="1" dirty="0">
                <a:solidFill>
                  <a:srgbClr val="2C5BA9"/>
                </a:solidFill>
                <a:latin typeface="Noto Sans CJK KR"/>
                <a:ea typeface="Noto Sans CJK KR"/>
                <a:cs typeface="Noto Sans CJK KR"/>
              </a:rPr>
              <a:t> Version 1</a:t>
            </a:r>
          </a:p>
        </p:txBody>
      </p:sp>
    </p:spTree>
    <p:extLst>
      <p:ext uri="{BB962C8B-B14F-4D97-AF65-F5344CB8AC3E}">
        <p14:creationId xmlns:p14="http://schemas.microsoft.com/office/powerpoint/2010/main" val="3627046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7CC57F3D-213A-4586-BA41-7AE17BF3420F}"/>
              </a:ext>
            </a:extLst>
          </p:cNvPr>
          <p:cNvCxnSpPr>
            <a:stCxn id="9" idx="2"/>
            <a:endCxn id="11" idx="0"/>
          </p:cNvCxnSpPr>
          <p:nvPr/>
        </p:nvCxnSpPr>
        <p:spPr>
          <a:xfrm>
            <a:off x="4914900" y="7734300"/>
            <a:ext cx="0" cy="180975"/>
          </a:xfrm>
          <a:prstGeom prst="straightConnector1">
            <a:avLst/>
          </a:prstGeom>
          <a:ln w="28575">
            <a:solidFill>
              <a:srgbClr val="2C5BA9"/>
            </a:solidFill>
            <a:tailEnd type="triangle" w="sm" len="sm"/>
          </a:ln>
        </p:spPr>
      </p:cxnSp>
      <p:cxnSp>
        <p:nvCxnSpPr>
          <p:cNvPr id="14" name="Straight Arrow Connector 13">
            <a:extLst>
              <a:ext uri="{FF2B5EF4-FFF2-40B4-BE49-F238E27FC236}">
                <a16:creationId xmlns:a16="http://schemas.microsoft.com/office/drawing/2014/main" id="{D83C5A40-0773-40AC-9987-F8C2EB2DF5C1}"/>
              </a:ext>
            </a:extLst>
          </p:cNvPr>
          <p:cNvCxnSpPr>
            <a:stCxn id="7" idx="2"/>
            <a:endCxn id="9" idx="0"/>
          </p:cNvCxnSpPr>
          <p:nvPr/>
        </p:nvCxnSpPr>
        <p:spPr>
          <a:xfrm>
            <a:off x="4914900" y="6819900"/>
            <a:ext cx="0" cy="180975"/>
          </a:xfrm>
          <a:prstGeom prst="straightConnector1">
            <a:avLst/>
          </a:prstGeom>
          <a:ln w="28575">
            <a:solidFill>
              <a:srgbClr val="2C5BA9"/>
            </a:solidFill>
            <a:tailEnd type="triangle" w="sm" len="sm"/>
          </a:ln>
        </p:spPr>
      </p:cxnSp>
      <p:cxnSp>
        <p:nvCxnSpPr>
          <p:cNvPr id="13" name="Straight Arrow Connector 12">
            <a:extLst>
              <a:ext uri="{FF2B5EF4-FFF2-40B4-BE49-F238E27FC236}">
                <a16:creationId xmlns:a16="http://schemas.microsoft.com/office/drawing/2014/main" id="{E0EA1B72-E3D3-4E20-ABA9-A48DAB0EAEAF}"/>
              </a:ext>
            </a:extLst>
          </p:cNvPr>
          <p:cNvCxnSpPr>
            <a:stCxn id="5" idx="2"/>
            <a:endCxn id="7" idx="0"/>
          </p:cNvCxnSpPr>
          <p:nvPr/>
        </p:nvCxnSpPr>
        <p:spPr>
          <a:xfrm>
            <a:off x="4914900" y="5905500"/>
            <a:ext cx="0" cy="180975"/>
          </a:xfrm>
          <a:prstGeom prst="straightConnector1">
            <a:avLst/>
          </a:prstGeom>
          <a:ln w="28575">
            <a:solidFill>
              <a:srgbClr val="2C5BA9"/>
            </a:solidFill>
            <a:tailEnd type="triangle" w="sm" len="sm"/>
          </a:ln>
        </p:spPr>
      </p:cxnSp>
      <p:sp>
        <p:nvSpPr>
          <p:cNvPr id="21" name="Rectangle 20">
            <a:extLst>
              <a:ext uri="{FF2B5EF4-FFF2-40B4-BE49-F238E27FC236}">
                <a16:creationId xmlns:a16="http://schemas.microsoft.com/office/drawing/2014/main" id="{B5CB0108-3175-426A-9336-D2002FD1CED2}"/>
              </a:ext>
            </a:extLst>
          </p:cNvPr>
          <p:cNvSpPr>
            <a:spLocks noGrp="1"/>
          </p:cNvSpPr>
          <p:nvPr/>
        </p:nvSpPr>
        <p:spPr>
          <a:xfrm>
            <a:off x="914400" y="609600"/>
            <a:ext cx="16459200" cy="952500"/>
          </a:xfrm>
          <a:prstGeom prst="rect">
            <a:avLst/>
          </a:prstGeom>
          <a:noFill/>
          <a:ln w="0">
            <a:noFill/>
          </a:ln>
        </p:spPr>
        <p:txBody>
          <a:bodyPr/>
          <a:lstStyle>
            <a:defPPr>
              <a:defRPr sz="4200" b="1">
                <a:solidFill>
                  <a:srgbClr val="2C5BA9"/>
                </a:solidFill>
                <a:latin typeface="Noto Sans CJK KR"/>
                <a:ea typeface="Noto Sans CJK KR"/>
                <a:cs typeface="Noto Sans CJK KR"/>
              </a:defRPr>
            </a:defPPr>
          </a:lstStyle>
          <a:p>
            <a:pPr>
              <a:defRPr sz="4200" b="1">
                <a:solidFill>
                  <a:srgbClr val="2C5BA9"/>
                </a:solidFill>
                <a:latin typeface="Noto Sans CJK KR"/>
                <a:ea typeface="Noto Sans CJK KR"/>
                <a:cs typeface="Noto Sans CJK KR"/>
              </a:defRPr>
            </a:pPr>
            <a:r>
              <a:rPr sz="6000" b="1" dirty="0">
                <a:solidFill>
                  <a:srgbClr val="2C5BA9"/>
                </a:solidFill>
                <a:latin typeface="Noto Sans CJK KR"/>
                <a:ea typeface="Noto Sans CJK KR"/>
                <a:cs typeface="Noto Sans CJK KR"/>
              </a:rPr>
              <a:t>Problem Definition</a:t>
            </a:r>
          </a:p>
        </p:txBody>
      </p:sp>
      <p:sp>
        <p:nvSpPr>
          <p:cNvPr id="2" name="Rectangle 1">
            <a:extLst>
              <a:ext uri="{FF2B5EF4-FFF2-40B4-BE49-F238E27FC236}">
                <a16:creationId xmlns:a16="http://schemas.microsoft.com/office/drawing/2014/main" id="{DC7A49CF-9EBF-42DF-B85F-7CC299AF550F}"/>
              </a:ext>
            </a:extLst>
          </p:cNvPr>
          <p:cNvSpPr>
            <a:spLocks noGrp="1"/>
          </p:cNvSpPr>
          <p:nvPr/>
        </p:nvSpPr>
        <p:spPr>
          <a:xfrm>
            <a:off x="914400" y="1981200"/>
            <a:ext cx="164592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Problem Statement</a:t>
            </a:r>
          </a:p>
        </p:txBody>
      </p:sp>
      <p:sp>
        <p:nvSpPr>
          <p:cNvPr id="3" name="Rectangle 2">
            <a:extLst>
              <a:ext uri="{FF2B5EF4-FFF2-40B4-BE49-F238E27FC236}">
                <a16:creationId xmlns:a16="http://schemas.microsoft.com/office/drawing/2014/main" id="{E1F5D83F-ABE0-4525-907A-80C7188FAA8E}"/>
              </a:ext>
            </a:extLst>
          </p:cNvPr>
          <p:cNvSpPr>
            <a:spLocks noGrp="1"/>
          </p:cNvSpPr>
          <p:nvPr/>
        </p:nvSpPr>
        <p:spPr>
          <a:xfrm>
            <a:off x="914400" y="2667000"/>
            <a:ext cx="16459200" cy="1600200"/>
          </a:xfrm>
          <a:prstGeom prst="rect">
            <a:avLst/>
          </a:prstGeom>
          <a:noFill/>
          <a:ln w="0">
            <a:noFill/>
          </a:ln>
        </p:spPr>
        <p:txBody>
          <a:bodyPr/>
          <a:lstStyle>
            <a:defPPr>
              <a:defRPr sz="2850" b="0">
                <a:solidFill>
                  <a:srgbClr val="17212D"/>
                </a:solidFill>
                <a:latin typeface="Noto Sans CJK KR"/>
                <a:ea typeface="Noto Sans CJK KR"/>
                <a:cs typeface="Noto Sans CJK KR"/>
              </a:defRPr>
            </a:defPPr>
          </a:lstStyle>
          <a:p>
            <a:pPr>
              <a:defRPr sz="2850" b="0">
                <a:solidFill>
                  <a:srgbClr val="17212D"/>
                </a:solidFill>
                <a:latin typeface="Noto Sans CJK KR"/>
                <a:ea typeface="Noto Sans CJK KR"/>
                <a:cs typeface="Noto Sans CJK KR"/>
              </a:defRPr>
            </a:pPr>
            <a:r>
              <a:rPr sz="2400" b="0">
                <a:solidFill>
                  <a:srgbClr val="17212D"/>
                </a:solidFill>
                <a:latin typeface="Noto Sans CJK KR"/>
                <a:ea typeface="Noto Sans CJK KR"/>
                <a:cs typeface="Noto Sans CJK KR"/>
              </a:rPr>
              <a:t>University students who frequently misplace everyday belongings have difficulty finding them when the items are not in their usual locations. Because they do not know where the items were last seen, they spend unnecessary time searching multiple places.</a:t>
            </a:r>
          </a:p>
        </p:txBody>
      </p:sp>
      <p:sp>
        <p:nvSpPr>
          <p:cNvPr id="4" name="Rectangle 3">
            <a:extLst>
              <a:ext uri="{FF2B5EF4-FFF2-40B4-BE49-F238E27FC236}">
                <a16:creationId xmlns:a16="http://schemas.microsoft.com/office/drawing/2014/main" id="{2A88C0DF-5F38-4B6E-9F01-8985C13FF77A}"/>
              </a:ext>
            </a:extLst>
          </p:cNvPr>
          <p:cNvSpPr>
            <a:spLocks noGrp="1"/>
          </p:cNvSpPr>
          <p:nvPr/>
        </p:nvSpPr>
        <p:spPr>
          <a:xfrm>
            <a:off x="814192" y="4385675"/>
            <a:ext cx="80010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dirty="0">
                <a:solidFill>
                  <a:srgbClr val="2C5BA9"/>
                </a:solidFill>
                <a:latin typeface="Noto Sans CJK KR"/>
                <a:ea typeface="Noto Sans CJK KR"/>
                <a:cs typeface="Noto Sans CJK KR"/>
              </a:rPr>
              <a:t>Key Problems</a:t>
            </a:r>
          </a:p>
        </p:txBody>
      </p:sp>
      <p:sp>
        <p:nvSpPr>
          <p:cNvPr id="5" name="Rectangle 4">
            <a:extLst>
              <a:ext uri="{FF2B5EF4-FFF2-40B4-BE49-F238E27FC236}">
                <a16:creationId xmlns:a16="http://schemas.microsoft.com/office/drawing/2014/main" id="{8721446B-4615-4B08-92C7-C8CB86C00C5A}"/>
              </a:ext>
            </a:extLst>
          </p:cNvPr>
          <p:cNvSpPr>
            <a:spLocks noGrp="1"/>
          </p:cNvSpPr>
          <p:nvPr/>
        </p:nvSpPr>
        <p:spPr>
          <a:xfrm>
            <a:off x="914400" y="5172075"/>
            <a:ext cx="8001000" cy="733425"/>
          </a:xfrm>
          <a:prstGeom prst="rect">
            <a:avLst/>
          </a:prstGeom>
          <a:solidFill>
            <a:srgbClr val="F1F4F8"/>
          </a:solidFill>
          <a:ln w="9525">
            <a:solidFill>
              <a:srgbClr val="BED0E9"/>
            </a:solidFill>
          </a:ln>
        </p:spPr>
        <p:txBody>
          <a:bodyPr/>
          <a:lstStyle/>
          <a:p>
            <a:endParaRPr lang="en-US"/>
          </a:p>
        </p:txBody>
      </p:sp>
      <p:sp>
        <p:nvSpPr>
          <p:cNvPr id="6" name="Rectangle 5">
            <a:extLst>
              <a:ext uri="{FF2B5EF4-FFF2-40B4-BE49-F238E27FC236}">
                <a16:creationId xmlns:a16="http://schemas.microsoft.com/office/drawing/2014/main" id="{BECD3C9E-DE2F-41C1-88A8-866A543C08A7}"/>
              </a:ext>
            </a:extLst>
          </p:cNvPr>
          <p:cNvSpPr>
            <a:spLocks noGrp="1"/>
          </p:cNvSpPr>
          <p:nvPr/>
        </p:nvSpPr>
        <p:spPr>
          <a:xfrm>
            <a:off x="1133475" y="5257800"/>
            <a:ext cx="7562850" cy="628650"/>
          </a:xfrm>
          <a:prstGeom prst="rect">
            <a:avLst/>
          </a:prstGeom>
          <a:noFill/>
          <a:ln w="0">
            <a:noFill/>
          </a:ln>
        </p:spPr>
        <p:txBody>
          <a:bodyPr/>
          <a:lstStyle>
            <a:defPPr>
              <a:defRPr sz="2250" b="0">
                <a:solidFill>
                  <a:srgbClr val="17212D"/>
                </a:solidFill>
                <a:latin typeface="Noto Sans CJK KR"/>
                <a:ea typeface="Noto Sans CJK KR"/>
                <a:cs typeface="Noto Sans CJK KR"/>
              </a:defRPr>
            </a:defPPr>
          </a:lstStyle>
          <a:p>
            <a:pPr>
              <a:defRPr sz="2250" b="0">
                <a:solidFill>
                  <a:srgbClr val="17212D"/>
                </a:solidFill>
                <a:latin typeface="Noto Sans CJK KR"/>
                <a:ea typeface="Noto Sans CJK KR"/>
                <a:cs typeface="Noto Sans CJK KR"/>
              </a:defRPr>
            </a:pPr>
            <a:r>
              <a:rPr sz="2250" b="0" dirty="0">
                <a:solidFill>
                  <a:srgbClr val="17212D"/>
                </a:solidFill>
                <a:latin typeface="Noto Sans CJK KR"/>
                <a:ea typeface="Noto Sans CJK KR"/>
                <a:cs typeface="Noto Sans CJK KR"/>
              </a:rPr>
              <a:t>Not knowing where items were last seen</a:t>
            </a:r>
          </a:p>
        </p:txBody>
      </p:sp>
      <p:sp>
        <p:nvSpPr>
          <p:cNvPr id="7" name="Rectangle 6">
            <a:extLst>
              <a:ext uri="{FF2B5EF4-FFF2-40B4-BE49-F238E27FC236}">
                <a16:creationId xmlns:a16="http://schemas.microsoft.com/office/drawing/2014/main" id="{4D475C67-4A8F-436A-A139-A2F0F3F61E06}"/>
              </a:ext>
            </a:extLst>
          </p:cNvPr>
          <p:cNvSpPr>
            <a:spLocks noGrp="1"/>
          </p:cNvSpPr>
          <p:nvPr/>
        </p:nvSpPr>
        <p:spPr>
          <a:xfrm>
            <a:off x="914400" y="6086475"/>
            <a:ext cx="8001000" cy="733425"/>
          </a:xfrm>
          <a:prstGeom prst="rect">
            <a:avLst/>
          </a:prstGeom>
          <a:solidFill>
            <a:srgbClr val="F1F4F8"/>
          </a:solidFill>
          <a:ln w="9525">
            <a:solidFill>
              <a:srgbClr val="BED0E9"/>
            </a:solidFill>
          </a:ln>
        </p:spPr>
        <p:txBody>
          <a:bodyPr/>
          <a:lstStyle/>
          <a:p>
            <a:endParaRPr lang="en-US"/>
          </a:p>
        </p:txBody>
      </p:sp>
      <p:sp>
        <p:nvSpPr>
          <p:cNvPr id="8" name="Rectangle 7">
            <a:extLst>
              <a:ext uri="{FF2B5EF4-FFF2-40B4-BE49-F238E27FC236}">
                <a16:creationId xmlns:a16="http://schemas.microsoft.com/office/drawing/2014/main" id="{FC27D5C5-DAAE-4D30-873B-F547E0F3BDA3}"/>
              </a:ext>
            </a:extLst>
          </p:cNvPr>
          <p:cNvSpPr>
            <a:spLocks noGrp="1"/>
          </p:cNvSpPr>
          <p:nvPr/>
        </p:nvSpPr>
        <p:spPr>
          <a:xfrm>
            <a:off x="1133475" y="6172200"/>
            <a:ext cx="7562850" cy="628650"/>
          </a:xfrm>
          <a:prstGeom prst="rect">
            <a:avLst/>
          </a:prstGeom>
          <a:noFill/>
          <a:ln w="0">
            <a:noFill/>
          </a:ln>
        </p:spPr>
        <p:txBody>
          <a:bodyPr/>
          <a:lstStyle>
            <a:defPPr>
              <a:defRPr sz="2250" b="0">
                <a:solidFill>
                  <a:srgbClr val="17212D"/>
                </a:solidFill>
                <a:latin typeface="Noto Sans CJK KR"/>
                <a:ea typeface="Noto Sans CJK KR"/>
                <a:cs typeface="Noto Sans CJK KR"/>
              </a:defRPr>
            </a:defPPr>
          </a:lstStyle>
          <a:p>
            <a:pPr>
              <a:defRPr sz="2250" b="0">
                <a:solidFill>
                  <a:srgbClr val="17212D"/>
                </a:solidFill>
                <a:latin typeface="Noto Sans CJK KR"/>
                <a:ea typeface="Noto Sans CJK KR"/>
                <a:cs typeface="Noto Sans CJK KR"/>
              </a:defRPr>
            </a:pPr>
            <a:r>
              <a:rPr sz="2250" b="0">
                <a:solidFill>
                  <a:srgbClr val="17212D"/>
                </a:solidFill>
                <a:latin typeface="Noto Sans CJK KR"/>
                <a:ea typeface="Noto Sans CJK KR"/>
                <a:cs typeface="Noto Sans CJK KR"/>
              </a:rPr>
              <a:t>Searching multiple possible locations</a:t>
            </a:r>
          </a:p>
        </p:txBody>
      </p:sp>
      <p:sp>
        <p:nvSpPr>
          <p:cNvPr id="9" name="Rectangle 8">
            <a:extLst>
              <a:ext uri="{FF2B5EF4-FFF2-40B4-BE49-F238E27FC236}">
                <a16:creationId xmlns:a16="http://schemas.microsoft.com/office/drawing/2014/main" id="{9E0D3723-49E0-4E7E-882D-9E5032A840AE}"/>
              </a:ext>
            </a:extLst>
          </p:cNvPr>
          <p:cNvSpPr>
            <a:spLocks noGrp="1"/>
          </p:cNvSpPr>
          <p:nvPr/>
        </p:nvSpPr>
        <p:spPr>
          <a:xfrm>
            <a:off x="914400" y="7000875"/>
            <a:ext cx="8001000" cy="733425"/>
          </a:xfrm>
          <a:prstGeom prst="rect">
            <a:avLst/>
          </a:prstGeom>
          <a:solidFill>
            <a:srgbClr val="F1F4F8"/>
          </a:solidFill>
          <a:ln w="9525">
            <a:solidFill>
              <a:srgbClr val="BED0E9"/>
            </a:solidFill>
          </a:ln>
        </p:spPr>
        <p:txBody>
          <a:bodyPr/>
          <a:lstStyle/>
          <a:p>
            <a:endParaRPr lang="en-US"/>
          </a:p>
        </p:txBody>
      </p:sp>
      <p:sp>
        <p:nvSpPr>
          <p:cNvPr id="10" name="Rectangle 9">
            <a:extLst>
              <a:ext uri="{FF2B5EF4-FFF2-40B4-BE49-F238E27FC236}">
                <a16:creationId xmlns:a16="http://schemas.microsoft.com/office/drawing/2014/main" id="{7E28B049-00FE-4AB0-9989-89B56CB0B7EA}"/>
              </a:ext>
            </a:extLst>
          </p:cNvPr>
          <p:cNvSpPr>
            <a:spLocks noGrp="1"/>
          </p:cNvSpPr>
          <p:nvPr/>
        </p:nvSpPr>
        <p:spPr>
          <a:xfrm>
            <a:off x="1133475" y="7086600"/>
            <a:ext cx="7562850" cy="628650"/>
          </a:xfrm>
          <a:prstGeom prst="rect">
            <a:avLst/>
          </a:prstGeom>
          <a:noFill/>
          <a:ln w="0">
            <a:noFill/>
          </a:ln>
        </p:spPr>
        <p:txBody>
          <a:bodyPr/>
          <a:lstStyle>
            <a:defPPr>
              <a:defRPr sz="2250" b="0">
                <a:solidFill>
                  <a:srgbClr val="17212D"/>
                </a:solidFill>
                <a:latin typeface="Noto Sans CJK KR"/>
                <a:ea typeface="Noto Sans CJK KR"/>
                <a:cs typeface="Noto Sans CJK KR"/>
              </a:defRPr>
            </a:defPPr>
          </a:lstStyle>
          <a:p>
            <a:pPr>
              <a:defRPr sz="2250" b="0">
                <a:solidFill>
                  <a:srgbClr val="17212D"/>
                </a:solidFill>
                <a:latin typeface="Noto Sans CJK KR"/>
                <a:ea typeface="Noto Sans CJK KR"/>
                <a:cs typeface="Noto Sans CJK KR"/>
              </a:defRPr>
            </a:pPr>
            <a:r>
              <a:rPr sz="2250" b="0">
                <a:solidFill>
                  <a:srgbClr val="17212D"/>
                </a:solidFill>
                <a:latin typeface="Noto Sans CJK KR"/>
                <a:ea typeface="Noto Sans CJK KR"/>
                <a:cs typeface="Noto Sans CJK KR"/>
              </a:rPr>
              <a:t>Repeated searching and unnecessary time loss</a:t>
            </a:r>
          </a:p>
        </p:txBody>
      </p:sp>
      <p:sp>
        <p:nvSpPr>
          <p:cNvPr id="11" name="Rectangle 10">
            <a:extLst>
              <a:ext uri="{FF2B5EF4-FFF2-40B4-BE49-F238E27FC236}">
                <a16:creationId xmlns:a16="http://schemas.microsoft.com/office/drawing/2014/main" id="{E906DF03-A903-4B0E-9A56-CDD4259F183F}"/>
              </a:ext>
            </a:extLst>
          </p:cNvPr>
          <p:cNvSpPr>
            <a:spLocks noGrp="1"/>
          </p:cNvSpPr>
          <p:nvPr/>
        </p:nvSpPr>
        <p:spPr>
          <a:xfrm>
            <a:off x="914400" y="7915275"/>
            <a:ext cx="8001000" cy="733425"/>
          </a:xfrm>
          <a:prstGeom prst="rect">
            <a:avLst/>
          </a:prstGeom>
          <a:solidFill>
            <a:srgbClr val="F1F4F8"/>
          </a:solidFill>
          <a:ln w="9525">
            <a:solidFill>
              <a:srgbClr val="BED0E9"/>
            </a:solidFill>
          </a:ln>
        </p:spPr>
        <p:txBody>
          <a:bodyPr/>
          <a:lstStyle/>
          <a:p>
            <a:endParaRPr lang="en-US"/>
          </a:p>
        </p:txBody>
      </p:sp>
      <p:sp>
        <p:nvSpPr>
          <p:cNvPr id="12" name="Rectangle 11">
            <a:extLst>
              <a:ext uri="{FF2B5EF4-FFF2-40B4-BE49-F238E27FC236}">
                <a16:creationId xmlns:a16="http://schemas.microsoft.com/office/drawing/2014/main" id="{270FD305-B4C6-4F4F-B479-E6E27827C40D}"/>
              </a:ext>
            </a:extLst>
          </p:cNvPr>
          <p:cNvSpPr>
            <a:spLocks noGrp="1"/>
          </p:cNvSpPr>
          <p:nvPr/>
        </p:nvSpPr>
        <p:spPr>
          <a:xfrm>
            <a:off x="1133475" y="8001000"/>
            <a:ext cx="7562850" cy="628650"/>
          </a:xfrm>
          <a:prstGeom prst="rect">
            <a:avLst/>
          </a:prstGeom>
          <a:noFill/>
          <a:ln w="0">
            <a:noFill/>
          </a:ln>
        </p:spPr>
        <p:txBody>
          <a:bodyPr/>
          <a:lstStyle>
            <a:defPPr>
              <a:defRPr sz="2250" b="0">
                <a:solidFill>
                  <a:srgbClr val="17212D"/>
                </a:solidFill>
                <a:latin typeface="Noto Sans CJK KR"/>
                <a:ea typeface="Noto Sans CJK KR"/>
                <a:cs typeface="Noto Sans CJK KR"/>
              </a:defRPr>
            </a:defPPr>
          </a:lstStyle>
          <a:p>
            <a:pPr>
              <a:defRPr sz="2250" b="0">
                <a:solidFill>
                  <a:srgbClr val="17212D"/>
                </a:solidFill>
                <a:latin typeface="Noto Sans CJK KR"/>
                <a:ea typeface="Noto Sans CJK KR"/>
                <a:cs typeface="Noto Sans CJK KR"/>
              </a:defRPr>
            </a:pPr>
            <a:r>
              <a:rPr sz="2250" b="0">
                <a:solidFill>
                  <a:srgbClr val="17212D"/>
                </a:solidFill>
                <a:latin typeface="Noto Sans CJK KR"/>
                <a:ea typeface="Noto Sans CJK KR"/>
                <a:cs typeface="Noto Sans CJK KR"/>
              </a:rPr>
              <a:t>Increased stress when in a hurry</a:t>
            </a:r>
          </a:p>
        </p:txBody>
      </p:sp>
      <p:sp>
        <p:nvSpPr>
          <p:cNvPr id="16" name="Rectangle 15">
            <a:extLst>
              <a:ext uri="{FF2B5EF4-FFF2-40B4-BE49-F238E27FC236}">
                <a16:creationId xmlns:a16="http://schemas.microsoft.com/office/drawing/2014/main" id="{0F49EC1B-45F9-4DBA-A48A-286DA9C6CF58}"/>
              </a:ext>
            </a:extLst>
          </p:cNvPr>
          <p:cNvSpPr>
            <a:spLocks noGrp="1"/>
          </p:cNvSpPr>
          <p:nvPr/>
        </p:nvSpPr>
        <p:spPr>
          <a:xfrm>
            <a:off x="10096500" y="4429125"/>
            <a:ext cx="72771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Target Users</a:t>
            </a:r>
          </a:p>
        </p:txBody>
      </p:sp>
      <p:sp>
        <p:nvSpPr>
          <p:cNvPr id="17" name="Rectangle 16">
            <a:extLst>
              <a:ext uri="{FF2B5EF4-FFF2-40B4-BE49-F238E27FC236}">
                <a16:creationId xmlns:a16="http://schemas.microsoft.com/office/drawing/2014/main" id="{5B2733A7-D114-436C-9496-100C0CCEF3B6}"/>
              </a:ext>
            </a:extLst>
          </p:cNvPr>
          <p:cNvSpPr>
            <a:spLocks noGrp="1"/>
          </p:cNvSpPr>
          <p:nvPr/>
        </p:nvSpPr>
        <p:spPr>
          <a:xfrm>
            <a:off x="10096500" y="5172075"/>
            <a:ext cx="7277100" cy="1463040"/>
          </a:xfrm>
          <a:prstGeom prst="rect">
            <a:avLst/>
          </a:prstGeom>
          <a:noFill/>
          <a:ln w="0">
            <a:noFill/>
          </a:ln>
        </p:spPr>
        <p:txBody>
          <a:bodyPr/>
          <a:lstStyle>
            <a:defPPr>
              <a:defRPr sz="2475" b="0">
                <a:solidFill>
                  <a:srgbClr val="17212D"/>
                </a:solidFill>
                <a:latin typeface="Noto Sans CJK KR"/>
                <a:ea typeface="Noto Sans CJK KR"/>
                <a:cs typeface="Noto Sans CJK KR"/>
              </a:defRPr>
            </a:defPPr>
          </a:lstStyle>
          <a:p>
            <a:pPr>
              <a:defRPr sz="2475" b="0">
                <a:solidFill>
                  <a:srgbClr val="17212D"/>
                </a:solidFill>
                <a:latin typeface="Noto Sans CJK KR"/>
                <a:ea typeface="Noto Sans CJK KR"/>
                <a:cs typeface="Noto Sans CJK KR"/>
              </a:defRPr>
            </a:pPr>
            <a:r>
              <a:rPr sz="2200" b="0">
                <a:solidFill>
                  <a:srgbClr val="17212D"/>
                </a:solidFill>
                <a:latin typeface="Noto Sans CJK KR"/>
                <a:ea typeface="Noto Sans CJK KR"/>
                <a:cs typeface="Noto Sans CJK KR"/>
              </a:rPr>
              <a:t>University students living in small spaces (dormitories or one-room apartments) who frequently spend time searching for misplaced belongings</a:t>
            </a:r>
          </a:p>
        </p:txBody>
      </p:sp>
      <p:sp>
        <p:nvSpPr>
          <p:cNvPr id="18" name="Rectangle 17">
            <a:extLst>
              <a:ext uri="{FF2B5EF4-FFF2-40B4-BE49-F238E27FC236}">
                <a16:creationId xmlns:a16="http://schemas.microsoft.com/office/drawing/2014/main" id="{57D98D10-F3AD-4D20-B031-8BFA022C4E6D}"/>
              </a:ext>
            </a:extLst>
          </p:cNvPr>
          <p:cNvSpPr>
            <a:spLocks noGrp="1"/>
          </p:cNvSpPr>
          <p:nvPr/>
        </p:nvSpPr>
        <p:spPr>
          <a:xfrm>
            <a:off x="10096500" y="7086600"/>
            <a:ext cx="72771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Project Goal</a:t>
            </a:r>
          </a:p>
        </p:txBody>
      </p:sp>
      <p:sp>
        <p:nvSpPr>
          <p:cNvPr id="19" name="Rectangle 18">
            <a:extLst>
              <a:ext uri="{FF2B5EF4-FFF2-40B4-BE49-F238E27FC236}">
                <a16:creationId xmlns:a16="http://schemas.microsoft.com/office/drawing/2014/main" id="{ECEDF333-B1E1-4156-8FD2-EF35AD070466}"/>
              </a:ext>
            </a:extLst>
          </p:cNvPr>
          <p:cNvSpPr>
            <a:spLocks noGrp="1"/>
          </p:cNvSpPr>
          <p:nvPr/>
        </p:nvSpPr>
        <p:spPr>
          <a:xfrm>
            <a:off x="10096500" y="7772400"/>
            <a:ext cx="7277100" cy="1285875"/>
          </a:xfrm>
          <a:prstGeom prst="rect">
            <a:avLst/>
          </a:prstGeom>
          <a:noFill/>
          <a:ln w="0">
            <a:noFill/>
          </a:ln>
        </p:spPr>
        <p:txBody>
          <a:bodyPr/>
          <a:lstStyle>
            <a:defPPr>
              <a:defRPr sz="2475" b="0">
                <a:solidFill>
                  <a:srgbClr val="17212D"/>
                </a:solidFill>
                <a:latin typeface="Noto Sans CJK KR"/>
                <a:ea typeface="Noto Sans CJK KR"/>
                <a:cs typeface="Noto Sans CJK KR"/>
              </a:defRPr>
            </a:defPPr>
          </a:lstStyle>
          <a:p>
            <a:pPr>
              <a:defRPr sz="2475" b="0">
                <a:solidFill>
                  <a:srgbClr val="17212D"/>
                </a:solidFill>
                <a:latin typeface="Noto Sans CJK KR"/>
                <a:ea typeface="Noto Sans CJK KR"/>
                <a:cs typeface="Noto Sans CJK KR"/>
              </a:defRPr>
            </a:pPr>
            <a:r>
              <a:rPr sz="2475" b="0">
                <a:solidFill>
                  <a:srgbClr val="17212D"/>
                </a:solidFill>
                <a:latin typeface="Noto Sans CJK KR"/>
                <a:ea typeface="Noto Sans CJK KR"/>
                <a:cs typeface="Noto Sans CJK KR"/>
              </a:rPr>
              <a:t>Help students find misplaced belongings faster and reduce unnecessary searching stress.</a:t>
            </a:r>
          </a:p>
        </p:txBody>
      </p:sp>
      <p:sp>
        <p:nvSpPr>
          <p:cNvPr id="20" name="Rectangle 19">
            <a:extLst>
              <a:ext uri="{FF2B5EF4-FFF2-40B4-BE49-F238E27FC236}">
                <a16:creationId xmlns:a16="http://schemas.microsoft.com/office/drawing/2014/main" id="{2C4E6125-1252-4810-91CB-DCED5FE08AD8}"/>
              </a:ext>
            </a:extLst>
          </p:cNvPr>
          <p:cNvSpPr>
            <a:spLocks noGrp="1"/>
          </p:cNvSpPr>
          <p:nvPr/>
        </p:nvSpPr>
        <p:spPr>
          <a:xfrm>
            <a:off x="814192" y="8943975"/>
            <a:ext cx="16459200" cy="714375"/>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Out of Scope: Large-scale lost-and-found services, business equipment, and tracking outside the home.</a:t>
            </a:r>
          </a:p>
        </p:txBody>
      </p:sp>
    </p:spTree>
    <p:extLst>
      <p:ext uri="{BB962C8B-B14F-4D97-AF65-F5344CB8AC3E}">
        <p14:creationId xmlns:p14="http://schemas.microsoft.com/office/powerpoint/2010/main" val="202995317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2D3581A-2BEC-4CA3-9F20-A1503570D0A3}"/>
              </a:ext>
            </a:extLst>
          </p:cNvPr>
          <p:cNvSpPr>
            <a:spLocks noGrp="1"/>
          </p:cNvSpPr>
          <p:nvPr/>
        </p:nvSpPr>
        <p:spPr>
          <a:xfrm>
            <a:off x="914400" y="609600"/>
            <a:ext cx="16459200" cy="952500"/>
          </a:xfrm>
          <a:prstGeom prst="rect">
            <a:avLst/>
          </a:prstGeom>
          <a:noFill/>
          <a:ln w="0">
            <a:noFill/>
          </a:ln>
        </p:spPr>
        <p:txBody>
          <a:bodyPr/>
          <a:lstStyle>
            <a:defPPr>
              <a:defRPr sz="4200" b="1">
                <a:solidFill>
                  <a:srgbClr val="2C5BA9"/>
                </a:solidFill>
                <a:latin typeface="Noto Sans CJK KR"/>
                <a:ea typeface="Noto Sans CJK KR"/>
                <a:cs typeface="Noto Sans CJK KR"/>
              </a:defRPr>
            </a:defPPr>
          </a:lstStyle>
          <a:p>
            <a:pPr>
              <a:defRPr sz="4200" b="1">
                <a:solidFill>
                  <a:srgbClr val="2C5BA9"/>
                </a:solidFill>
                <a:latin typeface="Noto Sans CJK KR"/>
                <a:ea typeface="Noto Sans CJK KR"/>
                <a:cs typeface="Noto Sans CJK KR"/>
              </a:defRPr>
            </a:pPr>
            <a:r>
              <a:rPr sz="6000" b="1" dirty="0">
                <a:solidFill>
                  <a:srgbClr val="2C5BA9"/>
                </a:solidFill>
                <a:latin typeface="Noto Sans CJK KR"/>
                <a:ea typeface="Noto Sans CJK KR"/>
                <a:cs typeface="Noto Sans CJK KR"/>
              </a:rPr>
              <a:t>Interview Process</a:t>
            </a:r>
          </a:p>
        </p:txBody>
      </p:sp>
      <p:sp>
        <p:nvSpPr>
          <p:cNvPr id="2" name="Rectangle 1">
            <a:extLst>
              <a:ext uri="{FF2B5EF4-FFF2-40B4-BE49-F238E27FC236}">
                <a16:creationId xmlns:a16="http://schemas.microsoft.com/office/drawing/2014/main" id="{D7A2B925-84F5-4F20-872C-FDFB2A22C170}"/>
              </a:ext>
            </a:extLst>
          </p:cNvPr>
          <p:cNvSpPr>
            <a:spLocks noGrp="1"/>
          </p:cNvSpPr>
          <p:nvPr/>
        </p:nvSpPr>
        <p:spPr>
          <a:xfrm>
            <a:off x="914400" y="1790700"/>
            <a:ext cx="164592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User Interviews</a:t>
            </a:r>
          </a:p>
        </p:txBody>
      </p:sp>
      <p:graphicFrame>
        <p:nvGraphicFramePr>
          <p:cNvPr id="3" name="Table 2">
            <a:extLst>
              <a:ext uri="{FF2B5EF4-FFF2-40B4-BE49-F238E27FC236}">
                <a16:creationId xmlns:a16="http://schemas.microsoft.com/office/drawing/2014/main" id="{B3C23870-FD90-460B-A4BB-AA04E8B9D2A6}"/>
              </a:ext>
            </a:extLst>
          </p:cNvPr>
          <p:cNvGraphicFramePr/>
          <p:nvPr/>
        </p:nvGraphicFramePr>
        <p:xfrm>
          <a:off x="914400" y="2457450"/>
          <a:ext cx="16459200" cy="2428875"/>
        </p:xfrm>
        <a:graphic>
          <a:graphicData uri="http://schemas.openxmlformats.org/drawingml/2006/table">
            <a:tbl>
              <a:tblPr/>
              <a:tblGrid>
                <a:gridCol w="3143250">
                  <a:extLst>
                    <a:ext uri="{9D8B030D-6E8A-4147-A177-3AD203B41FA5}">
                      <a16:colId xmlns:a16="http://schemas.microsoft.com/office/drawing/2014/main" val="20000"/>
                    </a:ext>
                  </a:extLst>
                </a:gridCol>
                <a:gridCol w="13315950">
                  <a:extLst>
                    <a:ext uri="{9D8B030D-6E8A-4147-A177-3AD203B41FA5}">
                      <a16:colId xmlns:a16="http://schemas.microsoft.com/office/drawing/2014/main" val="20001"/>
                    </a:ext>
                  </a:extLst>
                </a:gridCol>
              </a:tblGrid>
              <a:tr h="485775">
                <a:tc>
                  <a:txBody>
                    <a:bodyPr/>
                    <a:lstStyle/>
                    <a:p>
                      <a:r>
                        <a:rPr sz="2100" b="1">
                          <a:solidFill>
                            <a:srgbClr val="FFFFFF"/>
                          </a:solidFill>
                          <a:latin typeface="Noto Sans CJK KR"/>
                          <a:ea typeface="Noto Sans CJK KR"/>
                          <a:cs typeface="Noto Sans CJK KR"/>
                        </a:rPr>
                        <a:t>Category</a:t>
                      </a:r>
                    </a:p>
                  </a:txBody>
                  <a:tcPr>
                    <a:solidFill>
                      <a:srgbClr val="2C5BA9"/>
                    </a:solidFill>
                  </a:tcPr>
                </a:tc>
                <a:tc>
                  <a:txBody>
                    <a:bodyPr/>
                    <a:lstStyle/>
                    <a:p>
                      <a:r>
                        <a:rPr sz="2100" b="1">
                          <a:solidFill>
                            <a:srgbClr val="FFFFFF"/>
                          </a:solidFill>
                          <a:latin typeface="Noto Sans CJK KR"/>
                          <a:ea typeface="Noto Sans CJK KR"/>
                          <a:cs typeface="Noto Sans CJK KR"/>
                        </a:rPr>
                        <a:t>Description</a:t>
                      </a:r>
                    </a:p>
                  </a:txBody>
                  <a:tcPr>
                    <a:solidFill>
                      <a:srgbClr val="2C5BA9"/>
                    </a:solidFill>
                  </a:tcPr>
                </a:tc>
                <a:extLst>
                  <a:ext uri="{0D108BD9-81ED-4DB2-BD59-A6C34878D82A}">
                    <a16:rowId xmlns:a16="http://schemas.microsoft.com/office/drawing/2014/main" val="10000"/>
                  </a:ext>
                </a:extLst>
              </a:tr>
              <a:tr h="485775">
                <a:tc>
                  <a:txBody>
                    <a:bodyPr/>
                    <a:lstStyle/>
                    <a:p>
                      <a:r>
                        <a:rPr sz="2100" b="0">
                          <a:solidFill>
                            <a:srgbClr val="17212D"/>
                          </a:solidFill>
                          <a:latin typeface="Noto Sans CJK KR"/>
                          <a:ea typeface="Noto Sans CJK KR"/>
                          <a:cs typeface="Noto Sans CJK KR"/>
                        </a:rPr>
                        <a:t>Participants</a:t>
                      </a:r>
                    </a:p>
                  </a:txBody>
                  <a:tcPr>
                    <a:solidFill>
                      <a:srgbClr val="FFFFFF"/>
                    </a:solidFill>
                  </a:tcPr>
                </a:tc>
                <a:tc>
                  <a:txBody>
                    <a:bodyPr/>
                    <a:lstStyle/>
                    <a:p>
                      <a:r>
                        <a:rPr sz="2100" b="0">
                          <a:solidFill>
                            <a:srgbClr val="17212D"/>
                          </a:solidFill>
                          <a:latin typeface="Noto Sans CJK KR"/>
                          <a:ea typeface="Noto Sans CJK KR"/>
                          <a:cs typeface="Noto Sans CJK KR"/>
                        </a:rPr>
                        <a:t>10 Ajou University students</a:t>
                      </a:r>
                    </a:p>
                  </a:txBody>
                  <a:tcPr>
                    <a:solidFill>
                      <a:srgbClr val="FFFFFF"/>
                    </a:solidFill>
                  </a:tcPr>
                </a:tc>
                <a:extLst>
                  <a:ext uri="{0D108BD9-81ED-4DB2-BD59-A6C34878D82A}">
                    <a16:rowId xmlns:a16="http://schemas.microsoft.com/office/drawing/2014/main" val="10001"/>
                  </a:ext>
                </a:extLst>
              </a:tr>
              <a:tr h="485775">
                <a:tc>
                  <a:txBody>
                    <a:bodyPr/>
                    <a:lstStyle/>
                    <a:p>
                      <a:r>
                        <a:rPr sz="2100" b="0">
                          <a:solidFill>
                            <a:srgbClr val="17212D"/>
                          </a:solidFill>
                          <a:latin typeface="Noto Sans CJK KR"/>
                          <a:ea typeface="Noto Sans CJK KR"/>
                          <a:cs typeface="Noto Sans CJK KR"/>
                        </a:rPr>
                        <a:t>Questions</a:t>
                      </a:r>
                    </a:p>
                  </a:txBody>
                  <a:tcPr>
                    <a:solidFill>
                      <a:srgbClr val="F1F4F8"/>
                    </a:solidFill>
                  </a:tcPr>
                </a:tc>
                <a:tc>
                  <a:txBody>
                    <a:bodyPr/>
                    <a:lstStyle/>
                    <a:p>
                      <a:r>
                        <a:rPr sz="2100" b="0">
                          <a:solidFill>
                            <a:srgbClr val="17212D"/>
                          </a:solidFill>
                          <a:latin typeface="Noto Sans CJK KR"/>
                          <a:ea typeface="Noto Sans CJK KR"/>
                          <a:cs typeface="Noto Sans CJK KR"/>
                        </a:rPr>
                        <a:t>10 interview questions</a:t>
                      </a:r>
                    </a:p>
                  </a:txBody>
                  <a:tcPr>
                    <a:solidFill>
                      <a:srgbClr val="F1F4F8"/>
                    </a:solidFill>
                  </a:tcPr>
                </a:tc>
                <a:extLst>
                  <a:ext uri="{0D108BD9-81ED-4DB2-BD59-A6C34878D82A}">
                    <a16:rowId xmlns:a16="http://schemas.microsoft.com/office/drawing/2014/main" val="10002"/>
                  </a:ext>
                </a:extLst>
              </a:tr>
              <a:tr h="485775">
                <a:tc>
                  <a:txBody>
                    <a:bodyPr/>
                    <a:lstStyle/>
                    <a:p>
                      <a:r>
                        <a:rPr sz="2100" b="0">
                          <a:solidFill>
                            <a:srgbClr val="17212D"/>
                          </a:solidFill>
                          <a:latin typeface="Noto Sans CJK KR"/>
                          <a:ea typeface="Noto Sans CJK KR"/>
                          <a:cs typeface="Noto Sans CJK KR"/>
                        </a:rPr>
                        <a:t>Focus</a:t>
                      </a:r>
                    </a:p>
                  </a:txBody>
                  <a:tcPr>
                    <a:solidFill>
                      <a:srgbClr val="FFFFFF"/>
                    </a:solidFill>
                  </a:tcPr>
                </a:tc>
                <a:tc>
                  <a:txBody>
                    <a:bodyPr/>
                    <a:lstStyle/>
                    <a:p>
                      <a:r>
                        <a:rPr sz="2100" b="0">
                          <a:solidFill>
                            <a:srgbClr val="17212D"/>
                          </a:solidFill>
                          <a:latin typeface="Noto Sans CJK KR"/>
                          <a:ea typeface="Noto Sans CJK KR"/>
                          <a:cs typeface="Noto Sans CJK KR"/>
                        </a:rPr>
                        <a:t>Actual experiences with misplaced belongings</a:t>
                      </a:r>
                    </a:p>
                  </a:txBody>
                  <a:tcPr>
                    <a:solidFill>
                      <a:srgbClr val="FFFFFF"/>
                    </a:solidFill>
                  </a:tcPr>
                </a:tc>
                <a:extLst>
                  <a:ext uri="{0D108BD9-81ED-4DB2-BD59-A6C34878D82A}">
                    <a16:rowId xmlns:a16="http://schemas.microsoft.com/office/drawing/2014/main" val="10003"/>
                  </a:ext>
                </a:extLst>
              </a:tr>
              <a:tr h="485775">
                <a:tc>
                  <a:txBody>
                    <a:bodyPr/>
                    <a:lstStyle/>
                    <a:p>
                      <a:r>
                        <a:rPr sz="2100" b="0">
                          <a:solidFill>
                            <a:srgbClr val="17212D"/>
                          </a:solidFill>
                          <a:latin typeface="Noto Sans CJK KR"/>
                          <a:ea typeface="Noto Sans CJK KR"/>
                          <a:cs typeface="Noto Sans CJK KR"/>
                        </a:rPr>
                        <a:t>Objective</a:t>
                      </a:r>
                    </a:p>
                  </a:txBody>
                  <a:tcPr>
                    <a:solidFill>
                      <a:srgbClr val="F1F4F8"/>
                    </a:solidFill>
                  </a:tcPr>
                </a:tc>
                <a:tc>
                  <a:txBody>
                    <a:bodyPr/>
                    <a:lstStyle/>
                    <a:p>
                      <a:r>
                        <a:rPr sz="2100" b="0">
                          <a:solidFill>
                            <a:srgbClr val="17212D"/>
                          </a:solidFill>
                          <a:latin typeface="Noto Sans CJK KR"/>
                          <a:ea typeface="Noto Sans CJK KR"/>
                          <a:cs typeface="Noto Sans CJK KR"/>
                        </a:rPr>
                        <a:t>Identify common searching behaviors and difficulties</a:t>
                      </a:r>
                    </a:p>
                  </a:txBody>
                  <a:tcPr>
                    <a:solidFill>
                      <a:srgbClr val="F1F4F8"/>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C95ECE97-8773-45EB-BB57-824A0132F1B7}"/>
              </a:ext>
            </a:extLst>
          </p:cNvPr>
          <p:cNvSpPr>
            <a:spLocks noGrp="1"/>
          </p:cNvSpPr>
          <p:nvPr/>
        </p:nvSpPr>
        <p:spPr>
          <a:xfrm>
            <a:off x="914400" y="5295900"/>
            <a:ext cx="7772400" cy="83820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Q1. Do you sometimes have trouble remembering where you put your things?</a:t>
            </a:r>
          </a:p>
        </p:txBody>
      </p:sp>
      <p:sp>
        <p:nvSpPr>
          <p:cNvPr id="5" name="Rectangle 4">
            <a:extLst>
              <a:ext uri="{FF2B5EF4-FFF2-40B4-BE49-F238E27FC236}">
                <a16:creationId xmlns:a16="http://schemas.microsoft.com/office/drawing/2014/main" id="{2870847B-FAC9-41A5-A9A6-F54EB7EE6F3F}"/>
              </a:ext>
            </a:extLst>
          </p:cNvPr>
          <p:cNvSpPr>
            <a:spLocks noGrp="1"/>
          </p:cNvSpPr>
          <p:nvPr/>
        </p:nvSpPr>
        <p:spPr>
          <a:xfrm>
            <a:off x="914400" y="6184641"/>
            <a:ext cx="7772400" cy="83820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Q2. What kinds of items do you usually have trouble finding?</a:t>
            </a:r>
          </a:p>
        </p:txBody>
      </p:sp>
      <p:sp>
        <p:nvSpPr>
          <p:cNvPr id="6" name="Rectangle 5">
            <a:extLst>
              <a:ext uri="{FF2B5EF4-FFF2-40B4-BE49-F238E27FC236}">
                <a16:creationId xmlns:a16="http://schemas.microsoft.com/office/drawing/2014/main" id="{9FA6B469-35A1-4DF9-849D-0D2F95C8C8C8}"/>
              </a:ext>
            </a:extLst>
          </p:cNvPr>
          <p:cNvSpPr>
            <a:spLocks noGrp="1"/>
          </p:cNvSpPr>
          <p:nvPr/>
        </p:nvSpPr>
        <p:spPr>
          <a:xfrm>
            <a:off x="914400" y="6859846"/>
            <a:ext cx="7772400" cy="83820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Q3. Tell me about the most recent time you had difficulty finding something.</a:t>
            </a:r>
          </a:p>
        </p:txBody>
      </p:sp>
      <p:sp>
        <p:nvSpPr>
          <p:cNvPr id="7" name="Rectangle 6">
            <a:extLst>
              <a:ext uri="{FF2B5EF4-FFF2-40B4-BE49-F238E27FC236}">
                <a16:creationId xmlns:a16="http://schemas.microsoft.com/office/drawing/2014/main" id="{8E76454E-48F6-48F4-BA7A-1ABD890B13FC}"/>
              </a:ext>
            </a:extLst>
          </p:cNvPr>
          <p:cNvSpPr>
            <a:spLocks noGrp="1"/>
          </p:cNvSpPr>
          <p:nvPr/>
        </p:nvSpPr>
        <p:spPr>
          <a:xfrm>
            <a:off x="914400" y="7748587"/>
            <a:ext cx="7772400" cy="83820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Q4. When and how did you realize that you could not find the item?</a:t>
            </a:r>
          </a:p>
        </p:txBody>
      </p:sp>
      <p:sp>
        <p:nvSpPr>
          <p:cNvPr id="8" name="Rectangle 7">
            <a:extLst>
              <a:ext uri="{FF2B5EF4-FFF2-40B4-BE49-F238E27FC236}">
                <a16:creationId xmlns:a16="http://schemas.microsoft.com/office/drawing/2014/main" id="{881C72DC-CBC9-49DA-8342-52460FB6A315}"/>
              </a:ext>
            </a:extLst>
          </p:cNvPr>
          <p:cNvSpPr>
            <a:spLocks noGrp="1"/>
          </p:cNvSpPr>
          <p:nvPr/>
        </p:nvSpPr>
        <p:spPr>
          <a:xfrm>
            <a:off x="914400" y="8586787"/>
            <a:ext cx="7772400" cy="83820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Q5. Where did you look first, and why did you check that place first?</a:t>
            </a:r>
          </a:p>
        </p:txBody>
      </p:sp>
      <p:sp>
        <p:nvSpPr>
          <p:cNvPr id="9" name="Rectangle 8">
            <a:extLst>
              <a:ext uri="{FF2B5EF4-FFF2-40B4-BE49-F238E27FC236}">
                <a16:creationId xmlns:a16="http://schemas.microsoft.com/office/drawing/2014/main" id="{8F528DE9-3DBF-4A3D-A998-5A130FBB4208}"/>
              </a:ext>
            </a:extLst>
          </p:cNvPr>
          <p:cNvSpPr>
            <a:spLocks noGrp="1"/>
          </p:cNvSpPr>
          <p:nvPr/>
        </p:nvSpPr>
        <p:spPr>
          <a:xfrm>
            <a:off x="9601200" y="5346441"/>
            <a:ext cx="7772400" cy="83820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Q6. Where did you search after that, and in what order?</a:t>
            </a:r>
          </a:p>
        </p:txBody>
      </p:sp>
      <p:sp>
        <p:nvSpPr>
          <p:cNvPr id="10" name="Rectangle 9">
            <a:extLst>
              <a:ext uri="{FF2B5EF4-FFF2-40B4-BE49-F238E27FC236}">
                <a16:creationId xmlns:a16="http://schemas.microsoft.com/office/drawing/2014/main" id="{B2843F9B-4E64-472F-8ECC-13A2D0DDE6FF}"/>
              </a:ext>
            </a:extLst>
          </p:cNvPr>
          <p:cNvSpPr>
            <a:spLocks noGrp="1"/>
          </p:cNvSpPr>
          <p:nvPr/>
        </p:nvSpPr>
        <p:spPr>
          <a:xfrm>
            <a:off x="9601200" y="5906132"/>
            <a:ext cx="7772400" cy="83820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Q7. Have you ever used an app, tracking device, or another person's help to find an item? If yes, did it actually help?</a:t>
            </a:r>
          </a:p>
        </p:txBody>
      </p:sp>
      <p:sp>
        <p:nvSpPr>
          <p:cNvPr id="11" name="Rectangle 10">
            <a:extLst>
              <a:ext uri="{FF2B5EF4-FFF2-40B4-BE49-F238E27FC236}">
                <a16:creationId xmlns:a16="http://schemas.microsoft.com/office/drawing/2014/main" id="{6E43C2A4-3B24-4414-B245-EABF93C65315}"/>
              </a:ext>
            </a:extLst>
          </p:cNvPr>
          <p:cNvSpPr>
            <a:spLocks noGrp="1"/>
          </p:cNvSpPr>
          <p:nvPr/>
        </p:nvSpPr>
        <p:spPr>
          <a:xfrm>
            <a:off x="9601200" y="6814918"/>
            <a:ext cx="7772400" cy="83820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Q8. How long did it take, and what was the most inconvenient part of the search?</a:t>
            </a:r>
          </a:p>
        </p:txBody>
      </p:sp>
      <p:sp>
        <p:nvSpPr>
          <p:cNvPr id="12" name="Rectangle 11">
            <a:extLst>
              <a:ext uri="{FF2B5EF4-FFF2-40B4-BE49-F238E27FC236}">
                <a16:creationId xmlns:a16="http://schemas.microsoft.com/office/drawing/2014/main" id="{A69139D9-7579-4733-A010-DC6CD067B7A3}"/>
              </a:ext>
            </a:extLst>
          </p:cNvPr>
          <p:cNvSpPr>
            <a:spLocks noGrp="1"/>
          </p:cNvSpPr>
          <p:nvPr/>
        </p:nvSpPr>
        <p:spPr>
          <a:xfrm>
            <a:off x="9601200" y="7653118"/>
            <a:ext cx="7772400" cy="83820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Q9. Where did you finally find the item, and what made you check that place?</a:t>
            </a:r>
          </a:p>
        </p:txBody>
      </p:sp>
      <p:sp>
        <p:nvSpPr>
          <p:cNvPr id="13" name="Rectangle 12">
            <a:extLst>
              <a:ext uri="{FF2B5EF4-FFF2-40B4-BE49-F238E27FC236}">
                <a16:creationId xmlns:a16="http://schemas.microsoft.com/office/drawing/2014/main" id="{72BAD4AF-420E-4B0C-AB71-0EFEBB663C59}"/>
              </a:ext>
            </a:extLst>
          </p:cNvPr>
          <p:cNvSpPr>
            <a:spLocks noGrp="1"/>
          </p:cNvSpPr>
          <p:nvPr/>
        </p:nvSpPr>
        <p:spPr>
          <a:xfrm>
            <a:off x="9601200" y="8574055"/>
            <a:ext cx="7772400" cy="83820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Q10. What information or help would have helped you find the item faster at that time?</a:t>
            </a:r>
          </a:p>
        </p:txBody>
      </p:sp>
    </p:spTree>
    <p:extLst>
      <p:ext uri="{BB962C8B-B14F-4D97-AF65-F5344CB8AC3E}">
        <p14:creationId xmlns:p14="http://schemas.microsoft.com/office/powerpoint/2010/main" val="85610485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E53682A-B302-434F-A184-4F644E87E3C1}"/>
              </a:ext>
            </a:extLst>
          </p:cNvPr>
          <p:cNvPicPr>
            <a:picLocks noChangeAspect="1"/>
          </p:cNvPicPr>
          <p:nvPr/>
        </p:nvPicPr>
        <p:blipFill>
          <a:blip r:embed="rId3"/>
          <a:stretch/>
        </p:blipFill>
        <p:spPr>
          <a:xfrm>
            <a:off x="11049000" y="7191808"/>
            <a:ext cx="6324600" cy="2227984"/>
          </a:xfrm>
          <a:prstGeom prst="rect">
            <a:avLst/>
          </a:prstGeom>
        </p:spPr>
      </p:pic>
      <p:sp>
        <p:nvSpPr>
          <p:cNvPr id="15" name="Rectangle 14">
            <a:extLst>
              <a:ext uri="{FF2B5EF4-FFF2-40B4-BE49-F238E27FC236}">
                <a16:creationId xmlns:a16="http://schemas.microsoft.com/office/drawing/2014/main" id="{188F51AA-50CD-40C4-981C-DD2175893BC6}"/>
              </a:ext>
            </a:extLst>
          </p:cNvPr>
          <p:cNvSpPr>
            <a:spLocks noGrp="1"/>
          </p:cNvSpPr>
          <p:nvPr/>
        </p:nvSpPr>
        <p:spPr>
          <a:xfrm>
            <a:off x="914400" y="609600"/>
            <a:ext cx="16459200" cy="952500"/>
          </a:xfrm>
          <a:prstGeom prst="rect">
            <a:avLst/>
          </a:prstGeom>
          <a:noFill/>
          <a:ln w="0">
            <a:noFill/>
          </a:ln>
        </p:spPr>
        <p:txBody>
          <a:bodyPr/>
          <a:lstStyle>
            <a:defPPr>
              <a:defRPr sz="4200" b="1">
                <a:solidFill>
                  <a:srgbClr val="2C5BA9"/>
                </a:solidFill>
                <a:latin typeface="Noto Sans CJK KR"/>
                <a:ea typeface="Noto Sans CJK KR"/>
                <a:cs typeface="Noto Sans CJK KR"/>
              </a:defRPr>
            </a:defPPr>
          </a:lstStyle>
          <a:p>
            <a:pPr>
              <a:defRPr sz="4200" b="1">
                <a:solidFill>
                  <a:srgbClr val="2C5BA9"/>
                </a:solidFill>
                <a:latin typeface="Noto Sans CJK KR"/>
                <a:ea typeface="Noto Sans CJK KR"/>
                <a:cs typeface="Noto Sans CJK KR"/>
              </a:defRPr>
            </a:pPr>
            <a:r>
              <a:rPr sz="6000" b="1" dirty="0">
                <a:solidFill>
                  <a:srgbClr val="2C5BA9"/>
                </a:solidFill>
                <a:latin typeface="Noto Sans CJK KR"/>
                <a:ea typeface="Noto Sans CJK KR"/>
                <a:cs typeface="Noto Sans CJK KR"/>
              </a:rPr>
              <a:t>Interview Evidence</a:t>
            </a:r>
          </a:p>
        </p:txBody>
      </p:sp>
      <p:sp>
        <p:nvSpPr>
          <p:cNvPr id="2" name="Rectangle 1">
            <a:extLst>
              <a:ext uri="{FF2B5EF4-FFF2-40B4-BE49-F238E27FC236}">
                <a16:creationId xmlns:a16="http://schemas.microsoft.com/office/drawing/2014/main" id="{9F4C649F-52B3-4541-AEDE-C3FC7F4C4C7F}"/>
              </a:ext>
            </a:extLst>
          </p:cNvPr>
          <p:cNvSpPr>
            <a:spLocks noGrp="1"/>
          </p:cNvSpPr>
          <p:nvPr/>
        </p:nvSpPr>
        <p:spPr>
          <a:xfrm>
            <a:off x="914400" y="1952625"/>
            <a:ext cx="981075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Interview Questions (5 Core Topics)</a:t>
            </a:r>
          </a:p>
        </p:txBody>
      </p:sp>
      <p:sp>
        <p:nvSpPr>
          <p:cNvPr id="3" name="Rectangle 2">
            <a:extLst>
              <a:ext uri="{FF2B5EF4-FFF2-40B4-BE49-F238E27FC236}">
                <a16:creationId xmlns:a16="http://schemas.microsoft.com/office/drawing/2014/main" id="{B2CC02D9-D536-46F6-8D88-D2A76A4894BC}"/>
              </a:ext>
            </a:extLst>
          </p:cNvPr>
          <p:cNvSpPr>
            <a:spLocks noGrp="1"/>
          </p:cNvSpPr>
          <p:nvPr/>
        </p:nvSpPr>
        <p:spPr>
          <a:xfrm>
            <a:off x="914400" y="2935029"/>
            <a:ext cx="9525000" cy="819150"/>
          </a:xfrm>
          <a:prstGeom prst="rect">
            <a:avLst/>
          </a:prstGeom>
          <a:noFill/>
          <a:ln w="0">
            <a:noFill/>
          </a:ln>
        </p:spPr>
        <p:txBody>
          <a:bodyPr/>
          <a:lstStyle>
            <a:defPPr>
              <a:defRPr sz="2175" b="0">
                <a:solidFill>
                  <a:srgbClr val="17212D"/>
                </a:solidFill>
                <a:latin typeface="Noto Sans CJK KR"/>
                <a:ea typeface="Noto Sans CJK KR"/>
                <a:cs typeface="Noto Sans CJK KR"/>
              </a:defRPr>
            </a:defPPr>
          </a:lstStyle>
          <a:p>
            <a:pPr>
              <a:defRPr sz="2175" b="0">
                <a:solidFill>
                  <a:srgbClr val="17212D"/>
                </a:solidFill>
                <a:latin typeface="Noto Sans CJK KR"/>
                <a:ea typeface="Noto Sans CJK KR"/>
                <a:cs typeface="Noto Sans CJK KR"/>
              </a:defRPr>
            </a:pPr>
            <a:r>
              <a:rPr sz="2175" b="0" dirty="0">
                <a:solidFill>
                  <a:srgbClr val="17212D"/>
                </a:solidFill>
                <a:latin typeface="Noto Sans CJK KR"/>
                <a:ea typeface="Noto Sans CJK KR"/>
                <a:cs typeface="Noto Sans CJK KR"/>
              </a:rPr>
              <a:t>Misplaced Objects: What belongings are difficult to find?</a:t>
            </a:r>
          </a:p>
        </p:txBody>
      </p:sp>
      <p:sp>
        <p:nvSpPr>
          <p:cNvPr id="4" name="Rectangle 3">
            <a:extLst>
              <a:ext uri="{FF2B5EF4-FFF2-40B4-BE49-F238E27FC236}">
                <a16:creationId xmlns:a16="http://schemas.microsoft.com/office/drawing/2014/main" id="{B7664560-DE88-4E8F-97F9-119A2F990179}"/>
              </a:ext>
            </a:extLst>
          </p:cNvPr>
          <p:cNvSpPr>
            <a:spLocks noGrp="1"/>
          </p:cNvSpPr>
          <p:nvPr/>
        </p:nvSpPr>
        <p:spPr>
          <a:xfrm>
            <a:off x="914400" y="3686175"/>
            <a:ext cx="9525000" cy="819150"/>
          </a:xfrm>
          <a:prstGeom prst="rect">
            <a:avLst/>
          </a:prstGeom>
          <a:noFill/>
          <a:ln w="0">
            <a:noFill/>
          </a:ln>
        </p:spPr>
        <p:txBody>
          <a:bodyPr/>
          <a:lstStyle>
            <a:defPPr>
              <a:defRPr sz="2175" b="0">
                <a:solidFill>
                  <a:srgbClr val="17212D"/>
                </a:solidFill>
                <a:latin typeface="Noto Sans CJK KR"/>
                <a:ea typeface="Noto Sans CJK KR"/>
                <a:cs typeface="Noto Sans CJK KR"/>
              </a:defRPr>
            </a:defPPr>
          </a:lstStyle>
          <a:p>
            <a:pPr>
              <a:defRPr sz="2175" b="0">
                <a:solidFill>
                  <a:srgbClr val="17212D"/>
                </a:solidFill>
                <a:latin typeface="Noto Sans CJK KR"/>
                <a:ea typeface="Noto Sans CJK KR"/>
                <a:cs typeface="Noto Sans CJK KR"/>
              </a:defRPr>
            </a:pPr>
            <a:r>
              <a:rPr sz="2175" b="0">
                <a:solidFill>
                  <a:srgbClr val="17212D"/>
                </a:solidFill>
                <a:latin typeface="Noto Sans CJK KR"/>
                <a:ea typeface="Noto Sans CJK KR"/>
                <a:cs typeface="Noto Sans CJK KR"/>
              </a:rPr>
              <a:t>Recent Experiences: When and how did the problem occur?</a:t>
            </a:r>
          </a:p>
        </p:txBody>
      </p:sp>
      <p:sp>
        <p:nvSpPr>
          <p:cNvPr id="5" name="Rectangle 4">
            <a:extLst>
              <a:ext uri="{FF2B5EF4-FFF2-40B4-BE49-F238E27FC236}">
                <a16:creationId xmlns:a16="http://schemas.microsoft.com/office/drawing/2014/main" id="{11E76CB1-F2FA-4C50-8624-922514B2C208}"/>
              </a:ext>
            </a:extLst>
          </p:cNvPr>
          <p:cNvSpPr>
            <a:spLocks noGrp="1"/>
          </p:cNvSpPr>
          <p:nvPr/>
        </p:nvSpPr>
        <p:spPr>
          <a:xfrm>
            <a:off x="914400" y="4562475"/>
            <a:ext cx="9525000" cy="819150"/>
          </a:xfrm>
          <a:prstGeom prst="rect">
            <a:avLst/>
          </a:prstGeom>
          <a:noFill/>
          <a:ln w="0">
            <a:noFill/>
          </a:ln>
        </p:spPr>
        <p:txBody>
          <a:bodyPr/>
          <a:lstStyle>
            <a:defPPr>
              <a:defRPr sz="2175" b="0">
                <a:solidFill>
                  <a:srgbClr val="17212D"/>
                </a:solidFill>
                <a:latin typeface="Noto Sans CJK KR"/>
                <a:ea typeface="Noto Sans CJK KR"/>
                <a:cs typeface="Noto Sans CJK KR"/>
              </a:defRPr>
            </a:defPPr>
          </a:lstStyle>
          <a:p>
            <a:pPr>
              <a:defRPr sz="2175" b="0">
                <a:solidFill>
                  <a:srgbClr val="17212D"/>
                </a:solidFill>
                <a:latin typeface="Noto Sans CJK KR"/>
                <a:ea typeface="Noto Sans CJK KR"/>
                <a:cs typeface="Noto Sans CJK KR"/>
              </a:defRPr>
            </a:pPr>
            <a:r>
              <a:rPr sz="2175" b="0">
                <a:solidFill>
                  <a:srgbClr val="17212D"/>
                </a:solidFill>
                <a:latin typeface="Noto Sans CJK KR"/>
                <a:ea typeface="Noto Sans CJK KR"/>
                <a:cs typeface="Noto Sans CJK KR"/>
              </a:rPr>
              <a:t>Searching Behavior: Where did participants search first and next?</a:t>
            </a:r>
          </a:p>
        </p:txBody>
      </p:sp>
      <p:sp>
        <p:nvSpPr>
          <p:cNvPr id="6" name="Rectangle 5">
            <a:extLst>
              <a:ext uri="{FF2B5EF4-FFF2-40B4-BE49-F238E27FC236}">
                <a16:creationId xmlns:a16="http://schemas.microsoft.com/office/drawing/2014/main" id="{7BAB9154-6362-4FE7-BECA-CA8551CFF66D}"/>
              </a:ext>
            </a:extLst>
          </p:cNvPr>
          <p:cNvSpPr>
            <a:spLocks noGrp="1"/>
          </p:cNvSpPr>
          <p:nvPr/>
        </p:nvSpPr>
        <p:spPr>
          <a:xfrm>
            <a:off x="914400" y="5438775"/>
            <a:ext cx="9525000" cy="819150"/>
          </a:xfrm>
          <a:prstGeom prst="rect">
            <a:avLst/>
          </a:prstGeom>
          <a:noFill/>
          <a:ln w="0">
            <a:noFill/>
          </a:ln>
        </p:spPr>
        <p:txBody>
          <a:bodyPr/>
          <a:lstStyle>
            <a:defPPr>
              <a:defRPr sz="2175" b="0">
                <a:solidFill>
                  <a:srgbClr val="17212D"/>
                </a:solidFill>
                <a:latin typeface="Noto Sans CJK KR"/>
                <a:ea typeface="Noto Sans CJK KR"/>
                <a:cs typeface="Noto Sans CJK KR"/>
              </a:defRPr>
            </a:defPPr>
          </a:lstStyle>
          <a:p>
            <a:pPr>
              <a:defRPr sz="2175" b="0">
                <a:solidFill>
                  <a:srgbClr val="17212D"/>
                </a:solidFill>
                <a:latin typeface="Noto Sans CJK KR"/>
                <a:ea typeface="Noto Sans CJK KR"/>
                <a:cs typeface="Noto Sans CJK KR"/>
              </a:defRPr>
            </a:pPr>
            <a:r>
              <a:rPr sz="2175" b="0">
                <a:solidFill>
                  <a:srgbClr val="17212D"/>
                </a:solidFill>
                <a:latin typeface="Noto Sans CJK KR"/>
                <a:ea typeface="Noto Sans CJK KR"/>
                <a:cs typeface="Noto Sans CJK KR"/>
              </a:rPr>
              <a:t>Existing Solutions: What applications or methods did they use?</a:t>
            </a:r>
          </a:p>
        </p:txBody>
      </p:sp>
      <p:sp>
        <p:nvSpPr>
          <p:cNvPr id="7" name="Rectangle 6">
            <a:extLst>
              <a:ext uri="{FF2B5EF4-FFF2-40B4-BE49-F238E27FC236}">
                <a16:creationId xmlns:a16="http://schemas.microsoft.com/office/drawing/2014/main" id="{C6947A0C-89F6-409D-9C00-CECB87EB8BDF}"/>
              </a:ext>
            </a:extLst>
          </p:cNvPr>
          <p:cNvSpPr>
            <a:spLocks noGrp="1"/>
          </p:cNvSpPr>
          <p:nvPr/>
        </p:nvSpPr>
        <p:spPr>
          <a:xfrm>
            <a:off x="914400" y="6315075"/>
            <a:ext cx="9525000" cy="819150"/>
          </a:xfrm>
          <a:prstGeom prst="rect">
            <a:avLst/>
          </a:prstGeom>
          <a:noFill/>
          <a:ln w="0">
            <a:noFill/>
          </a:ln>
        </p:spPr>
        <p:txBody>
          <a:bodyPr/>
          <a:lstStyle>
            <a:defPPr>
              <a:defRPr sz="2175" b="0">
                <a:solidFill>
                  <a:srgbClr val="17212D"/>
                </a:solidFill>
                <a:latin typeface="Noto Sans CJK KR"/>
                <a:ea typeface="Noto Sans CJK KR"/>
                <a:cs typeface="Noto Sans CJK KR"/>
              </a:defRPr>
            </a:defPPr>
          </a:lstStyle>
          <a:p>
            <a:pPr>
              <a:defRPr sz="2175" b="0">
                <a:solidFill>
                  <a:srgbClr val="17212D"/>
                </a:solidFill>
                <a:latin typeface="Noto Sans CJK KR"/>
                <a:ea typeface="Noto Sans CJK KR"/>
                <a:cs typeface="Noto Sans CJK KR"/>
              </a:defRPr>
            </a:pPr>
            <a:r>
              <a:rPr sz="2175" b="0">
                <a:solidFill>
                  <a:srgbClr val="17212D"/>
                </a:solidFill>
                <a:latin typeface="Noto Sans CJK KR"/>
                <a:ea typeface="Noto Sans CJK KR"/>
                <a:cs typeface="Noto Sans CJK KR"/>
              </a:rPr>
              <a:t>User Needs: What information would help them find items faster?</a:t>
            </a:r>
          </a:p>
        </p:txBody>
      </p:sp>
      <p:sp>
        <p:nvSpPr>
          <p:cNvPr id="8" name="Rectangle 7">
            <a:extLst>
              <a:ext uri="{FF2B5EF4-FFF2-40B4-BE49-F238E27FC236}">
                <a16:creationId xmlns:a16="http://schemas.microsoft.com/office/drawing/2014/main" id="{D7D2D29D-E557-4B9D-ADBE-21EBBA8BF24D}"/>
              </a:ext>
            </a:extLst>
          </p:cNvPr>
          <p:cNvSpPr>
            <a:spLocks noGrp="1"/>
          </p:cNvSpPr>
          <p:nvPr/>
        </p:nvSpPr>
        <p:spPr>
          <a:xfrm>
            <a:off x="914400" y="7391400"/>
            <a:ext cx="95250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Overall Finding</a:t>
            </a:r>
          </a:p>
        </p:txBody>
      </p:sp>
      <p:sp>
        <p:nvSpPr>
          <p:cNvPr id="9" name="Rectangle 8">
            <a:extLst>
              <a:ext uri="{FF2B5EF4-FFF2-40B4-BE49-F238E27FC236}">
                <a16:creationId xmlns:a16="http://schemas.microsoft.com/office/drawing/2014/main" id="{EBFE3412-7FC8-4D03-8215-35EA2896DA52}"/>
              </a:ext>
            </a:extLst>
          </p:cNvPr>
          <p:cNvSpPr>
            <a:spLocks noGrp="1"/>
          </p:cNvSpPr>
          <p:nvPr/>
        </p:nvSpPr>
        <p:spPr>
          <a:xfrm>
            <a:off x="914400" y="8124825"/>
            <a:ext cx="9525000" cy="1047750"/>
          </a:xfrm>
          <a:prstGeom prst="rect">
            <a:avLst/>
          </a:prstGeom>
          <a:noFill/>
          <a:ln w="0">
            <a:noFill/>
          </a:ln>
        </p:spPr>
        <p:txBody>
          <a:bodyPr/>
          <a:lstStyle>
            <a:defPPr>
              <a:defRPr sz="2325" b="0">
                <a:solidFill>
                  <a:srgbClr val="17212D"/>
                </a:solidFill>
                <a:latin typeface="Noto Sans CJK KR"/>
                <a:ea typeface="Noto Sans CJK KR"/>
                <a:cs typeface="Noto Sans CJK KR"/>
              </a:defRPr>
            </a:defPPr>
          </a:lstStyle>
          <a:p>
            <a:pPr>
              <a:defRPr sz="2325" b="0">
                <a:solidFill>
                  <a:srgbClr val="17212D"/>
                </a:solidFill>
                <a:latin typeface="Noto Sans CJK KR"/>
                <a:ea typeface="Noto Sans CJK KR"/>
                <a:cs typeface="Noto Sans CJK KR"/>
              </a:defRPr>
            </a:pPr>
            <a:r>
              <a:rPr sz="2325" b="0" dirty="0">
                <a:solidFill>
                  <a:srgbClr val="17212D"/>
                </a:solidFill>
                <a:latin typeface="Noto Sans CJK KR"/>
                <a:ea typeface="Noto Sans CJK KR"/>
                <a:cs typeface="Noto Sans CJK KR"/>
              </a:rPr>
              <a:t>10/10 participants reported having experienced difficulty finding personal belongings.</a:t>
            </a:r>
          </a:p>
        </p:txBody>
      </p:sp>
      <p:sp>
        <p:nvSpPr>
          <p:cNvPr id="10" name="Rectangle 9">
            <a:extLst>
              <a:ext uri="{FF2B5EF4-FFF2-40B4-BE49-F238E27FC236}">
                <a16:creationId xmlns:a16="http://schemas.microsoft.com/office/drawing/2014/main" id="{BD1B223D-D857-4644-A7DC-AAC9AC53F646}"/>
              </a:ext>
            </a:extLst>
          </p:cNvPr>
          <p:cNvSpPr>
            <a:spLocks noGrp="1"/>
          </p:cNvSpPr>
          <p:nvPr/>
        </p:nvSpPr>
        <p:spPr>
          <a:xfrm>
            <a:off x="826718" y="9172575"/>
            <a:ext cx="16459200" cy="466725"/>
          </a:xfrm>
          <a:prstGeom prst="rect">
            <a:avLst/>
          </a:prstGeom>
          <a:noFill/>
          <a:ln w="0">
            <a:noFill/>
          </a:ln>
        </p:spPr>
        <p:txBody>
          <a:bodyPr/>
          <a:lstStyle>
            <a:defPPr>
              <a:defRPr sz="1800" b="1">
                <a:solidFill>
                  <a:srgbClr val="2C5BA9"/>
                </a:solidFill>
                <a:latin typeface="Noto Sans CJK KR"/>
                <a:ea typeface="Noto Sans CJK KR"/>
                <a:cs typeface="Noto Sans CJK KR"/>
              </a:defRPr>
            </a:defPPr>
          </a:lstStyle>
          <a:p>
            <a:pPr>
              <a:defRPr sz="1800" b="1">
                <a:solidFill>
                  <a:srgbClr val="2C5BA9"/>
                </a:solidFill>
                <a:latin typeface="Noto Sans CJK KR"/>
                <a:ea typeface="Noto Sans CJK KR"/>
                <a:cs typeface="Noto Sans CJK KR"/>
              </a:defRPr>
            </a:pPr>
            <a:r>
              <a:rPr sz="2400" b="1" dirty="0">
                <a:solidFill>
                  <a:srgbClr val="FF0000"/>
                </a:solidFill>
                <a:latin typeface="Noto Sans CJK KR"/>
                <a:ea typeface="Noto Sans CJK KR"/>
                <a:cs typeface="Noto Sans CJK KR"/>
              </a:rPr>
              <a:t>We asked about real past experiences, not whether participants would like to use our app.</a:t>
            </a:r>
          </a:p>
        </p:txBody>
      </p:sp>
      <p:sp>
        <p:nvSpPr>
          <p:cNvPr id="11" name="Rectangle 10">
            <a:extLst>
              <a:ext uri="{FF2B5EF4-FFF2-40B4-BE49-F238E27FC236}">
                <a16:creationId xmlns:a16="http://schemas.microsoft.com/office/drawing/2014/main" id="{DD4A687E-2A52-4CDC-8A72-AD9FF8F27238}"/>
              </a:ext>
            </a:extLst>
          </p:cNvPr>
          <p:cNvSpPr>
            <a:spLocks noGrp="1"/>
          </p:cNvSpPr>
          <p:nvPr/>
        </p:nvSpPr>
        <p:spPr>
          <a:xfrm>
            <a:off x="11144250" y="1952625"/>
            <a:ext cx="6229350" cy="571500"/>
          </a:xfrm>
          <a:prstGeom prst="rect">
            <a:avLst/>
          </a:prstGeom>
          <a:noFill/>
          <a:ln w="0">
            <a:noFill/>
          </a:ln>
        </p:spPr>
        <p:txBody>
          <a:bodyPr/>
          <a:lstStyle>
            <a:defPPr>
              <a:defRPr sz="2400" b="1">
                <a:solidFill>
                  <a:srgbClr val="2C5BA9"/>
                </a:solidFill>
                <a:latin typeface="Noto Sans CJK KR"/>
                <a:ea typeface="Noto Sans CJK KR"/>
                <a:cs typeface="Noto Sans CJK KR"/>
              </a:defRPr>
            </a:defPPr>
          </a:lstStyle>
          <a:p>
            <a:pPr>
              <a:defRPr sz="2400" b="1">
                <a:solidFill>
                  <a:srgbClr val="2C5BA9"/>
                </a:solidFill>
                <a:latin typeface="Noto Sans CJK KR"/>
                <a:ea typeface="Noto Sans CJK KR"/>
                <a:cs typeface="Noto Sans CJK KR"/>
              </a:defRPr>
            </a:pPr>
            <a:r>
              <a:rPr sz="2400" b="1">
                <a:solidFill>
                  <a:srgbClr val="2C5BA9"/>
                </a:solidFill>
                <a:latin typeface="Noto Sans CJK KR"/>
                <a:ea typeface="Noto Sans CJK KR"/>
                <a:cs typeface="Noto Sans CJK KR"/>
              </a:rPr>
              <a:t>Interview answer excerpts</a:t>
            </a:r>
          </a:p>
        </p:txBody>
      </p:sp>
      <p:pic>
        <p:nvPicPr>
          <p:cNvPr id="12" name="Picture 11">
            <a:extLst>
              <a:ext uri="{FF2B5EF4-FFF2-40B4-BE49-F238E27FC236}">
                <a16:creationId xmlns:a16="http://schemas.microsoft.com/office/drawing/2014/main" id="{5FABE201-AB6C-4C43-8A2F-A604C8FE3EC3}"/>
              </a:ext>
            </a:extLst>
          </p:cNvPr>
          <p:cNvPicPr>
            <a:picLocks noChangeAspect="1"/>
          </p:cNvPicPr>
          <p:nvPr/>
        </p:nvPicPr>
        <p:blipFill>
          <a:blip r:embed="rId4"/>
          <a:stretch/>
        </p:blipFill>
        <p:spPr>
          <a:xfrm>
            <a:off x="11049000" y="2715058"/>
            <a:ext cx="6324600" cy="2227984"/>
          </a:xfrm>
          <a:prstGeom prst="rect">
            <a:avLst/>
          </a:prstGeom>
        </p:spPr>
      </p:pic>
      <p:pic>
        <p:nvPicPr>
          <p:cNvPr id="13" name="Picture 12">
            <a:extLst>
              <a:ext uri="{FF2B5EF4-FFF2-40B4-BE49-F238E27FC236}">
                <a16:creationId xmlns:a16="http://schemas.microsoft.com/office/drawing/2014/main" id="{A5F058EF-CC8B-406F-87DC-40802FDF1188}"/>
              </a:ext>
            </a:extLst>
          </p:cNvPr>
          <p:cNvPicPr>
            <a:picLocks noChangeAspect="1"/>
          </p:cNvPicPr>
          <p:nvPr/>
        </p:nvPicPr>
        <p:blipFill>
          <a:blip r:embed="rId5"/>
          <a:stretch/>
        </p:blipFill>
        <p:spPr>
          <a:xfrm>
            <a:off x="11049000" y="4953433"/>
            <a:ext cx="6324600" cy="2227984"/>
          </a:xfrm>
          <a:prstGeom prst="rect">
            <a:avLst/>
          </a:prstGeom>
        </p:spPr>
      </p:pic>
    </p:spTree>
    <p:extLst>
      <p:ext uri="{BB962C8B-B14F-4D97-AF65-F5344CB8AC3E}">
        <p14:creationId xmlns:p14="http://schemas.microsoft.com/office/powerpoint/2010/main" val="11601269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1546D7F-C518-4BC4-8641-1C58BA1F2965}"/>
              </a:ext>
            </a:extLst>
          </p:cNvPr>
          <p:cNvSpPr>
            <a:spLocks noGrp="1"/>
          </p:cNvSpPr>
          <p:nvPr/>
        </p:nvSpPr>
        <p:spPr>
          <a:xfrm>
            <a:off x="914400" y="609600"/>
            <a:ext cx="16459200" cy="952500"/>
          </a:xfrm>
          <a:prstGeom prst="rect">
            <a:avLst/>
          </a:prstGeom>
          <a:noFill/>
          <a:ln w="0">
            <a:noFill/>
          </a:ln>
        </p:spPr>
        <p:txBody>
          <a:bodyPr/>
          <a:lstStyle>
            <a:defPPr>
              <a:defRPr sz="4200" b="1">
                <a:solidFill>
                  <a:srgbClr val="2C5BA9"/>
                </a:solidFill>
                <a:latin typeface="Noto Sans CJK KR"/>
                <a:ea typeface="Noto Sans CJK KR"/>
                <a:cs typeface="Noto Sans CJK KR"/>
              </a:defRPr>
            </a:defPPr>
          </a:lstStyle>
          <a:p>
            <a:pPr>
              <a:defRPr sz="4200" b="1">
                <a:solidFill>
                  <a:srgbClr val="2C5BA9"/>
                </a:solidFill>
                <a:latin typeface="Noto Sans CJK KR"/>
                <a:ea typeface="Noto Sans CJK KR"/>
                <a:cs typeface="Noto Sans CJK KR"/>
              </a:defRPr>
            </a:pPr>
            <a:r>
              <a:rPr sz="6000" b="1" dirty="0">
                <a:solidFill>
                  <a:srgbClr val="2C5BA9"/>
                </a:solidFill>
                <a:latin typeface="Noto Sans CJK KR"/>
                <a:ea typeface="Noto Sans CJK KR"/>
                <a:cs typeface="Noto Sans CJK KR"/>
              </a:rPr>
              <a:t>Main Interview Findings</a:t>
            </a:r>
          </a:p>
        </p:txBody>
      </p:sp>
      <p:sp>
        <p:nvSpPr>
          <p:cNvPr id="2" name="Rectangle 1">
            <a:extLst>
              <a:ext uri="{FF2B5EF4-FFF2-40B4-BE49-F238E27FC236}">
                <a16:creationId xmlns:a16="http://schemas.microsoft.com/office/drawing/2014/main" id="{A9F8D28C-D537-4122-84AB-FAE7912DFBCF}"/>
              </a:ext>
            </a:extLst>
          </p:cNvPr>
          <p:cNvSpPr>
            <a:spLocks noGrp="1"/>
          </p:cNvSpPr>
          <p:nvPr/>
        </p:nvSpPr>
        <p:spPr>
          <a:xfrm>
            <a:off x="914400" y="1762125"/>
            <a:ext cx="164592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Five Key Findings</a:t>
            </a:r>
          </a:p>
        </p:txBody>
      </p:sp>
      <p:sp>
        <p:nvSpPr>
          <p:cNvPr id="3" name="Rectangle 2">
            <a:extLst>
              <a:ext uri="{FF2B5EF4-FFF2-40B4-BE49-F238E27FC236}">
                <a16:creationId xmlns:a16="http://schemas.microsoft.com/office/drawing/2014/main" id="{76FD736D-3104-43F3-9080-41A5F8E9DF1F}"/>
              </a:ext>
            </a:extLst>
          </p:cNvPr>
          <p:cNvSpPr>
            <a:spLocks noGrp="1"/>
          </p:cNvSpPr>
          <p:nvPr/>
        </p:nvSpPr>
        <p:spPr>
          <a:xfrm>
            <a:off x="914400" y="2571750"/>
            <a:ext cx="7886700" cy="904875"/>
          </a:xfrm>
          <a:prstGeom prst="rect">
            <a:avLst/>
          </a:prstGeom>
          <a:noFill/>
          <a:ln w="0">
            <a:noFill/>
          </a:ln>
        </p:spPr>
        <p:txBody>
          <a:bodyPr/>
          <a:lstStyle>
            <a:defPPr>
              <a:defRPr sz="2325" b="1">
                <a:solidFill>
                  <a:srgbClr val="2C5BA9"/>
                </a:solidFill>
                <a:latin typeface="Noto Sans CJK KR"/>
                <a:ea typeface="Noto Sans CJK KR"/>
                <a:cs typeface="Noto Sans CJK KR"/>
              </a:defRPr>
            </a:defPPr>
          </a:lstStyle>
          <a:p>
            <a:pPr>
              <a:defRPr sz="2325" b="1">
                <a:solidFill>
                  <a:srgbClr val="2C5BA9"/>
                </a:solidFill>
                <a:latin typeface="Noto Sans CJK KR"/>
                <a:ea typeface="Noto Sans CJK KR"/>
                <a:cs typeface="Noto Sans CJK KR"/>
              </a:defRPr>
            </a:pPr>
            <a:r>
              <a:rPr sz="2325" b="1">
                <a:solidFill>
                  <a:srgbClr val="2C5BA9"/>
                </a:solidFill>
                <a:latin typeface="Noto Sans CJK KR"/>
                <a:ea typeface="Noto Sans CJK KR"/>
                <a:cs typeface="Noto Sans CJK KR"/>
              </a:rPr>
              <a:t>1. Small Everyday Objects Are Difficult to Find</a:t>
            </a:r>
          </a:p>
        </p:txBody>
      </p:sp>
      <p:sp>
        <p:nvSpPr>
          <p:cNvPr id="4" name="Rectangle 3">
            <a:extLst>
              <a:ext uri="{FF2B5EF4-FFF2-40B4-BE49-F238E27FC236}">
                <a16:creationId xmlns:a16="http://schemas.microsoft.com/office/drawing/2014/main" id="{89AF5288-88F6-4730-9A30-F59FA7F3DF1D}"/>
              </a:ext>
            </a:extLst>
          </p:cNvPr>
          <p:cNvSpPr>
            <a:spLocks noGrp="1"/>
          </p:cNvSpPr>
          <p:nvPr/>
        </p:nvSpPr>
        <p:spPr>
          <a:xfrm>
            <a:off x="1143000" y="3571875"/>
            <a:ext cx="7658100" cy="142875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Common items: glasses, cards, earphones, phones, chargers, and hair ties.</a:t>
            </a:r>
          </a:p>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Small size and low visibility make searching difficult.</a:t>
            </a:r>
          </a:p>
        </p:txBody>
      </p:sp>
      <p:sp>
        <p:nvSpPr>
          <p:cNvPr id="5" name="Rectangle 4">
            <a:extLst>
              <a:ext uri="{FF2B5EF4-FFF2-40B4-BE49-F238E27FC236}">
                <a16:creationId xmlns:a16="http://schemas.microsoft.com/office/drawing/2014/main" id="{BCB8F953-CA3E-44DB-9693-B9D70DA9792A}"/>
              </a:ext>
            </a:extLst>
          </p:cNvPr>
          <p:cNvSpPr>
            <a:spLocks noGrp="1"/>
          </p:cNvSpPr>
          <p:nvPr/>
        </p:nvSpPr>
        <p:spPr>
          <a:xfrm>
            <a:off x="9486900" y="2571750"/>
            <a:ext cx="7886700" cy="904875"/>
          </a:xfrm>
          <a:prstGeom prst="rect">
            <a:avLst/>
          </a:prstGeom>
          <a:noFill/>
          <a:ln w="0">
            <a:noFill/>
          </a:ln>
        </p:spPr>
        <p:txBody>
          <a:bodyPr/>
          <a:lstStyle>
            <a:defPPr>
              <a:defRPr sz="2325" b="1">
                <a:solidFill>
                  <a:srgbClr val="2C5BA9"/>
                </a:solidFill>
                <a:latin typeface="Noto Sans CJK KR"/>
                <a:ea typeface="Noto Sans CJK KR"/>
                <a:cs typeface="Noto Sans CJK KR"/>
              </a:defRPr>
            </a:defPPr>
          </a:lstStyle>
          <a:p>
            <a:pPr>
              <a:defRPr sz="2325" b="1">
                <a:solidFill>
                  <a:srgbClr val="2C5BA9"/>
                </a:solidFill>
                <a:latin typeface="Noto Sans CJK KR"/>
                <a:ea typeface="Noto Sans CJK KR"/>
                <a:cs typeface="Noto Sans CJK KR"/>
              </a:defRPr>
            </a:pPr>
            <a:r>
              <a:rPr sz="2325" b="1" dirty="0">
                <a:solidFill>
                  <a:srgbClr val="2C5BA9"/>
                </a:solidFill>
                <a:latin typeface="Noto Sans CJK KR"/>
                <a:ea typeface="Noto Sans CJK KR"/>
                <a:cs typeface="Noto Sans CJK KR"/>
              </a:rPr>
              <a:t>2. Missing Items Are Often Noticed When Needed</a:t>
            </a:r>
          </a:p>
        </p:txBody>
      </p:sp>
      <p:sp>
        <p:nvSpPr>
          <p:cNvPr id="6" name="Rectangle 5">
            <a:extLst>
              <a:ext uri="{FF2B5EF4-FFF2-40B4-BE49-F238E27FC236}">
                <a16:creationId xmlns:a16="http://schemas.microsoft.com/office/drawing/2014/main" id="{884A825E-94CD-41BB-B187-47D069A1A95D}"/>
              </a:ext>
            </a:extLst>
          </p:cNvPr>
          <p:cNvSpPr>
            <a:spLocks noGrp="1"/>
          </p:cNvSpPr>
          <p:nvPr/>
        </p:nvSpPr>
        <p:spPr>
          <a:xfrm>
            <a:off x="9803183" y="3575304"/>
            <a:ext cx="7658100" cy="142875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Participants experienced difficulties before leaving home.</a:t>
            </a:r>
          </a:p>
          <a:p>
            <a:pPr>
              <a:defRPr sz="210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Participant 3: Searching for a phone took approximately 10–15 minutes.</a:t>
            </a:r>
          </a:p>
        </p:txBody>
      </p:sp>
      <p:sp>
        <p:nvSpPr>
          <p:cNvPr id="7" name="Rectangle 6">
            <a:extLst>
              <a:ext uri="{FF2B5EF4-FFF2-40B4-BE49-F238E27FC236}">
                <a16:creationId xmlns:a16="http://schemas.microsoft.com/office/drawing/2014/main" id="{76CB13BE-15C2-4A18-BFAE-84D5C7DDF9E8}"/>
              </a:ext>
            </a:extLst>
          </p:cNvPr>
          <p:cNvSpPr>
            <a:spLocks noGrp="1"/>
          </p:cNvSpPr>
          <p:nvPr/>
        </p:nvSpPr>
        <p:spPr>
          <a:xfrm>
            <a:off x="914400" y="5238750"/>
            <a:ext cx="7886700" cy="904875"/>
          </a:xfrm>
          <a:prstGeom prst="rect">
            <a:avLst/>
          </a:prstGeom>
          <a:noFill/>
          <a:ln w="0">
            <a:noFill/>
          </a:ln>
        </p:spPr>
        <p:txBody>
          <a:bodyPr/>
          <a:lstStyle>
            <a:defPPr>
              <a:defRPr sz="2325" b="1">
                <a:solidFill>
                  <a:srgbClr val="2C5BA9"/>
                </a:solidFill>
                <a:latin typeface="Noto Sans CJK KR"/>
                <a:ea typeface="Noto Sans CJK KR"/>
                <a:cs typeface="Noto Sans CJK KR"/>
              </a:defRPr>
            </a:defPPr>
          </a:lstStyle>
          <a:p>
            <a:pPr>
              <a:defRPr sz="2325" b="1">
                <a:solidFill>
                  <a:srgbClr val="2C5BA9"/>
                </a:solidFill>
                <a:latin typeface="Noto Sans CJK KR"/>
                <a:ea typeface="Noto Sans CJK KR"/>
                <a:cs typeface="Noto Sans CJK KR"/>
              </a:defRPr>
            </a:pPr>
            <a:r>
              <a:rPr sz="2325" b="1">
                <a:solidFill>
                  <a:srgbClr val="2C5BA9"/>
                </a:solidFill>
                <a:latin typeface="Noto Sans CJK KR"/>
                <a:ea typeface="Noto Sans CJK KR"/>
                <a:cs typeface="Noto Sans CJK KR"/>
              </a:rPr>
              <a:t>3. Users Check Familiar Locations First</a:t>
            </a:r>
          </a:p>
        </p:txBody>
      </p:sp>
      <p:sp>
        <p:nvSpPr>
          <p:cNvPr id="8" name="Rectangle 7">
            <a:extLst>
              <a:ext uri="{FF2B5EF4-FFF2-40B4-BE49-F238E27FC236}">
                <a16:creationId xmlns:a16="http://schemas.microsoft.com/office/drawing/2014/main" id="{BF33DCDB-B5B7-466D-88CC-F4237F2C07C8}"/>
              </a:ext>
            </a:extLst>
          </p:cNvPr>
          <p:cNvSpPr>
            <a:spLocks noGrp="1"/>
          </p:cNvSpPr>
          <p:nvPr/>
        </p:nvSpPr>
        <p:spPr>
          <a:xfrm>
            <a:off x="1143000" y="5811163"/>
            <a:ext cx="7658100" cy="142875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All 10 participants described checking familiar locations.</a:t>
            </a:r>
          </a:p>
          <a:p>
            <a:pPr>
              <a:defRPr sz="210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Common locations: desks, beds, and bags.</a:t>
            </a:r>
          </a:p>
          <a:p>
            <a:pPr>
              <a:defRPr sz="210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Some participants repeatedly checked the same places.</a:t>
            </a:r>
          </a:p>
        </p:txBody>
      </p:sp>
      <p:sp>
        <p:nvSpPr>
          <p:cNvPr id="9" name="Rectangle 8">
            <a:extLst>
              <a:ext uri="{FF2B5EF4-FFF2-40B4-BE49-F238E27FC236}">
                <a16:creationId xmlns:a16="http://schemas.microsoft.com/office/drawing/2014/main" id="{B95ECBB5-B4D4-4C74-BEDD-C3B7D055E7FB}"/>
              </a:ext>
            </a:extLst>
          </p:cNvPr>
          <p:cNvSpPr>
            <a:spLocks noGrp="1"/>
          </p:cNvSpPr>
          <p:nvPr/>
        </p:nvSpPr>
        <p:spPr>
          <a:xfrm>
            <a:off x="9486900" y="5238750"/>
            <a:ext cx="7886700" cy="904875"/>
          </a:xfrm>
          <a:prstGeom prst="rect">
            <a:avLst/>
          </a:prstGeom>
          <a:noFill/>
          <a:ln w="0">
            <a:noFill/>
          </a:ln>
        </p:spPr>
        <p:txBody>
          <a:bodyPr/>
          <a:lstStyle>
            <a:defPPr>
              <a:defRPr sz="2325" b="1">
                <a:solidFill>
                  <a:srgbClr val="2C5BA9"/>
                </a:solidFill>
                <a:latin typeface="Noto Sans CJK KR"/>
                <a:ea typeface="Noto Sans CJK KR"/>
                <a:cs typeface="Noto Sans CJK KR"/>
              </a:defRPr>
            </a:defPPr>
          </a:lstStyle>
          <a:p>
            <a:pPr>
              <a:defRPr sz="2325" b="1">
                <a:solidFill>
                  <a:srgbClr val="2C5BA9"/>
                </a:solidFill>
                <a:latin typeface="Noto Sans CJK KR"/>
                <a:ea typeface="Noto Sans CJK KR"/>
                <a:cs typeface="Noto Sans CJK KR"/>
              </a:defRPr>
            </a:pPr>
            <a:r>
              <a:rPr sz="2325" b="1">
                <a:solidFill>
                  <a:srgbClr val="2C5BA9"/>
                </a:solidFill>
                <a:latin typeface="Noto Sans CJK KR"/>
                <a:ea typeface="Noto Sans CJK KR"/>
                <a:cs typeface="Noto Sans CJK KR"/>
              </a:rPr>
              <a:t>4. Existing Tracking Applications Have Limitations</a:t>
            </a:r>
          </a:p>
        </p:txBody>
      </p:sp>
      <p:sp>
        <p:nvSpPr>
          <p:cNvPr id="10" name="Rectangle 9">
            <a:extLst>
              <a:ext uri="{FF2B5EF4-FFF2-40B4-BE49-F238E27FC236}">
                <a16:creationId xmlns:a16="http://schemas.microsoft.com/office/drawing/2014/main" id="{10D6896B-CA1F-40B0-AAFC-9EDACD7A07D9}"/>
              </a:ext>
            </a:extLst>
          </p:cNvPr>
          <p:cNvSpPr>
            <a:spLocks noGrp="1"/>
          </p:cNvSpPr>
          <p:nvPr/>
        </p:nvSpPr>
        <p:spPr>
          <a:xfrm>
            <a:off x="9802368" y="5819775"/>
            <a:ext cx="7658100" cy="142875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Applications mentioned: Apple Find My and Samsung Find My Device.</a:t>
            </a:r>
          </a:p>
          <a:p>
            <a:pPr>
              <a:defRPr sz="210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Participants 6 and 9 reported difficulties identifying exact indoor locations.</a:t>
            </a:r>
          </a:p>
        </p:txBody>
      </p:sp>
      <p:sp>
        <p:nvSpPr>
          <p:cNvPr id="11" name="Rectangle 10">
            <a:extLst>
              <a:ext uri="{FF2B5EF4-FFF2-40B4-BE49-F238E27FC236}">
                <a16:creationId xmlns:a16="http://schemas.microsoft.com/office/drawing/2014/main" id="{E8B1BB49-4281-40AA-8BB4-7E0C4FA306E7}"/>
              </a:ext>
            </a:extLst>
          </p:cNvPr>
          <p:cNvSpPr>
            <a:spLocks noGrp="1"/>
          </p:cNvSpPr>
          <p:nvPr/>
        </p:nvSpPr>
        <p:spPr>
          <a:xfrm>
            <a:off x="914400" y="7305675"/>
            <a:ext cx="16459200" cy="904875"/>
          </a:xfrm>
          <a:prstGeom prst="rect">
            <a:avLst/>
          </a:prstGeom>
          <a:noFill/>
          <a:ln w="0">
            <a:noFill/>
          </a:ln>
        </p:spPr>
        <p:txBody>
          <a:bodyPr/>
          <a:lstStyle>
            <a:defPPr>
              <a:defRPr sz="2325" b="1">
                <a:solidFill>
                  <a:srgbClr val="2C5BA9"/>
                </a:solidFill>
                <a:latin typeface="Noto Sans CJK KR"/>
                <a:ea typeface="Noto Sans CJK KR"/>
                <a:cs typeface="Noto Sans CJK KR"/>
              </a:defRPr>
            </a:defPPr>
          </a:lstStyle>
          <a:p>
            <a:pPr>
              <a:defRPr sz="2325" b="1">
                <a:solidFill>
                  <a:srgbClr val="2C5BA9"/>
                </a:solidFill>
                <a:latin typeface="Noto Sans CJK KR"/>
                <a:ea typeface="Noto Sans CJK KR"/>
                <a:cs typeface="Noto Sans CJK KR"/>
              </a:defRPr>
            </a:pPr>
            <a:r>
              <a:rPr sz="2325" b="1" dirty="0">
                <a:solidFill>
                  <a:srgbClr val="2C5BA9"/>
                </a:solidFill>
                <a:latin typeface="Noto Sans CJK KR"/>
                <a:ea typeface="Noto Sans CJK KR"/>
                <a:cs typeface="Noto Sans CJK KR"/>
              </a:rPr>
              <a:t>5. Last-Seen Information Helps</a:t>
            </a:r>
          </a:p>
        </p:txBody>
      </p:sp>
      <p:sp>
        <p:nvSpPr>
          <p:cNvPr id="12" name="Rectangle 11">
            <a:extLst>
              <a:ext uri="{FF2B5EF4-FFF2-40B4-BE49-F238E27FC236}">
                <a16:creationId xmlns:a16="http://schemas.microsoft.com/office/drawing/2014/main" id="{29A82342-A78D-417D-A963-00C4370851FC}"/>
              </a:ext>
            </a:extLst>
          </p:cNvPr>
          <p:cNvSpPr>
            <a:spLocks noGrp="1"/>
          </p:cNvSpPr>
          <p:nvPr/>
        </p:nvSpPr>
        <p:spPr>
          <a:xfrm>
            <a:off x="1143000" y="7962899"/>
            <a:ext cx="16230600" cy="904875"/>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Several participants found items by remembering their last-used locations.</a:t>
            </a:r>
          </a:p>
          <a:p>
            <a:pPr>
              <a:defRPr sz="210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Participant 10 found an item under clothes near its previous usage location.</a:t>
            </a:r>
          </a:p>
        </p:txBody>
      </p:sp>
      <p:sp>
        <p:nvSpPr>
          <p:cNvPr id="13" name="Rectangle 12">
            <a:extLst>
              <a:ext uri="{FF2B5EF4-FFF2-40B4-BE49-F238E27FC236}">
                <a16:creationId xmlns:a16="http://schemas.microsoft.com/office/drawing/2014/main" id="{784E12D2-5064-47E3-80CC-475BDD54C297}"/>
              </a:ext>
            </a:extLst>
          </p:cNvPr>
          <p:cNvSpPr>
            <a:spLocks noGrp="1"/>
          </p:cNvSpPr>
          <p:nvPr/>
        </p:nvSpPr>
        <p:spPr>
          <a:xfrm>
            <a:off x="914400" y="9163048"/>
            <a:ext cx="3095625"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dirty="0">
                <a:solidFill>
                  <a:srgbClr val="2C5BA9"/>
                </a:solidFill>
                <a:latin typeface="Noto Sans CJK KR"/>
                <a:ea typeface="Noto Sans CJK KR"/>
                <a:cs typeface="Noto Sans CJK KR"/>
              </a:rPr>
              <a:t>Main Insight</a:t>
            </a:r>
          </a:p>
        </p:txBody>
      </p:sp>
      <p:sp>
        <p:nvSpPr>
          <p:cNvPr id="14" name="Rectangle 13">
            <a:extLst>
              <a:ext uri="{FF2B5EF4-FFF2-40B4-BE49-F238E27FC236}">
                <a16:creationId xmlns:a16="http://schemas.microsoft.com/office/drawing/2014/main" id="{67F58D45-7A35-41C9-A29B-ACE334A33372}"/>
              </a:ext>
            </a:extLst>
          </p:cNvPr>
          <p:cNvSpPr>
            <a:spLocks noGrp="1"/>
          </p:cNvSpPr>
          <p:nvPr/>
        </p:nvSpPr>
        <p:spPr>
          <a:xfrm>
            <a:off x="4286250" y="9205910"/>
            <a:ext cx="13087350" cy="638175"/>
          </a:xfrm>
          <a:prstGeom prst="rect">
            <a:avLst/>
          </a:prstGeom>
          <a:noFill/>
          <a:ln w="0">
            <a:noFill/>
          </a:ln>
        </p:spPr>
        <p:txBody>
          <a:bodyPr/>
          <a:lstStyle>
            <a:defPPr>
              <a:defRPr sz="2025" b="0">
                <a:solidFill>
                  <a:srgbClr val="17212D"/>
                </a:solidFill>
                <a:latin typeface="Noto Sans CJK KR"/>
                <a:ea typeface="Noto Sans CJK KR"/>
                <a:cs typeface="Noto Sans CJK KR"/>
              </a:defRPr>
            </a:defPPr>
          </a:lstStyle>
          <a:p>
            <a:pPr>
              <a:defRPr sz="2025" b="0">
                <a:solidFill>
                  <a:srgbClr val="17212D"/>
                </a:solidFill>
                <a:latin typeface="Noto Sans CJK KR"/>
                <a:ea typeface="Noto Sans CJK KR"/>
                <a:cs typeface="Noto Sans CJK KR"/>
              </a:defRPr>
            </a:pPr>
            <a:r>
              <a:rPr sz="2025" b="0" dirty="0">
                <a:solidFill>
                  <a:srgbClr val="17212D"/>
                </a:solidFill>
                <a:latin typeface="Noto Sans CJK KR"/>
                <a:ea typeface="Noto Sans CJK KR"/>
                <a:cs typeface="Noto Sans CJK KR"/>
              </a:rPr>
              <a:t>Remembering where an object was last seen can reduce unnecessary searching → we focus on recording and retrieving last-seen locations.</a:t>
            </a:r>
          </a:p>
        </p:txBody>
      </p:sp>
    </p:spTree>
    <p:extLst>
      <p:ext uri="{BB962C8B-B14F-4D97-AF65-F5344CB8AC3E}">
        <p14:creationId xmlns:p14="http://schemas.microsoft.com/office/powerpoint/2010/main" val="98436431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AA785ED2-5BDB-48BA-A649-62900BED6C94}"/>
              </a:ext>
            </a:extLst>
          </p:cNvPr>
          <p:cNvSpPr>
            <a:spLocks noGrp="1"/>
          </p:cNvSpPr>
          <p:nvPr/>
        </p:nvSpPr>
        <p:spPr>
          <a:xfrm>
            <a:off x="914400" y="609600"/>
            <a:ext cx="16459200" cy="952500"/>
          </a:xfrm>
          <a:prstGeom prst="rect">
            <a:avLst/>
          </a:prstGeom>
          <a:noFill/>
          <a:ln w="0">
            <a:noFill/>
          </a:ln>
        </p:spPr>
        <p:txBody>
          <a:bodyPr/>
          <a:lstStyle>
            <a:defPPr>
              <a:defRPr sz="4200" b="1">
                <a:solidFill>
                  <a:srgbClr val="2C5BA9"/>
                </a:solidFill>
                <a:latin typeface="Noto Sans CJK KR"/>
                <a:ea typeface="Noto Sans CJK KR"/>
                <a:cs typeface="Noto Sans CJK KR"/>
              </a:defRPr>
            </a:defPPr>
          </a:lstStyle>
          <a:p>
            <a:pPr>
              <a:defRPr sz="4200" b="1">
                <a:solidFill>
                  <a:srgbClr val="2C5BA9"/>
                </a:solidFill>
                <a:latin typeface="Noto Sans CJK KR"/>
                <a:ea typeface="Noto Sans CJK KR"/>
                <a:cs typeface="Noto Sans CJK KR"/>
              </a:defRPr>
            </a:pPr>
            <a:r>
              <a:rPr sz="6000" b="1" dirty="0">
                <a:solidFill>
                  <a:srgbClr val="2C5BA9"/>
                </a:solidFill>
                <a:latin typeface="Noto Sans CJK KR"/>
                <a:ea typeface="Noto Sans CJK KR"/>
                <a:cs typeface="Noto Sans CJK KR"/>
              </a:rPr>
              <a:t>Mini Ontology</a:t>
            </a:r>
          </a:p>
        </p:txBody>
      </p:sp>
      <p:sp>
        <p:nvSpPr>
          <p:cNvPr id="4" name="Rectangle 3">
            <a:extLst>
              <a:ext uri="{FF2B5EF4-FFF2-40B4-BE49-F238E27FC236}">
                <a16:creationId xmlns:a16="http://schemas.microsoft.com/office/drawing/2014/main" id="{70FD2E3D-2B81-4748-9ECE-E6C3DA0FE30C}"/>
              </a:ext>
            </a:extLst>
          </p:cNvPr>
          <p:cNvSpPr>
            <a:spLocks noGrp="1"/>
          </p:cNvSpPr>
          <p:nvPr/>
        </p:nvSpPr>
        <p:spPr>
          <a:xfrm>
            <a:off x="914400" y="1772383"/>
            <a:ext cx="164592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dirty="0">
                <a:solidFill>
                  <a:srgbClr val="2C5BA9"/>
                </a:solidFill>
                <a:latin typeface="Noto Sans CJK KR"/>
                <a:ea typeface="Noto Sans CJK KR"/>
                <a:cs typeface="Noto Sans CJK KR"/>
              </a:rPr>
              <a:t>Main Entities</a:t>
            </a:r>
            <a:r>
              <a:rPr lang="en-US" sz="2700" b="1" dirty="0">
                <a:solidFill>
                  <a:srgbClr val="2C5BA9"/>
                </a:solidFill>
                <a:latin typeface="Noto Sans CJK KR"/>
                <a:ea typeface="Noto Sans CJK KR"/>
                <a:cs typeface="Noto Sans CJK KR"/>
              </a:rPr>
              <a:t> &amp; Relationships</a:t>
            </a:r>
            <a:endParaRPr sz="2700" b="1" dirty="0">
              <a:solidFill>
                <a:srgbClr val="2C5BA9"/>
              </a:solidFill>
              <a:latin typeface="Noto Sans CJK KR"/>
              <a:ea typeface="Noto Sans CJK KR"/>
              <a:cs typeface="Noto Sans CJK KR"/>
            </a:endParaRPr>
          </a:p>
        </p:txBody>
      </p:sp>
      <p:sp>
        <p:nvSpPr>
          <p:cNvPr id="7" name="Rectangle: Rounded Corners 6">
            <a:extLst>
              <a:ext uri="{FF2B5EF4-FFF2-40B4-BE49-F238E27FC236}">
                <a16:creationId xmlns:a16="http://schemas.microsoft.com/office/drawing/2014/main" id="{E403AF1F-ABCF-422C-9E43-C9AA8B175804}"/>
              </a:ext>
            </a:extLst>
          </p:cNvPr>
          <p:cNvSpPr>
            <a:spLocks noGrp="1"/>
          </p:cNvSpPr>
          <p:nvPr/>
        </p:nvSpPr>
        <p:spPr>
          <a:xfrm>
            <a:off x="920115" y="2620326"/>
            <a:ext cx="3238500" cy="1571625"/>
          </a:xfrm>
          <a:prstGeom prst="roundRect">
            <a:avLst>
              <a:gd name="adj" fmla="val 4848"/>
            </a:avLst>
          </a:prstGeom>
          <a:solidFill>
            <a:srgbClr val="F1F4F8"/>
          </a:solidFill>
          <a:ln w="19050">
            <a:solidFill>
              <a:srgbClr val="2C5BA9"/>
            </a:solidFill>
          </a:ln>
        </p:spPr>
        <p:txBody>
          <a:bodyPr/>
          <a:lstStyle/>
          <a:p>
            <a:endParaRPr lang="en-US"/>
          </a:p>
        </p:txBody>
      </p:sp>
      <p:sp>
        <p:nvSpPr>
          <p:cNvPr id="8" name="Rectangle 7">
            <a:extLst>
              <a:ext uri="{FF2B5EF4-FFF2-40B4-BE49-F238E27FC236}">
                <a16:creationId xmlns:a16="http://schemas.microsoft.com/office/drawing/2014/main" id="{858425AF-CE70-4781-B8AF-59D41D69BAE8}"/>
              </a:ext>
            </a:extLst>
          </p:cNvPr>
          <p:cNvSpPr>
            <a:spLocks noGrp="1"/>
          </p:cNvSpPr>
          <p:nvPr/>
        </p:nvSpPr>
        <p:spPr>
          <a:xfrm>
            <a:off x="1148715" y="2810826"/>
            <a:ext cx="2781300" cy="619125"/>
          </a:xfrm>
          <a:prstGeom prst="rect">
            <a:avLst/>
          </a:prstGeom>
          <a:noFill/>
          <a:ln w="0">
            <a:noFill/>
          </a:ln>
        </p:spPr>
        <p:txBody>
          <a:bodyPr/>
          <a:lstStyle>
            <a:defPPr>
              <a:defRPr sz="2400" b="1">
                <a:solidFill>
                  <a:srgbClr val="2C5BA9"/>
                </a:solidFill>
                <a:latin typeface="Noto Sans CJK KR"/>
                <a:ea typeface="Noto Sans CJK KR"/>
                <a:cs typeface="Noto Sans CJK KR"/>
              </a:defRPr>
            </a:defPPr>
          </a:lstStyle>
          <a:p>
            <a:pPr>
              <a:defRPr sz="2400" b="1">
                <a:solidFill>
                  <a:srgbClr val="2C5BA9"/>
                </a:solidFill>
                <a:latin typeface="Noto Sans CJK KR"/>
                <a:ea typeface="Noto Sans CJK KR"/>
                <a:cs typeface="Noto Sans CJK KR"/>
              </a:defRPr>
            </a:pPr>
            <a:r>
              <a:rPr sz="2400" b="1">
                <a:solidFill>
                  <a:srgbClr val="2C5BA9"/>
                </a:solidFill>
                <a:latin typeface="Noto Sans CJK KR"/>
                <a:ea typeface="Noto Sans CJK KR"/>
                <a:cs typeface="Noto Sans CJK KR"/>
              </a:rPr>
              <a:t>Query</a:t>
            </a:r>
          </a:p>
        </p:txBody>
      </p:sp>
      <p:sp>
        <p:nvSpPr>
          <p:cNvPr id="9" name="Rectangle 8">
            <a:extLst>
              <a:ext uri="{FF2B5EF4-FFF2-40B4-BE49-F238E27FC236}">
                <a16:creationId xmlns:a16="http://schemas.microsoft.com/office/drawing/2014/main" id="{4D17B11A-EC64-4777-BFEB-9FD9D3DCA6A3}"/>
              </a:ext>
            </a:extLst>
          </p:cNvPr>
          <p:cNvSpPr>
            <a:spLocks noGrp="1"/>
          </p:cNvSpPr>
          <p:nvPr/>
        </p:nvSpPr>
        <p:spPr>
          <a:xfrm>
            <a:off x="1148715" y="3264216"/>
            <a:ext cx="2926080" cy="82296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User’s question</a:t>
            </a:r>
          </a:p>
          <a:p>
            <a:pPr>
              <a:defRPr sz="2100" b="0">
                <a:solidFill>
                  <a:srgbClr val="17212D"/>
                </a:solidFill>
                <a:latin typeface="Noto Sans CJK KR"/>
                <a:ea typeface="Noto Sans CJK KR"/>
                <a:cs typeface="Noto Sans CJK KR"/>
              </a:defRPr>
            </a:pPr>
            <a:r>
              <a:rPr sz="1600" b="0" i="1">
                <a:solidFill>
                  <a:srgbClr val="17212D"/>
                </a:solidFill>
                <a:latin typeface="Noto Sans CJK KR"/>
                <a:ea typeface="Noto Sans CJK KR"/>
                <a:cs typeface="Noto Sans CJK KR"/>
              </a:rPr>
              <a:t>urgency, checkedPlaces, lastUsedPlace</a:t>
            </a:r>
          </a:p>
        </p:txBody>
      </p:sp>
      <p:sp>
        <p:nvSpPr>
          <p:cNvPr id="10" name="Rectangle: Rounded Corners 9">
            <a:extLst>
              <a:ext uri="{FF2B5EF4-FFF2-40B4-BE49-F238E27FC236}">
                <a16:creationId xmlns:a16="http://schemas.microsoft.com/office/drawing/2014/main" id="{9B10729D-37EB-4220-BCE3-46D67B7C52BA}"/>
              </a:ext>
            </a:extLst>
          </p:cNvPr>
          <p:cNvSpPr>
            <a:spLocks noGrp="1"/>
          </p:cNvSpPr>
          <p:nvPr/>
        </p:nvSpPr>
        <p:spPr>
          <a:xfrm>
            <a:off x="4806315" y="2620326"/>
            <a:ext cx="3238500" cy="1571625"/>
          </a:xfrm>
          <a:prstGeom prst="roundRect">
            <a:avLst>
              <a:gd name="adj" fmla="val 4848"/>
            </a:avLst>
          </a:prstGeom>
          <a:solidFill>
            <a:srgbClr val="F1F4F8"/>
          </a:solidFill>
          <a:ln w="19050">
            <a:solidFill>
              <a:srgbClr val="2C5BA9"/>
            </a:solidFill>
          </a:ln>
        </p:spPr>
        <p:txBody>
          <a:bodyPr/>
          <a:lstStyle/>
          <a:p>
            <a:endParaRPr lang="en-US"/>
          </a:p>
        </p:txBody>
      </p:sp>
      <p:sp>
        <p:nvSpPr>
          <p:cNvPr id="11" name="Rectangle 10">
            <a:extLst>
              <a:ext uri="{FF2B5EF4-FFF2-40B4-BE49-F238E27FC236}">
                <a16:creationId xmlns:a16="http://schemas.microsoft.com/office/drawing/2014/main" id="{BCDD273D-4219-4CA5-BBA1-2ACB3E959753}"/>
              </a:ext>
            </a:extLst>
          </p:cNvPr>
          <p:cNvSpPr>
            <a:spLocks noGrp="1"/>
          </p:cNvSpPr>
          <p:nvPr/>
        </p:nvSpPr>
        <p:spPr>
          <a:xfrm>
            <a:off x="5034915" y="2810826"/>
            <a:ext cx="2781300" cy="619125"/>
          </a:xfrm>
          <a:prstGeom prst="rect">
            <a:avLst/>
          </a:prstGeom>
          <a:noFill/>
          <a:ln w="0">
            <a:noFill/>
          </a:ln>
        </p:spPr>
        <p:txBody>
          <a:bodyPr/>
          <a:lstStyle>
            <a:defPPr>
              <a:defRPr sz="2400" b="1">
                <a:solidFill>
                  <a:srgbClr val="2C5BA9"/>
                </a:solidFill>
                <a:latin typeface="Noto Sans CJK KR"/>
                <a:ea typeface="Noto Sans CJK KR"/>
                <a:cs typeface="Noto Sans CJK KR"/>
              </a:defRPr>
            </a:defPPr>
          </a:lstStyle>
          <a:p>
            <a:pPr>
              <a:defRPr sz="2400" b="1">
                <a:solidFill>
                  <a:srgbClr val="2C5BA9"/>
                </a:solidFill>
                <a:latin typeface="Noto Sans CJK KR"/>
                <a:ea typeface="Noto Sans CJK KR"/>
                <a:cs typeface="Noto Sans CJK KR"/>
              </a:defRPr>
            </a:pPr>
            <a:r>
              <a:rPr sz="2400" b="1">
                <a:solidFill>
                  <a:srgbClr val="2C5BA9"/>
                </a:solidFill>
                <a:latin typeface="Noto Sans CJK KR"/>
                <a:ea typeface="Noto Sans CJK KR"/>
                <a:cs typeface="Noto Sans CJK KR"/>
              </a:rPr>
              <a:t>Object</a:t>
            </a:r>
          </a:p>
        </p:txBody>
      </p:sp>
      <p:sp>
        <p:nvSpPr>
          <p:cNvPr id="12" name="Rectangle 11">
            <a:extLst>
              <a:ext uri="{FF2B5EF4-FFF2-40B4-BE49-F238E27FC236}">
                <a16:creationId xmlns:a16="http://schemas.microsoft.com/office/drawing/2014/main" id="{7B2C94B5-8FBE-442D-BCD0-623EDF65C0B8}"/>
              </a:ext>
            </a:extLst>
          </p:cNvPr>
          <p:cNvSpPr>
            <a:spLocks noGrp="1"/>
          </p:cNvSpPr>
          <p:nvPr/>
        </p:nvSpPr>
        <p:spPr>
          <a:xfrm>
            <a:off x="5034915" y="3477576"/>
            <a:ext cx="2781300" cy="542925"/>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Item the user wants to find</a:t>
            </a:r>
          </a:p>
        </p:txBody>
      </p:sp>
      <p:sp>
        <p:nvSpPr>
          <p:cNvPr id="13" name="Rectangle: Rounded Corners 12">
            <a:extLst>
              <a:ext uri="{FF2B5EF4-FFF2-40B4-BE49-F238E27FC236}">
                <a16:creationId xmlns:a16="http://schemas.microsoft.com/office/drawing/2014/main" id="{CDB510A1-0748-4717-B715-E4E64107DB94}"/>
              </a:ext>
            </a:extLst>
          </p:cNvPr>
          <p:cNvSpPr>
            <a:spLocks noGrp="1"/>
          </p:cNvSpPr>
          <p:nvPr/>
        </p:nvSpPr>
        <p:spPr>
          <a:xfrm>
            <a:off x="8692515" y="2620326"/>
            <a:ext cx="3238500" cy="1571625"/>
          </a:xfrm>
          <a:prstGeom prst="roundRect">
            <a:avLst>
              <a:gd name="adj" fmla="val 4848"/>
            </a:avLst>
          </a:prstGeom>
          <a:solidFill>
            <a:srgbClr val="F1F4F8"/>
          </a:solidFill>
          <a:ln w="19050">
            <a:solidFill>
              <a:srgbClr val="2C5BA9"/>
            </a:solidFill>
          </a:ln>
        </p:spPr>
        <p:txBody>
          <a:bodyPr/>
          <a:lstStyle/>
          <a:p>
            <a:endParaRPr lang="en-US"/>
          </a:p>
        </p:txBody>
      </p:sp>
      <p:sp>
        <p:nvSpPr>
          <p:cNvPr id="14" name="Rectangle 13">
            <a:extLst>
              <a:ext uri="{FF2B5EF4-FFF2-40B4-BE49-F238E27FC236}">
                <a16:creationId xmlns:a16="http://schemas.microsoft.com/office/drawing/2014/main" id="{932F393F-D4A0-4EFF-9510-430407AF0A4A}"/>
              </a:ext>
            </a:extLst>
          </p:cNvPr>
          <p:cNvSpPr>
            <a:spLocks noGrp="1"/>
          </p:cNvSpPr>
          <p:nvPr/>
        </p:nvSpPr>
        <p:spPr>
          <a:xfrm>
            <a:off x="8921115" y="2810826"/>
            <a:ext cx="2781300" cy="619125"/>
          </a:xfrm>
          <a:prstGeom prst="rect">
            <a:avLst/>
          </a:prstGeom>
          <a:noFill/>
          <a:ln w="0">
            <a:noFill/>
          </a:ln>
        </p:spPr>
        <p:txBody>
          <a:bodyPr/>
          <a:lstStyle>
            <a:defPPr>
              <a:defRPr sz="2400" b="1">
                <a:solidFill>
                  <a:srgbClr val="2C5BA9"/>
                </a:solidFill>
                <a:latin typeface="Noto Sans CJK KR"/>
                <a:ea typeface="Noto Sans CJK KR"/>
                <a:cs typeface="Noto Sans CJK KR"/>
              </a:defRPr>
            </a:defPPr>
          </a:lstStyle>
          <a:p>
            <a:pPr>
              <a:defRPr sz="2400" b="1">
                <a:solidFill>
                  <a:srgbClr val="2C5BA9"/>
                </a:solidFill>
                <a:latin typeface="Noto Sans CJK KR"/>
                <a:ea typeface="Noto Sans CJK KR"/>
                <a:cs typeface="Noto Sans CJK KR"/>
              </a:defRPr>
            </a:pPr>
            <a:r>
              <a:rPr sz="2400" b="1" dirty="0">
                <a:solidFill>
                  <a:srgbClr val="2C5BA9"/>
                </a:solidFill>
                <a:latin typeface="Noto Sans CJK KR"/>
                <a:ea typeface="Noto Sans CJK KR"/>
                <a:cs typeface="Noto Sans CJK KR"/>
              </a:rPr>
              <a:t>Response</a:t>
            </a:r>
          </a:p>
        </p:txBody>
      </p:sp>
      <p:sp>
        <p:nvSpPr>
          <p:cNvPr id="15" name="Rectangle 14">
            <a:extLst>
              <a:ext uri="{FF2B5EF4-FFF2-40B4-BE49-F238E27FC236}">
                <a16:creationId xmlns:a16="http://schemas.microsoft.com/office/drawing/2014/main" id="{CEDD6980-6BA4-40C2-A46C-896D80FEDC50}"/>
              </a:ext>
            </a:extLst>
          </p:cNvPr>
          <p:cNvSpPr>
            <a:spLocks noGrp="1"/>
          </p:cNvSpPr>
          <p:nvPr/>
        </p:nvSpPr>
        <p:spPr>
          <a:xfrm>
            <a:off x="8921115" y="3477576"/>
            <a:ext cx="2781300" cy="542925"/>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Answer provided to the user</a:t>
            </a:r>
          </a:p>
        </p:txBody>
      </p:sp>
      <p:sp>
        <p:nvSpPr>
          <p:cNvPr id="16" name="Rectangle: Rounded Corners 15">
            <a:extLst>
              <a:ext uri="{FF2B5EF4-FFF2-40B4-BE49-F238E27FC236}">
                <a16:creationId xmlns:a16="http://schemas.microsoft.com/office/drawing/2014/main" id="{91149A5F-7BFF-427D-B152-3249FA503ABE}"/>
              </a:ext>
            </a:extLst>
          </p:cNvPr>
          <p:cNvSpPr>
            <a:spLocks noGrp="1"/>
          </p:cNvSpPr>
          <p:nvPr/>
        </p:nvSpPr>
        <p:spPr>
          <a:xfrm>
            <a:off x="920115" y="4363401"/>
            <a:ext cx="3238500" cy="1666875"/>
          </a:xfrm>
          <a:prstGeom prst="roundRect">
            <a:avLst>
              <a:gd name="adj" fmla="val 4571"/>
            </a:avLst>
          </a:prstGeom>
          <a:solidFill>
            <a:srgbClr val="F1F4F8"/>
          </a:solidFill>
          <a:ln w="19050">
            <a:solidFill>
              <a:srgbClr val="2C5BA9"/>
            </a:solidFill>
          </a:ln>
        </p:spPr>
        <p:txBody>
          <a:bodyPr/>
          <a:lstStyle/>
          <a:p>
            <a:endParaRPr lang="en-US"/>
          </a:p>
        </p:txBody>
      </p:sp>
      <p:sp>
        <p:nvSpPr>
          <p:cNvPr id="17" name="Rectangle 16">
            <a:extLst>
              <a:ext uri="{FF2B5EF4-FFF2-40B4-BE49-F238E27FC236}">
                <a16:creationId xmlns:a16="http://schemas.microsoft.com/office/drawing/2014/main" id="{716F097E-875A-4EA5-9543-6809D8D6CF54}"/>
              </a:ext>
            </a:extLst>
          </p:cNvPr>
          <p:cNvSpPr>
            <a:spLocks noGrp="1"/>
          </p:cNvSpPr>
          <p:nvPr/>
        </p:nvSpPr>
        <p:spPr>
          <a:xfrm>
            <a:off x="1148715" y="4553901"/>
            <a:ext cx="2781300" cy="619125"/>
          </a:xfrm>
          <a:prstGeom prst="rect">
            <a:avLst/>
          </a:prstGeom>
          <a:noFill/>
          <a:ln w="0">
            <a:noFill/>
          </a:ln>
        </p:spPr>
        <p:txBody>
          <a:bodyPr/>
          <a:lstStyle>
            <a:defPPr>
              <a:defRPr sz="2400" b="1">
                <a:solidFill>
                  <a:srgbClr val="2C5BA9"/>
                </a:solidFill>
                <a:latin typeface="Noto Sans CJK KR"/>
                <a:ea typeface="Noto Sans CJK KR"/>
                <a:cs typeface="Noto Sans CJK KR"/>
              </a:defRPr>
            </a:defPPr>
          </a:lstStyle>
          <a:p>
            <a:pPr>
              <a:defRPr sz="2400" b="1">
                <a:solidFill>
                  <a:srgbClr val="2C5BA9"/>
                </a:solidFill>
                <a:latin typeface="Noto Sans CJK KR"/>
                <a:ea typeface="Noto Sans CJK KR"/>
                <a:cs typeface="Noto Sans CJK KR"/>
              </a:defRPr>
            </a:pPr>
            <a:r>
              <a:rPr sz="2400" b="1">
                <a:solidFill>
                  <a:srgbClr val="2C5BA9"/>
                </a:solidFill>
                <a:latin typeface="Noto Sans CJK KR"/>
                <a:ea typeface="Noto Sans CJK KR"/>
                <a:cs typeface="Noto Sans CJK KR"/>
              </a:rPr>
              <a:t>Camera</a:t>
            </a:r>
          </a:p>
        </p:txBody>
      </p:sp>
      <p:sp>
        <p:nvSpPr>
          <p:cNvPr id="18" name="Rectangle 17">
            <a:extLst>
              <a:ext uri="{FF2B5EF4-FFF2-40B4-BE49-F238E27FC236}">
                <a16:creationId xmlns:a16="http://schemas.microsoft.com/office/drawing/2014/main" id="{8A1F7CEA-7B04-4BEA-9640-F274AC062108}"/>
              </a:ext>
            </a:extLst>
          </p:cNvPr>
          <p:cNvSpPr>
            <a:spLocks noGrp="1"/>
          </p:cNvSpPr>
          <p:nvPr/>
        </p:nvSpPr>
        <p:spPr>
          <a:xfrm>
            <a:off x="1148715" y="5220651"/>
            <a:ext cx="2781300" cy="638175"/>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Camera and associated room</a:t>
            </a:r>
          </a:p>
        </p:txBody>
      </p:sp>
      <p:sp>
        <p:nvSpPr>
          <p:cNvPr id="19" name="Rectangle: Rounded Corners 18">
            <a:extLst>
              <a:ext uri="{FF2B5EF4-FFF2-40B4-BE49-F238E27FC236}">
                <a16:creationId xmlns:a16="http://schemas.microsoft.com/office/drawing/2014/main" id="{80CC78D9-ED94-44D4-8140-C6F8EB4B91E7}"/>
              </a:ext>
            </a:extLst>
          </p:cNvPr>
          <p:cNvSpPr>
            <a:spLocks noGrp="1"/>
          </p:cNvSpPr>
          <p:nvPr/>
        </p:nvSpPr>
        <p:spPr>
          <a:xfrm>
            <a:off x="4806315" y="4363401"/>
            <a:ext cx="3238500" cy="1666875"/>
          </a:xfrm>
          <a:prstGeom prst="roundRect">
            <a:avLst>
              <a:gd name="adj" fmla="val 4571"/>
            </a:avLst>
          </a:prstGeom>
          <a:solidFill>
            <a:srgbClr val="F1F4F8"/>
          </a:solidFill>
          <a:ln w="19050">
            <a:solidFill>
              <a:srgbClr val="2C5BA9"/>
            </a:solidFill>
          </a:ln>
        </p:spPr>
        <p:txBody>
          <a:bodyPr/>
          <a:lstStyle/>
          <a:p>
            <a:endParaRPr lang="en-US"/>
          </a:p>
        </p:txBody>
      </p:sp>
      <p:sp>
        <p:nvSpPr>
          <p:cNvPr id="20" name="Rectangle 19">
            <a:extLst>
              <a:ext uri="{FF2B5EF4-FFF2-40B4-BE49-F238E27FC236}">
                <a16:creationId xmlns:a16="http://schemas.microsoft.com/office/drawing/2014/main" id="{361215A3-B49F-429A-9953-C4D53719288A}"/>
              </a:ext>
            </a:extLst>
          </p:cNvPr>
          <p:cNvSpPr>
            <a:spLocks noGrp="1"/>
          </p:cNvSpPr>
          <p:nvPr/>
        </p:nvSpPr>
        <p:spPr>
          <a:xfrm>
            <a:off x="5034915" y="4553901"/>
            <a:ext cx="2781300" cy="619125"/>
          </a:xfrm>
          <a:prstGeom prst="rect">
            <a:avLst/>
          </a:prstGeom>
          <a:noFill/>
          <a:ln w="0">
            <a:noFill/>
          </a:ln>
        </p:spPr>
        <p:txBody>
          <a:bodyPr/>
          <a:lstStyle>
            <a:defPPr>
              <a:defRPr sz="2400" b="1">
                <a:solidFill>
                  <a:srgbClr val="2C5BA9"/>
                </a:solidFill>
                <a:latin typeface="Noto Sans CJK KR"/>
                <a:ea typeface="Noto Sans CJK KR"/>
                <a:cs typeface="Noto Sans CJK KR"/>
              </a:defRPr>
            </a:defPPr>
          </a:lstStyle>
          <a:p>
            <a:pPr>
              <a:defRPr sz="2400" b="1">
                <a:solidFill>
                  <a:srgbClr val="2C5BA9"/>
                </a:solidFill>
                <a:latin typeface="Noto Sans CJK KR"/>
                <a:ea typeface="Noto Sans CJK KR"/>
                <a:cs typeface="Noto Sans CJK KR"/>
              </a:defRPr>
            </a:pPr>
            <a:r>
              <a:rPr sz="2400" b="1">
                <a:solidFill>
                  <a:srgbClr val="2C5BA9"/>
                </a:solidFill>
                <a:latin typeface="Noto Sans CJK KR"/>
                <a:ea typeface="Noto Sans CJK KR"/>
                <a:cs typeface="Noto Sans CJK KR"/>
              </a:rPr>
              <a:t>Detection</a:t>
            </a:r>
          </a:p>
        </p:txBody>
      </p:sp>
      <p:sp>
        <p:nvSpPr>
          <p:cNvPr id="21" name="Rectangle 20">
            <a:extLst>
              <a:ext uri="{FF2B5EF4-FFF2-40B4-BE49-F238E27FC236}">
                <a16:creationId xmlns:a16="http://schemas.microsoft.com/office/drawing/2014/main" id="{DCB786F4-7749-4D1A-A3E8-48BDEDF34047}"/>
              </a:ext>
            </a:extLst>
          </p:cNvPr>
          <p:cNvSpPr>
            <a:spLocks noGrp="1"/>
          </p:cNvSpPr>
          <p:nvPr/>
        </p:nvSpPr>
        <p:spPr>
          <a:xfrm>
            <a:off x="5034915" y="5220651"/>
            <a:ext cx="2781300" cy="638175"/>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Location, time, confidence score</a:t>
            </a:r>
          </a:p>
        </p:txBody>
      </p:sp>
      <p:sp>
        <p:nvSpPr>
          <p:cNvPr id="22" name="Rectangle: Rounded Corners 21">
            <a:extLst>
              <a:ext uri="{FF2B5EF4-FFF2-40B4-BE49-F238E27FC236}">
                <a16:creationId xmlns:a16="http://schemas.microsoft.com/office/drawing/2014/main" id="{DC4132B3-506B-4D78-974A-89B04130322E}"/>
              </a:ext>
            </a:extLst>
          </p:cNvPr>
          <p:cNvSpPr>
            <a:spLocks noGrp="1"/>
          </p:cNvSpPr>
          <p:nvPr/>
        </p:nvSpPr>
        <p:spPr>
          <a:xfrm>
            <a:off x="8692515" y="4363401"/>
            <a:ext cx="3238500" cy="1666875"/>
          </a:xfrm>
          <a:prstGeom prst="roundRect">
            <a:avLst>
              <a:gd name="adj" fmla="val 4571"/>
            </a:avLst>
          </a:prstGeom>
          <a:solidFill>
            <a:srgbClr val="F1F4F8"/>
          </a:solidFill>
          <a:ln w="19050">
            <a:solidFill>
              <a:srgbClr val="2C5BA9"/>
            </a:solidFill>
          </a:ln>
        </p:spPr>
        <p:txBody>
          <a:bodyPr/>
          <a:lstStyle/>
          <a:p>
            <a:endParaRPr lang="en-US"/>
          </a:p>
        </p:txBody>
      </p:sp>
      <p:sp>
        <p:nvSpPr>
          <p:cNvPr id="23" name="Rectangle 22">
            <a:extLst>
              <a:ext uri="{FF2B5EF4-FFF2-40B4-BE49-F238E27FC236}">
                <a16:creationId xmlns:a16="http://schemas.microsoft.com/office/drawing/2014/main" id="{5FBE2886-078F-494F-8D73-58A17101C4B4}"/>
              </a:ext>
            </a:extLst>
          </p:cNvPr>
          <p:cNvSpPr>
            <a:spLocks noGrp="1"/>
          </p:cNvSpPr>
          <p:nvPr/>
        </p:nvSpPr>
        <p:spPr>
          <a:xfrm>
            <a:off x="8921115" y="4553901"/>
            <a:ext cx="2781300" cy="619125"/>
          </a:xfrm>
          <a:prstGeom prst="rect">
            <a:avLst/>
          </a:prstGeom>
          <a:noFill/>
          <a:ln w="0">
            <a:noFill/>
          </a:ln>
        </p:spPr>
        <p:txBody>
          <a:bodyPr/>
          <a:lstStyle>
            <a:defPPr>
              <a:defRPr sz="2400" b="1">
                <a:solidFill>
                  <a:srgbClr val="2C5BA9"/>
                </a:solidFill>
                <a:latin typeface="Noto Sans CJK KR"/>
                <a:ea typeface="Noto Sans CJK KR"/>
                <a:cs typeface="Noto Sans CJK KR"/>
              </a:defRPr>
            </a:defPPr>
          </a:lstStyle>
          <a:p>
            <a:pPr>
              <a:defRPr sz="2400" b="1">
                <a:solidFill>
                  <a:srgbClr val="2C5BA9"/>
                </a:solidFill>
                <a:latin typeface="Noto Sans CJK KR"/>
                <a:ea typeface="Noto Sans CJK KR"/>
                <a:cs typeface="Noto Sans CJK KR"/>
              </a:defRPr>
            </a:pPr>
            <a:r>
              <a:rPr sz="2400" b="1">
                <a:solidFill>
                  <a:srgbClr val="2C5BA9"/>
                </a:solidFill>
                <a:latin typeface="Noto Sans CJK KR"/>
                <a:ea typeface="Noto Sans CJK KR"/>
                <a:cs typeface="Noto Sans CJK KR"/>
              </a:rPr>
              <a:t>Context Event</a:t>
            </a:r>
          </a:p>
        </p:txBody>
      </p:sp>
      <p:sp>
        <p:nvSpPr>
          <p:cNvPr id="24" name="Rectangle 23">
            <a:extLst>
              <a:ext uri="{FF2B5EF4-FFF2-40B4-BE49-F238E27FC236}">
                <a16:creationId xmlns:a16="http://schemas.microsoft.com/office/drawing/2014/main" id="{5C7DBC15-1AC6-4139-825C-887C59E750AE}"/>
              </a:ext>
            </a:extLst>
          </p:cNvPr>
          <p:cNvSpPr>
            <a:spLocks noGrp="1"/>
          </p:cNvSpPr>
          <p:nvPr/>
        </p:nvSpPr>
        <p:spPr>
          <a:xfrm>
            <a:off x="8921115" y="5220651"/>
            <a:ext cx="2781300" cy="638175"/>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Person or pet near an object</a:t>
            </a:r>
          </a:p>
        </p:txBody>
      </p:sp>
      <p:sp>
        <p:nvSpPr>
          <p:cNvPr id="30" name="Rectangle 29">
            <a:extLst>
              <a:ext uri="{FF2B5EF4-FFF2-40B4-BE49-F238E27FC236}">
                <a16:creationId xmlns:a16="http://schemas.microsoft.com/office/drawing/2014/main" id="{7478A6DE-ABF9-4C4A-9D04-5CEF7073E1AE}"/>
              </a:ext>
            </a:extLst>
          </p:cNvPr>
          <p:cNvSpPr>
            <a:spLocks noGrp="1"/>
          </p:cNvSpPr>
          <p:nvPr/>
        </p:nvSpPr>
        <p:spPr>
          <a:xfrm>
            <a:off x="13201650" y="3652836"/>
            <a:ext cx="4324350" cy="419601"/>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dirty="0">
                <a:solidFill>
                  <a:srgbClr val="2C5BA9"/>
                </a:solidFill>
                <a:latin typeface="Noto Sans CJK KR"/>
                <a:ea typeface="Noto Sans CJK KR"/>
                <a:cs typeface="Noto Sans CJK KR"/>
              </a:rPr>
              <a:t>Example</a:t>
            </a:r>
          </a:p>
        </p:txBody>
      </p:sp>
      <p:sp>
        <p:nvSpPr>
          <p:cNvPr id="31" name="Rectangle 30">
            <a:extLst>
              <a:ext uri="{FF2B5EF4-FFF2-40B4-BE49-F238E27FC236}">
                <a16:creationId xmlns:a16="http://schemas.microsoft.com/office/drawing/2014/main" id="{2EBA1A06-396B-46BB-ABFA-1919BD41E49B}"/>
              </a:ext>
            </a:extLst>
          </p:cNvPr>
          <p:cNvSpPr>
            <a:spLocks noGrp="1"/>
          </p:cNvSpPr>
          <p:nvPr/>
        </p:nvSpPr>
        <p:spPr>
          <a:xfrm>
            <a:off x="13201650" y="1943833"/>
            <a:ext cx="4324350" cy="1809750"/>
          </a:xfrm>
          <a:prstGeom prst="rect">
            <a:avLst/>
          </a:prstGeom>
          <a:noFill/>
          <a:ln w="0">
            <a:noFill/>
          </a:ln>
        </p:spPr>
        <p:txBody>
          <a:bodyPr/>
          <a:lstStyle>
            <a:defPPr>
              <a:defRPr sz="2250" b="0">
                <a:solidFill>
                  <a:srgbClr val="17212D"/>
                </a:solidFill>
                <a:latin typeface="Noto Sans CJK KR"/>
                <a:ea typeface="Noto Sans CJK KR"/>
                <a:cs typeface="Noto Sans CJK KR"/>
              </a:defRPr>
            </a:defPPr>
          </a:lstStyle>
          <a:p>
            <a:pPr>
              <a:defRPr sz="2550" b="0">
                <a:solidFill>
                  <a:srgbClr val="17212D"/>
                </a:solidFill>
                <a:latin typeface="Noto Sans CJK KR"/>
                <a:ea typeface="Noto Sans CJK KR"/>
                <a:cs typeface="Noto Sans CJK KR"/>
              </a:defRPr>
            </a:pPr>
            <a:r>
              <a:rPr lang="en-US" sz="2400" dirty="0">
                <a:solidFill>
                  <a:srgbClr val="17212D"/>
                </a:solidFill>
                <a:latin typeface="Noto Sans CJK KR"/>
                <a:ea typeface="Noto Sans CJK KR"/>
                <a:cs typeface="Noto Sans CJK KR"/>
              </a:rPr>
              <a:t>A camera-based AI assistant that helps users locate misplaced belongings.</a:t>
            </a:r>
          </a:p>
        </p:txBody>
      </p:sp>
      <p:sp>
        <p:nvSpPr>
          <p:cNvPr id="32" name="Rectangle 31">
            <a:extLst>
              <a:ext uri="{FF2B5EF4-FFF2-40B4-BE49-F238E27FC236}">
                <a16:creationId xmlns:a16="http://schemas.microsoft.com/office/drawing/2014/main" id="{D6C35F26-DB1C-4007-85C1-21A957C52877}"/>
              </a:ext>
            </a:extLst>
          </p:cNvPr>
          <p:cNvSpPr>
            <a:spLocks noGrp="1"/>
          </p:cNvSpPr>
          <p:nvPr/>
        </p:nvSpPr>
        <p:spPr>
          <a:xfrm>
            <a:off x="13201650" y="6287203"/>
            <a:ext cx="432435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dirty="0">
                <a:solidFill>
                  <a:srgbClr val="2C5BA9"/>
                </a:solidFill>
                <a:latin typeface="Noto Sans CJK KR"/>
                <a:ea typeface="Noto Sans CJK KR"/>
                <a:cs typeface="Noto Sans CJK KR"/>
              </a:rPr>
              <a:t>Reliability Rule</a:t>
            </a:r>
          </a:p>
        </p:txBody>
      </p:sp>
      <p:sp>
        <p:nvSpPr>
          <p:cNvPr id="33" name="Rectangle 32">
            <a:extLst>
              <a:ext uri="{FF2B5EF4-FFF2-40B4-BE49-F238E27FC236}">
                <a16:creationId xmlns:a16="http://schemas.microsoft.com/office/drawing/2014/main" id="{386E3B59-7B29-42ED-84EC-5260E1072329}"/>
              </a:ext>
            </a:extLst>
          </p:cNvPr>
          <p:cNvSpPr>
            <a:spLocks noGrp="1"/>
          </p:cNvSpPr>
          <p:nvPr/>
        </p:nvSpPr>
        <p:spPr>
          <a:xfrm>
            <a:off x="13201650" y="6863899"/>
            <a:ext cx="4324350" cy="2377440"/>
          </a:xfrm>
          <a:prstGeom prst="rect">
            <a:avLst/>
          </a:prstGeom>
          <a:noFill/>
          <a:ln w="0">
            <a:noFill/>
          </a:ln>
        </p:spPr>
        <p:txBody>
          <a:bodyPr/>
          <a:lstStyle>
            <a:defPPr>
              <a:defRPr sz="2250" b="0">
                <a:solidFill>
                  <a:srgbClr val="17212D"/>
                </a:solidFill>
                <a:latin typeface="Noto Sans CJK KR"/>
                <a:ea typeface="Noto Sans CJK KR"/>
                <a:cs typeface="Noto Sans CJK KR"/>
              </a:defRPr>
            </a:defPPr>
          </a:lstStyle>
          <a:p>
            <a:pPr>
              <a:defRPr sz="225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Detection confidence ≥ 75%</a:t>
            </a:r>
          </a:p>
          <a:p>
            <a:pPr>
              <a:defRPr sz="225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Only these detections are treated as reliable records.</a:t>
            </a:r>
          </a:p>
          <a:p>
            <a:pPr>
              <a:defRPr sz="2250" b="0">
                <a:solidFill>
                  <a:srgbClr val="17212D"/>
                </a:solidFill>
                <a:latin typeface="Noto Sans CJK KR"/>
                <a:ea typeface="Noto Sans CJK KR"/>
                <a:cs typeface="Noto Sans CJK KR"/>
              </a:defRPr>
            </a:pPr>
            <a:r>
              <a:rPr sz="2100" b="0" dirty="0">
                <a:solidFill>
                  <a:srgbClr val="17212D"/>
                </a:solidFill>
                <a:latin typeface="Noto Sans CJK KR"/>
                <a:ea typeface="Noto Sans CJK KR"/>
                <a:cs typeface="Noto Sans CJK KR"/>
              </a:rPr>
              <a:t>Context-based guesses are shown as possibilities, never as confirmed locations.</a:t>
            </a:r>
          </a:p>
        </p:txBody>
      </p:sp>
      <p:pic>
        <p:nvPicPr>
          <p:cNvPr id="44" name="Picture 43" descr="A diagram of a process&#10;&#10;AI-generated content may be incorrect.">
            <a:extLst>
              <a:ext uri="{FF2B5EF4-FFF2-40B4-BE49-F238E27FC236}">
                <a16:creationId xmlns:a16="http://schemas.microsoft.com/office/drawing/2014/main" id="{024A47F6-5B95-BC73-4667-2E69E59D5B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602" y="6030276"/>
            <a:ext cx="12228623" cy="3585835"/>
          </a:xfrm>
          <a:prstGeom prst="rect">
            <a:avLst/>
          </a:prstGeom>
        </p:spPr>
      </p:pic>
      <p:sp>
        <p:nvSpPr>
          <p:cNvPr id="45" name="Rectangle 44">
            <a:extLst>
              <a:ext uri="{FF2B5EF4-FFF2-40B4-BE49-F238E27FC236}">
                <a16:creationId xmlns:a16="http://schemas.microsoft.com/office/drawing/2014/main" id="{26316FC1-6B66-5C50-21F0-8DB7DD649887}"/>
              </a:ext>
            </a:extLst>
          </p:cNvPr>
          <p:cNvSpPr>
            <a:spLocks noGrp="1"/>
          </p:cNvSpPr>
          <p:nvPr/>
        </p:nvSpPr>
        <p:spPr>
          <a:xfrm>
            <a:off x="13201650" y="1328047"/>
            <a:ext cx="4838007" cy="419601"/>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dirty="0">
                <a:solidFill>
                  <a:srgbClr val="2C5BA9"/>
                </a:solidFill>
                <a:latin typeface="Noto Sans CJK KR"/>
                <a:ea typeface="Noto Sans CJK KR"/>
                <a:cs typeface="Noto Sans CJK KR"/>
              </a:rPr>
              <a:t>Proposed Solution</a:t>
            </a:r>
          </a:p>
        </p:txBody>
      </p:sp>
      <p:sp>
        <p:nvSpPr>
          <p:cNvPr id="46" name="Rectangle 45">
            <a:extLst>
              <a:ext uri="{FF2B5EF4-FFF2-40B4-BE49-F238E27FC236}">
                <a16:creationId xmlns:a16="http://schemas.microsoft.com/office/drawing/2014/main" id="{3EBE07BB-FDB4-67A0-6C46-3F1A0ABC8297}"/>
              </a:ext>
            </a:extLst>
          </p:cNvPr>
          <p:cNvSpPr>
            <a:spLocks noGrp="1"/>
          </p:cNvSpPr>
          <p:nvPr/>
        </p:nvSpPr>
        <p:spPr>
          <a:xfrm>
            <a:off x="13201650" y="4293393"/>
            <a:ext cx="4324350" cy="1328736"/>
          </a:xfrm>
          <a:prstGeom prst="rect">
            <a:avLst/>
          </a:prstGeom>
          <a:noFill/>
          <a:ln w="0">
            <a:noFill/>
          </a:ln>
        </p:spPr>
        <p:txBody>
          <a:bodyPr/>
          <a:lstStyle>
            <a:defPPr>
              <a:defRPr sz="2250" b="0">
                <a:solidFill>
                  <a:srgbClr val="17212D"/>
                </a:solidFill>
                <a:latin typeface="Noto Sans CJK KR"/>
                <a:ea typeface="Noto Sans CJK KR"/>
                <a:cs typeface="Noto Sans CJK KR"/>
              </a:defRPr>
            </a:defPPr>
          </a:lstStyle>
          <a:p>
            <a:pPr>
              <a:defRPr sz="2250" b="0">
                <a:solidFill>
                  <a:srgbClr val="17212D"/>
                </a:solidFill>
                <a:latin typeface="Noto Sans CJK KR"/>
                <a:ea typeface="Noto Sans CJK KR"/>
                <a:cs typeface="Noto Sans CJK KR"/>
              </a:defRPr>
            </a:pPr>
            <a:r>
              <a:rPr sz="2250" b="0" dirty="0">
                <a:solidFill>
                  <a:srgbClr val="17212D"/>
                </a:solidFill>
                <a:latin typeface="Noto Sans CJK KR"/>
                <a:ea typeface="Noto Sans CJK KR"/>
                <a:cs typeface="Noto Sans CJK KR"/>
              </a:rPr>
              <a:t>Query: “Where is my wallet?”</a:t>
            </a:r>
          </a:p>
          <a:p>
            <a:pPr>
              <a:defRPr sz="2250" b="0">
                <a:solidFill>
                  <a:srgbClr val="17212D"/>
                </a:solidFill>
                <a:latin typeface="Noto Sans CJK KR"/>
                <a:ea typeface="Noto Sans CJK KR"/>
                <a:cs typeface="Noto Sans CJK KR"/>
              </a:defRPr>
            </a:pPr>
            <a:r>
              <a:rPr sz="2250" b="0" dirty="0">
                <a:solidFill>
                  <a:srgbClr val="17212D"/>
                </a:solidFill>
                <a:latin typeface="Noto Sans CJK KR"/>
                <a:ea typeface="Noto Sans CJK KR"/>
                <a:cs typeface="Noto Sans CJK KR"/>
              </a:rPr>
              <a:t>System: Retrieves the latest reliable detection of the wallet.</a:t>
            </a:r>
          </a:p>
        </p:txBody>
      </p:sp>
      <p:sp>
        <p:nvSpPr>
          <p:cNvPr id="47" name="TextBox 46">
            <a:extLst>
              <a:ext uri="{FF2B5EF4-FFF2-40B4-BE49-F238E27FC236}">
                <a16:creationId xmlns:a16="http://schemas.microsoft.com/office/drawing/2014/main" id="{33E4B86C-FB7E-38E7-D71F-C4AAA5994770}"/>
              </a:ext>
            </a:extLst>
          </p:cNvPr>
          <p:cNvSpPr txBox="1"/>
          <p:nvPr/>
        </p:nvSpPr>
        <p:spPr>
          <a:xfrm>
            <a:off x="6648494" y="9431445"/>
            <a:ext cx="4088042" cy="369332"/>
          </a:xfrm>
          <a:prstGeom prst="rect">
            <a:avLst/>
          </a:prstGeom>
          <a:noFill/>
        </p:spPr>
        <p:txBody>
          <a:bodyPr wrap="none" rtlCol="0">
            <a:spAutoFit/>
          </a:bodyPr>
          <a:lstStyle/>
          <a:p>
            <a:r>
              <a:rPr lang="en-US" i="1" dirty="0">
                <a:solidFill>
                  <a:schemeClr val="bg2">
                    <a:lumMod val="50000"/>
                  </a:schemeClr>
                </a:solidFill>
              </a:rPr>
              <a:t>D</a:t>
            </a:r>
            <a:r>
              <a:rPr lang="en-TH" i="1" dirty="0">
                <a:solidFill>
                  <a:schemeClr val="bg2">
                    <a:lumMod val="50000"/>
                  </a:schemeClr>
                </a:solidFill>
              </a:rPr>
              <a:t>iagram: Relationship between Entities</a:t>
            </a:r>
          </a:p>
        </p:txBody>
      </p:sp>
    </p:spTree>
    <p:extLst>
      <p:ext uri="{BB962C8B-B14F-4D97-AF65-F5344CB8AC3E}">
        <p14:creationId xmlns:p14="http://schemas.microsoft.com/office/powerpoint/2010/main" val="150596705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8" name="Straight Arrow Connector 17">
            <a:extLst>
              <a:ext uri="{FF2B5EF4-FFF2-40B4-BE49-F238E27FC236}">
                <a16:creationId xmlns:a16="http://schemas.microsoft.com/office/drawing/2014/main" id="{449352FA-E8E4-49D5-80AF-FB860DD29889}"/>
              </a:ext>
            </a:extLst>
          </p:cNvPr>
          <p:cNvCxnSpPr>
            <a:stCxn id="10" idx="3"/>
            <a:endCxn id="13" idx="1"/>
          </p:cNvCxnSpPr>
          <p:nvPr/>
        </p:nvCxnSpPr>
        <p:spPr>
          <a:xfrm>
            <a:off x="13144500" y="5048250"/>
            <a:ext cx="457200" cy="0"/>
          </a:xfrm>
          <a:prstGeom prst="straightConnector1">
            <a:avLst/>
          </a:prstGeom>
          <a:ln w="19050">
            <a:solidFill>
              <a:srgbClr val="2C5BA9"/>
            </a:solidFill>
            <a:tailEnd type="triangle" w="sm" len="sm"/>
          </a:ln>
        </p:spPr>
      </p:cxnSp>
      <p:cxnSp>
        <p:nvCxnSpPr>
          <p:cNvPr id="17" name="Straight Arrow Connector 16">
            <a:extLst>
              <a:ext uri="{FF2B5EF4-FFF2-40B4-BE49-F238E27FC236}">
                <a16:creationId xmlns:a16="http://schemas.microsoft.com/office/drawing/2014/main" id="{BB66F16C-34F0-4F55-A688-EE081BA3DC6B}"/>
              </a:ext>
            </a:extLst>
          </p:cNvPr>
          <p:cNvCxnSpPr>
            <a:stCxn id="7" idx="3"/>
            <a:endCxn id="10" idx="1"/>
          </p:cNvCxnSpPr>
          <p:nvPr/>
        </p:nvCxnSpPr>
        <p:spPr>
          <a:xfrm>
            <a:off x="8915400" y="5048250"/>
            <a:ext cx="457200" cy="0"/>
          </a:xfrm>
          <a:prstGeom prst="straightConnector1">
            <a:avLst/>
          </a:prstGeom>
          <a:ln w="19050">
            <a:solidFill>
              <a:srgbClr val="2C5BA9"/>
            </a:solidFill>
            <a:tailEnd type="triangle" w="sm" len="sm"/>
          </a:ln>
        </p:spPr>
      </p:cxnSp>
      <p:cxnSp>
        <p:nvCxnSpPr>
          <p:cNvPr id="16" name="Straight Arrow Connector 15">
            <a:extLst>
              <a:ext uri="{FF2B5EF4-FFF2-40B4-BE49-F238E27FC236}">
                <a16:creationId xmlns:a16="http://schemas.microsoft.com/office/drawing/2014/main" id="{0C47FEA6-1BE3-4CCE-9C03-92F49FBBD084}"/>
              </a:ext>
            </a:extLst>
          </p:cNvPr>
          <p:cNvCxnSpPr>
            <a:stCxn id="4" idx="3"/>
            <a:endCxn id="7" idx="1"/>
          </p:cNvCxnSpPr>
          <p:nvPr/>
        </p:nvCxnSpPr>
        <p:spPr>
          <a:xfrm>
            <a:off x="4686300" y="5048250"/>
            <a:ext cx="457200" cy="0"/>
          </a:xfrm>
          <a:prstGeom prst="straightConnector1">
            <a:avLst/>
          </a:prstGeom>
          <a:ln w="19050">
            <a:solidFill>
              <a:srgbClr val="2C5BA9"/>
            </a:solidFill>
            <a:tailEnd type="triangle" w="sm" len="sm"/>
          </a:ln>
        </p:spPr>
      </p:cxnSp>
      <p:sp>
        <p:nvSpPr>
          <p:cNvPr id="22" name="Rectangle 21">
            <a:extLst>
              <a:ext uri="{FF2B5EF4-FFF2-40B4-BE49-F238E27FC236}">
                <a16:creationId xmlns:a16="http://schemas.microsoft.com/office/drawing/2014/main" id="{0FD3FF77-07B4-4189-AC5A-9EF269B7ACAB}"/>
              </a:ext>
            </a:extLst>
          </p:cNvPr>
          <p:cNvSpPr>
            <a:spLocks noGrp="1"/>
          </p:cNvSpPr>
          <p:nvPr/>
        </p:nvSpPr>
        <p:spPr>
          <a:xfrm>
            <a:off x="914400" y="609600"/>
            <a:ext cx="16459200" cy="952500"/>
          </a:xfrm>
          <a:prstGeom prst="rect">
            <a:avLst/>
          </a:prstGeom>
          <a:noFill/>
          <a:ln w="0">
            <a:noFill/>
          </a:ln>
        </p:spPr>
        <p:txBody>
          <a:bodyPr/>
          <a:lstStyle>
            <a:defPPr>
              <a:defRPr sz="4200" b="1">
                <a:solidFill>
                  <a:srgbClr val="2C5BA9"/>
                </a:solidFill>
                <a:latin typeface="Noto Sans CJK KR"/>
                <a:ea typeface="Noto Sans CJK KR"/>
                <a:cs typeface="Noto Sans CJK KR"/>
              </a:defRPr>
            </a:defPPr>
          </a:lstStyle>
          <a:p>
            <a:pPr>
              <a:defRPr sz="4200" b="1">
                <a:solidFill>
                  <a:srgbClr val="2C5BA9"/>
                </a:solidFill>
                <a:latin typeface="Noto Sans CJK KR"/>
                <a:ea typeface="Noto Sans CJK KR"/>
                <a:cs typeface="Noto Sans CJK KR"/>
              </a:defRPr>
            </a:pPr>
            <a:r>
              <a:rPr sz="6000" b="1" dirty="0">
                <a:solidFill>
                  <a:srgbClr val="2C5BA9"/>
                </a:solidFill>
                <a:latin typeface="Noto Sans CJK KR"/>
                <a:ea typeface="Noto Sans CJK KR"/>
                <a:cs typeface="Noto Sans CJK KR"/>
              </a:rPr>
              <a:t>Specification Version 1</a:t>
            </a:r>
          </a:p>
        </p:txBody>
      </p:sp>
      <p:sp>
        <p:nvSpPr>
          <p:cNvPr id="2" name="Rectangle 1">
            <a:extLst>
              <a:ext uri="{FF2B5EF4-FFF2-40B4-BE49-F238E27FC236}">
                <a16:creationId xmlns:a16="http://schemas.microsoft.com/office/drawing/2014/main" id="{53915D00-968C-4967-833C-58059F5D42DF}"/>
              </a:ext>
            </a:extLst>
          </p:cNvPr>
          <p:cNvSpPr>
            <a:spLocks noGrp="1"/>
          </p:cNvSpPr>
          <p:nvPr/>
        </p:nvSpPr>
        <p:spPr>
          <a:xfrm>
            <a:off x="914400" y="1828800"/>
            <a:ext cx="164592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System Workflow</a:t>
            </a:r>
          </a:p>
        </p:txBody>
      </p:sp>
      <p:sp>
        <p:nvSpPr>
          <p:cNvPr id="3" name="Rectangle 2">
            <a:extLst>
              <a:ext uri="{FF2B5EF4-FFF2-40B4-BE49-F238E27FC236}">
                <a16:creationId xmlns:a16="http://schemas.microsoft.com/office/drawing/2014/main" id="{5B15466E-A0B4-49A4-9E9B-C41AC520CEAA}"/>
              </a:ext>
            </a:extLst>
          </p:cNvPr>
          <p:cNvSpPr>
            <a:spLocks noGrp="1"/>
          </p:cNvSpPr>
          <p:nvPr/>
        </p:nvSpPr>
        <p:spPr>
          <a:xfrm>
            <a:off x="914400" y="2543175"/>
            <a:ext cx="16459200" cy="762000"/>
          </a:xfrm>
          <a:prstGeom prst="rect">
            <a:avLst/>
          </a:prstGeom>
          <a:noFill/>
          <a:ln w="0">
            <a:noFill/>
          </a:ln>
        </p:spPr>
        <p:txBody>
          <a:bodyPr/>
          <a:lstStyle>
            <a:defPPr>
              <a:defRPr sz="3150" b="1">
                <a:solidFill>
                  <a:srgbClr val="2C5BA9"/>
                </a:solidFill>
                <a:latin typeface="Noto Sans CJK KR"/>
                <a:ea typeface="Noto Sans CJK KR"/>
                <a:cs typeface="Noto Sans CJK KR"/>
              </a:defRPr>
            </a:defPPr>
          </a:lstStyle>
          <a:p>
            <a:pPr>
              <a:defRPr sz="3150" b="1">
                <a:solidFill>
                  <a:srgbClr val="2C5BA9"/>
                </a:solidFill>
                <a:latin typeface="Noto Sans CJK KR"/>
                <a:ea typeface="Noto Sans CJK KR"/>
                <a:cs typeface="Noto Sans CJK KR"/>
              </a:defRPr>
            </a:pPr>
            <a:r>
              <a:rPr sz="3150" b="1">
                <a:solidFill>
                  <a:srgbClr val="2C5BA9"/>
                </a:solidFill>
                <a:latin typeface="Noto Sans CJK KR"/>
                <a:ea typeface="Noto Sans CJK KR"/>
                <a:cs typeface="Noto Sans CJK KR"/>
              </a:rPr>
              <a:t>Detect → Save → Search → Explain</a:t>
            </a:r>
          </a:p>
        </p:txBody>
      </p:sp>
      <p:sp>
        <p:nvSpPr>
          <p:cNvPr id="4" name="Rectangle: Rounded Corners 3">
            <a:extLst>
              <a:ext uri="{FF2B5EF4-FFF2-40B4-BE49-F238E27FC236}">
                <a16:creationId xmlns:a16="http://schemas.microsoft.com/office/drawing/2014/main" id="{50920E87-72BA-4CFB-911E-720E018AD071}"/>
              </a:ext>
            </a:extLst>
          </p:cNvPr>
          <p:cNvSpPr>
            <a:spLocks noGrp="1"/>
          </p:cNvSpPr>
          <p:nvPr/>
        </p:nvSpPr>
        <p:spPr>
          <a:xfrm>
            <a:off x="914400" y="3714750"/>
            <a:ext cx="3771900" cy="2667000"/>
          </a:xfrm>
          <a:prstGeom prst="roundRect">
            <a:avLst>
              <a:gd name="adj" fmla="val 2857"/>
            </a:avLst>
          </a:prstGeom>
          <a:solidFill>
            <a:srgbClr val="F4F7FC"/>
          </a:solidFill>
          <a:ln w="14288">
            <a:solidFill>
              <a:srgbClr val="2C5BA9"/>
            </a:solidFill>
          </a:ln>
        </p:spPr>
        <p:txBody>
          <a:bodyPr/>
          <a:lstStyle/>
          <a:p>
            <a:endParaRPr lang="en-US"/>
          </a:p>
        </p:txBody>
      </p:sp>
      <p:sp>
        <p:nvSpPr>
          <p:cNvPr id="5" name="Rectangle 4">
            <a:extLst>
              <a:ext uri="{FF2B5EF4-FFF2-40B4-BE49-F238E27FC236}">
                <a16:creationId xmlns:a16="http://schemas.microsoft.com/office/drawing/2014/main" id="{0CC4CF7F-0BD8-4B08-9B86-9B63BDCAFE17}"/>
              </a:ext>
            </a:extLst>
          </p:cNvPr>
          <p:cNvSpPr>
            <a:spLocks noGrp="1"/>
          </p:cNvSpPr>
          <p:nvPr/>
        </p:nvSpPr>
        <p:spPr>
          <a:xfrm>
            <a:off x="1143000" y="3924300"/>
            <a:ext cx="3314700" cy="571500"/>
          </a:xfrm>
          <a:prstGeom prst="rect">
            <a:avLst/>
          </a:prstGeom>
          <a:noFill/>
          <a:ln w="0">
            <a:noFill/>
          </a:ln>
        </p:spPr>
        <p:txBody>
          <a:bodyPr/>
          <a:lstStyle>
            <a:defPPr>
              <a:defRPr sz="2550" b="1">
                <a:solidFill>
                  <a:srgbClr val="2C5BA9"/>
                </a:solidFill>
                <a:latin typeface="Noto Sans CJK KR"/>
                <a:ea typeface="Noto Sans CJK KR"/>
                <a:cs typeface="Noto Sans CJK KR"/>
              </a:defRPr>
            </a:defPPr>
          </a:lstStyle>
          <a:p>
            <a:pPr>
              <a:defRPr sz="2550" b="1">
                <a:solidFill>
                  <a:srgbClr val="2C5BA9"/>
                </a:solidFill>
                <a:latin typeface="Noto Sans CJK KR"/>
                <a:ea typeface="Noto Sans CJK KR"/>
                <a:cs typeface="Noto Sans CJK KR"/>
              </a:defRPr>
            </a:pPr>
            <a:r>
              <a:rPr sz="2550" b="1">
                <a:solidFill>
                  <a:srgbClr val="2C5BA9"/>
                </a:solidFill>
                <a:latin typeface="Noto Sans CJK KR"/>
                <a:ea typeface="Noto Sans CJK KR"/>
                <a:cs typeface="Noto Sans CJK KR"/>
              </a:rPr>
              <a:t>1. Detect</a:t>
            </a:r>
          </a:p>
        </p:txBody>
      </p:sp>
      <p:sp>
        <p:nvSpPr>
          <p:cNvPr id="6" name="Rectangle 5">
            <a:extLst>
              <a:ext uri="{FF2B5EF4-FFF2-40B4-BE49-F238E27FC236}">
                <a16:creationId xmlns:a16="http://schemas.microsoft.com/office/drawing/2014/main" id="{5D5F887F-58AE-4BDD-B097-E232AE2502B8}"/>
              </a:ext>
            </a:extLst>
          </p:cNvPr>
          <p:cNvSpPr>
            <a:spLocks noGrp="1"/>
          </p:cNvSpPr>
          <p:nvPr/>
        </p:nvSpPr>
        <p:spPr>
          <a:xfrm>
            <a:off x="1143000" y="4686300"/>
            <a:ext cx="3314700" cy="158115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Camera periodically captures room images.</a:t>
            </a:r>
          </a:p>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AI detects supported objects.</a:t>
            </a:r>
          </a:p>
        </p:txBody>
      </p:sp>
      <p:sp>
        <p:nvSpPr>
          <p:cNvPr id="7" name="Rectangle: Rounded Corners 6">
            <a:extLst>
              <a:ext uri="{FF2B5EF4-FFF2-40B4-BE49-F238E27FC236}">
                <a16:creationId xmlns:a16="http://schemas.microsoft.com/office/drawing/2014/main" id="{E7AF0B22-9BA7-4E7E-96F1-3A979A37A0AD}"/>
              </a:ext>
            </a:extLst>
          </p:cNvPr>
          <p:cNvSpPr>
            <a:spLocks noGrp="1"/>
          </p:cNvSpPr>
          <p:nvPr/>
        </p:nvSpPr>
        <p:spPr>
          <a:xfrm>
            <a:off x="5143500" y="3714750"/>
            <a:ext cx="3771900" cy="2667000"/>
          </a:xfrm>
          <a:prstGeom prst="roundRect">
            <a:avLst>
              <a:gd name="adj" fmla="val 2857"/>
            </a:avLst>
          </a:prstGeom>
          <a:solidFill>
            <a:srgbClr val="EAF0F9"/>
          </a:solidFill>
          <a:ln w="14288">
            <a:solidFill>
              <a:srgbClr val="2C5BA9"/>
            </a:solidFill>
          </a:ln>
        </p:spPr>
        <p:txBody>
          <a:bodyPr/>
          <a:lstStyle/>
          <a:p>
            <a:endParaRPr lang="en-US"/>
          </a:p>
        </p:txBody>
      </p:sp>
      <p:sp>
        <p:nvSpPr>
          <p:cNvPr id="8" name="Rectangle 7">
            <a:extLst>
              <a:ext uri="{FF2B5EF4-FFF2-40B4-BE49-F238E27FC236}">
                <a16:creationId xmlns:a16="http://schemas.microsoft.com/office/drawing/2014/main" id="{A8099599-C6D8-4AAF-91F7-49F83012E3A8}"/>
              </a:ext>
            </a:extLst>
          </p:cNvPr>
          <p:cNvSpPr>
            <a:spLocks noGrp="1"/>
          </p:cNvSpPr>
          <p:nvPr/>
        </p:nvSpPr>
        <p:spPr>
          <a:xfrm>
            <a:off x="5372100" y="3924300"/>
            <a:ext cx="3314700" cy="571500"/>
          </a:xfrm>
          <a:prstGeom prst="rect">
            <a:avLst/>
          </a:prstGeom>
          <a:noFill/>
          <a:ln w="0">
            <a:noFill/>
          </a:ln>
        </p:spPr>
        <p:txBody>
          <a:bodyPr/>
          <a:lstStyle>
            <a:defPPr>
              <a:defRPr sz="2550" b="1">
                <a:solidFill>
                  <a:srgbClr val="2C5BA9"/>
                </a:solidFill>
                <a:latin typeface="Noto Sans CJK KR"/>
                <a:ea typeface="Noto Sans CJK KR"/>
                <a:cs typeface="Noto Sans CJK KR"/>
              </a:defRPr>
            </a:defPPr>
          </a:lstStyle>
          <a:p>
            <a:pPr>
              <a:defRPr sz="2550" b="1">
                <a:solidFill>
                  <a:srgbClr val="2C5BA9"/>
                </a:solidFill>
                <a:latin typeface="Noto Sans CJK KR"/>
                <a:ea typeface="Noto Sans CJK KR"/>
                <a:cs typeface="Noto Sans CJK KR"/>
              </a:defRPr>
            </a:pPr>
            <a:r>
              <a:rPr sz="2550" b="1">
                <a:solidFill>
                  <a:srgbClr val="2C5BA9"/>
                </a:solidFill>
                <a:latin typeface="Noto Sans CJK KR"/>
                <a:ea typeface="Noto Sans CJK KR"/>
                <a:cs typeface="Noto Sans CJK KR"/>
              </a:rPr>
              <a:t>2. Save</a:t>
            </a:r>
          </a:p>
        </p:txBody>
      </p:sp>
      <p:sp>
        <p:nvSpPr>
          <p:cNvPr id="9" name="Rectangle 8">
            <a:extLst>
              <a:ext uri="{FF2B5EF4-FFF2-40B4-BE49-F238E27FC236}">
                <a16:creationId xmlns:a16="http://schemas.microsoft.com/office/drawing/2014/main" id="{C1EC0C07-7861-431B-B6C6-3AD3BD6030AF}"/>
              </a:ext>
            </a:extLst>
          </p:cNvPr>
          <p:cNvSpPr>
            <a:spLocks noGrp="1"/>
          </p:cNvSpPr>
          <p:nvPr/>
        </p:nvSpPr>
        <p:spPr>
          <a:xfrm>
            <a:off x="5372100" y="4686300"/>
            <a:ext cx="3314700" cy="158115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Store object locations and timestamps.</a:t>
            </a:r>
          </a:p>
        </p:txBody>
      </p:sp>
      <p:sp>
        <p:nvSpPr>
          <p:cNvPr id="10" name="Rectangle: Rounded Corners 9">
            <a:extLst>
              <a:ext uri="{FF2B5EF4-FFF2-40B4-BE49-F238E27FC236}">
                <a16:creationId xmlns:a16="http://schemas.microsoft.com/office/drawing/2014/main" id="{3B735F41-250F-40DE-8E1C-31BEE5E5F830}"/>
              </a:ext>
            </a:extLst>
          </p:cNvPr>
          <p:cNvSpPr>
            <a:spLocks noGrp="1"/>
          </p:cNvSpPr>
          <p:nvPr/>
        </p:nvSpPr>
        <p:spPr>
          <a:xfrm>
            <a:off x="9372600" y="3714750"/>
            <a:ext cx="3771900" cy="2667000"/>
          </a:xfrm>
          <a:prstGeom prst="roundRect">
            <a:avLst>
              <a:gd name="adj" fmla="val 2857"/>
            </a:avLst>
          </a:prstGeom>
          <a:solidFill>
            <a:srgbClr val="F4F7FC"/>
          </a:solidFill>
          <a:ln w="14288">
            <a:solidFill>
              <a:srgbClr val="2C5BA9"/>
            </a:solidFill>
          </a:ln>
        </p:spPr>
        <p:txBody>
          <a:bodyPr/>
          <a:lstStyle/>
          <a:p>
            <a:endParaRPr lang="en-US"/>
          </a:p>
        </p:txBody>
      </p:sp>
      <p:sp>
        <p:nvSpPr>
          <p:cNvPr id="11" name="Rectangle 10">
            <a:extLst>
              <a:ext uri="{FF2B5EF4-FFF2-40B4-BE49-F238E27FC236}">
                <a16:creationId xmlns:a16="http://schemas.microsoft.com/office/drawing/2014/main" id="{93D9D54B-81D0-4BDF-8E20-716C5DF4ACC7}"/>
              </a:ext>
            </a:extLst>
          </p:cNvPr>
          <p:cNvSpPr>
            <a:spLocks noGrp="1"/>
          </p:cNvSpPr>
          <p:nvPr/>
        </p:nvSpPr>
        <p:spPr>
          <a:xfrm>
            <a:off x="9601200" y="3924300"/>
            <a:ext cx="3314700" cy="571500"/>
          </a:xfrm>
          <a:prstGeom prst="rect">
            <a:avLst/>
          </a:prstGeom>
          <a:noFill/>
          <a:ln w="0">
            <a:noFill/>
          </a:ln>
        </p:spPr>
        <p:txBody>
          <a:bodyPr/>
          <a:lstStyle>
            <a:defPPr>
              <a:defRPr sz="2550" b="1">
                <a:solidFill>
                  <a:srgbClr val="2C5BA9"/>
                </a:solidFill>
                <a:latin typeface="Noto Sans CJK KR"/>
                <a:ea typeface="Noto Sans CJK KR"/>
                <a:cs typeface="Noto Sans CJK KR"/>
              </a:defRPr>
            </a:defPPr>
          </a:lstStyle>
          <a:p>
            <a:pPr>
              <a:defRPr sz="2550" b="1">
                <a:solidFill>
                  <a:srgbClr val="2C5BA9"/>
                </a:solidFill>
                <a:latin typeface="Noto Sans CJK KR"/>
                <a:ea typeface="Noto Sans CJK KR"/>
                <a:cs typeface="Noto Sans CJK KR"/>
              </a:defRPr>
            </a:pPr>
            <a:r>
              <a:rPr sz="2550" b="1">
                <a:solidFill>
                  <a:srgbClr val="2C5BA9"/>
                </a:solidFill>
                <a:latin typeface="Noto Sans CJK KR"/>
                <a:ea typeface="Noto Sans CJK KR"/>
                <a:cs typeface="Noto Sans CJK KR"/>
              </a:rPr>
              <a:t>3. Search</a:t>
            </a:r>
          </a:p>
        </p:txBody>
      </p:sp>
      <p:sp>
        <p:nvSpPr>
          <p:cNvPr id="12" name="Rectangle 11">
            <a:extLst>
              <a:ext uri="{FF2B5EF4-FFF2-40B4-BE49-F238E27FC236}">
                <a16:creationId xmlns:a16="http://schemas.microsoft.com/office/drawing/2014/main" id="{3BC36FFD-1399-4A25-AD83-508DB19615DA}"/>
              </a:ext>
            </a:extLst>
          </p:cNvPr>
          <p:cNvSpPr>
            <a:spLocks noGrp="1"/>
          </p:cNvSpPr>
          <p:nvPr/>
        </p:nvSpPr>
        <p:spPr>
          <a:xfrm>
            <a:off x="9601200" y="4686300"/>
            <a:ext cx="3314700" cy="158115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Retrieve relevant detection records based on the user’s query.</a:t>
            </a:r>
          </a:p>
        </p:txBody>
      </p:sp>
      <p:sp>
        <p:nvSpPr>
          <p:cNvPr id="13" name="Rectangle: Rounded Corners 12">
            <a:extLst>
              <a:ext uri="{FF2B5EF4-FFF2-40B4-BE49-F238E27FC236}">
                <a16:creationId xmlns:a16="http://schemas.microsoft.com/office/drawing/2014/main" id="{34A39CC7-CBEA-46AF-91F3-D159223E251C}"/>
              </a:ext>
            </a:extLst>
          </p:cNvPr>
          <p:cNvSpPr>
            <a:spLocks noGrp="1"/>
          </p:cNvSpPr>
          <p:nvPr/>
        </p:nvSpPr>
        <p:spPr>
          <a:xfrm>
            <a:off x="13601700" y="3714750"/>
            <a:ext cx="3771900" cy="2667000"/>
          </a:xfrm>
          <a:prstGeom prst="roundRect">
            <a:avLst>
              <a:gd name="adj" fmla="val 2857"/>
            </a:avLst>
          </a:prstGeom>
          <a:solidFill>
            <a:srgbClr val="EAF0F9"/>
          </a:solidFill>
          <a:ln w="14288">
            <a:solidFill>
              <a:srgbClr val="2C5BA9"/>
            </a:solidFill>
          </a:ln>
        </p:spPr>
        <p:txBody>
          <a:bodyPr/>
          <a:lstStyle/>
          <a:p>
            <a:endParaRPr lang="en-US"/>
          </a:p>
        </p:txBody>
      </p:sp>
      <p:sp>
        <p:nvSpPr>
          <p:cNvPr id="14" name="Rectangle 13">
            <a:extLst>
              <a:ext uri="{FF2B5EF4-FFF2-40B4-BE49-F238E27FC236}">
                <a16:creationId xmlns:a16="http://schemas.microsoft.com/office/drawing/2014/main" id="{9B148FCB-FF7B-4F95-9D9F-4BAD878BBEF2}"/>
              </a:ext>
            </a:extLst>
          </p:cNvPr>
          <p:cNvSpPr>
            <a:spLocks noGrp="1"/>
          </p:cNvSpPr>
          <p:nvPr/>
        </p:nvSpPr>
        <p:spPr>
          <a:xfrm>
            <a:off x="13830300" y="3924300"/>
            <a:ext cx="3314700" cy="571500"/>
          </a:xfrm>
          <a:prstGeom prst="rect">
            <a:avLst/>
          </a:prstGeom>
          <a:noFill/>
          <a:ln w="0">
            <a:noFill/>
          </a:ln>
        </p:spPr>
        <p:txBody>
          <a:bodyPr/>
          <a:lstStyle>
            <a:defPPr>
              <a:defRPr sz="2550" b="1">
                <a:solidFill>
                  <a:srgbClr val="2C5BA9"/>
                </a:solidFill>
                <a:latin typeface="Noto Sans CJK KR"/>
                <a:ea typeface="Noto Sans CJK KR"/>
                <a:cs typeface="Noto Sans CJK KR"/>
              </a:defRPr>
            </a:defPPr>
          </a:lstStyle>
          <a:p>
            <a:pPr>
              <a:defRPr sz="2550" b="1">
                <a:solidFill>
                  <a:srgbClr val="2C5BA9"/>
                </a:solidFill>
                <a:latin typeface="Noto Sans CJK KR"/>
                <a:ea typeface="Noto Sans CJK KR"/>
                <a:cs typeface="Noto Sans CJK KR"/>
              </a:defRPr>
            </a:pPr>
            <a:r>
              <a:rPr sz="2550" b="1">
                <a:solidFill>
                  <a:srgbClr val="2C5BA9"/>
                </a:solidFill>
                <a:latin typeface="Noto Sans CJK KR"/>
                <a:ea typeface="Noto Sans CJK KR"/>
                <a:cs typeface="Noto Sans CJK KR"/>
              </a:rPr>
              <a:t>4. Explain</a:t>
            </a:r>
          </a:p>
        </p:txBody>
      </p:sp>
      <p:sp>
        <p:nvSpPr>
          <p:cNvPr id="15" name="Rectangle 14">
            <a:extLst>
              <a:ext uri="{FF2B5EF4-FFF2-40B4-BE49-F238E27FC236}">
                <a16:creationId xmlns:a16="http://schemas.microsoft.com/office/drawing/2014/main" id="{83AEABF4-1C22-49FB-85F3-16489F64A9A1}"/>
              </a:ext>
            </a:extLst>
          </p:cNvPr>
          <p:cNvSpPr>
            <a:spLocks noGrp="1"/>
          </p:cNvSpPr>
          <p:nvPr/>
        </p:nvSpPr>
        <p:spPr>
          <a:xfrm>
            <a:off x="13830300" y="4686300"/>
            <a:ext cx="3314700" cy="1581150"/>
          </a:xfrm>
          <a:prstGeom prst="rect">
            <a:avLst/>
          </a:prstGeom>
          <a:noFill/>
          <a:ln w="0">
            <a:noFill/>
          </a:ln>
        </p:spPr>
        <p:txBody>
          <a:bodyPr/>
          <a:lstStyle>
            <a:defPPr>
              <a:defRPr sz="2100" b="0">
                <a:solidFill>
                  <a:srgbClr val="17212D"/>
                </a:solidFill>
                <a:latin typeface="Noto Sans CJK KR"/>
                <a:ea typeface="Noto Sans CJK KR"/>
                <a:cs typeface="Noto Sans CJK KR"/>
              </a:defRPr>
            </a:defPPr>
          </a:lstStyle>
          <a:p>
            <a:pPr>
              <a:defRPr sz="2100" b="0">
                <a:solidFill>
                  <a:srgbClr val="17212D"/>
                </a:solidFill>
                <a:latin typeface="Noto Sans CJK KR"/>
                <a:ea typeface="Noto Sans CJK KR"/>
                <a:cs typeface="Noto Sans CJK KR"/>
              </a:defRPr>
            </a:pPr>
            <a:r>
              <a:rPr sz="2100" b="0">
                <a:solidFill>
                  <a:srgbClr val="17212D"/>
                </a:solidFill>
                <a:latin typeface="Noto Sans CJK KR"/>
                <a:ea typeface="Noto Sans CJK KR"/>
                <a:cs typeface="Noto Sans CJK KR"/>
              </a:rPr>
              <a:t>Provide the detected or last-seen location.</a:t>
            </a:r>
          </a:p>
        </p:txBody>
      </p:sp>
      <p:sp>
        <p:nvSpPr>
          <p:cNvPr id="19" name="Rectangle 18">
            <a:extLst>
              <a:ext uri="{FF2B5EF4-FFF2-40B4-BE49-F238E27FC236}">
                <a16:creationId xmlns:a16="http://schemas.microsoft.com/office/drawing/2014/main" id="{59BC9E90-49F7-4EBE-B619-FCF906F9B07C}"/>
              </a:ext>
            </a:extLst>
          </p:cNvPr>
          <p:cNvSpPr>
            <a:spLocks noGrp="1"/>
          </p:cNvSpPr>
          <p:nvPr/>
        </p:nvSpPr>
        <p:spPr>
          <a:xfrm>
            <a:off x="914400" y="6686550"/>
            <a:ext cx="164592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Example Scenario</a:t>
            </a:r>
          </a:p>
        </p:txBody>
      </p:sp>
      <p:sp>
        <p:nvSpPr>
          <p:cNvPr id="20" name="Rectangle 19">
            <a:extLst>
              <a:ext uri="{FF2B5EF4-FFF2-40B4-BE49-F238E27FC236}">
                <a16:creationId xmlns:a16="http://schemas.microsoft.com/office/drawing/2014/main" id="{4B58E781-DD48-4CD7-BC1E-7327D11D1D3E}"/>
              </a:ext>
            </a:extLst>
          </p:cNvPr>
          <p:cNvSpPr>
            <a:spLocks noGrp="1"/>
          </p:cNvSpPr>
          <p:nvPr/>
        </p:nvSpPr>
        <p:spPr>
          <a:xfrm>
            <a:off x="914400" y="7448550"/>
            <a:ext cx="16459200" cy="1047750"/>
          </a:xfrm>
          <a:prstGeom prst="rect">
            <a:avLst/>
          </a:prstGeom>
          <a:noFill/>
          <a:ln w="0">
            <a:noFill/>
          </a:ln>
        </p:spPr>
        <p:txBody>
          <a:bodyPr/>
          <a:lstStyle>
            <a:defPPr>
              <a:defRPr sz="2550" b="0">
                <a:solidFill>
                  <a:srgbClr val="17212D"/>
                </a:solidFill>
                <a:latin typeface="Noto Sans CJK KR"/>
                <a:ea typeface="Noto Sans CJK KR"/>
                <a:cs typeface="Noto Sans CJK KR"/>
              </a:defRPr>
            </a:defPPr>
          </a:lstStyle>
          <a:p>
            <a:pPr>
              <a:defRPr sz="2550" b="0">
                <a:solidFill>
                  <a:srgbClr val="17212D"/>
                </a:solidFill>
                <a:latin typeface="Noto Sans CJK KR"/>
                <a:ea typeface="Noto Sans CJK KR"/>
                <a:cs typeface="Noto Sans CJK KR"/>
              </a:defRPr>
            </a:pPr>
            <a:r>
              <a:rPr sz="2550" b="0" dirty="0">
                <a:solidFill>
                  <a:srgbClr val="17212D"/>
                </a:solidFill>
                <a:latin typeface="Noto Sans CJK KR"/>
                <a:ea typeface="Noto Sans CJK KR"/>
                <a:cs typeface="Noto Sans CJK KR"/>
              </a:rPr>
              <a:t>User: “Where are my glasses?”</a:t>
            </a:r>
          </a:p>
          <a:p>
            <a:pPr>
              <a:defRPr sz="2550" b="0">
                <a:solidFill>
                  <a:srgbClr val="17212D"/>
                </a:solidFill>
                <a:latin typeface="Noto Sans CJK KR"/>
                <a:ea typeface="Noto Sans CJK KR"/>
                <a:cs typeface="Noto Sans CJK KR"/>
              </a:defRPr>
            </a:pPr>
            <a:r>
              <a:rPr sz="2550" b="0" dirty="0">
                <a:solidFill>
                  <a:srgbClr val="17212D"/>
                </a:solidFill>
                <a:latin typeface="Noto Sans CJK KR"/>
                <a:ea typeface="Noto Sans CJK KR"/>
                <a:cs typeface="Noto Sans CJK KR"/>
              </a:rPr>
              <a:t>AI (not visible now): “Your glasses were last seen on the bedside table at 2:30 PM.”</a:t>
            </a:r>
          </a:p>
        </p:txBody>
      </p:sp>
      <p:sp>
        <p:nvSpPr>
          <p:cNvPr id="21" name="Rectangle 20">
            <a:extLst>
              <a:ext uri="{FF2B5EF4-FFF2-40B4-BE49-F238E27FC236}">
                <a16:creationId xmlns:a16="http://schemas.microsoft.com/office/drawing/2014/main" id="{6A3515FA-C3FF-4C75-B1C4-35CDE1670A09}"/>
              </a:ext>
            </a:extLst>
          </p:cNvPr>
          <p:cNvSpPr>
            <a:spLocks noGrp="1"/>
          </p:cNvSpPr>
          <p:nvPr/>
        </p:nvSpPr>
        <p:spPr>
          <a:xfrm>
            <a:off x="914400" y="9182100"/>
            <a:ext cx="16459200" cy="714375"/>
          </a:xfrm>
          <a:prstGeom prst="rect">
            <a:avLst/>
          </a:prstGeom>
          <a:noFill/>
          <a:ln w="0">
            <a:noFill/>
          </a:ln>
        </p:spPr>
        <p:txBody>
          <a:bodyPr/>
          <a:lstStyle>
            <a:defPPr>
              <a:defRPr sz="2250" b="1">
                <a:solidFill>
                  <a:srgbClr val="2C5BA9"/>
                </a:solidFill>
                <a:latin typeface="Noto Sans CJK KR"/>
                <a:ea typeface="Noto Sans CJK KR"/>
                <a:cs typeface="Noto Sans CJK KR"/>
              </a:defRPr>
            </a:defPPr>
          </a:lstStyle>
          <a:p>
            <a:pPr>
              <a:defRPr sz="2250" b="1">
                <a:solidFill>
                  <a:srgbClr val="2C5BA9"/>
                </a:solidFill>
                <a:latin typeface="Noto Sans CJK KR"/>
                <a:ea typeface="Noto Sans CJK KR"/>
                <a:cs typeface="Noto Sans CJK KR"/>
              </a:defRPr>
            </a:pPr>
            <a:r>
              <a:rPr sz="2250" b="1" dirty="0">
                <a:solidFill>
                  <a:srgbClr val="FF0000"/>
                </a:solidFill>
                <a:latin typeface="Noto Sans CJK KR"/>
                <a:ea typeface="Noto Sans CJK KR"/>
                <a:cs typeface="Noto Sans CJK KR"/>
              </a:rPr>
              <a:t>Important: The system must distinguish between currently detected and previously detected locations.</a:t>
            </a:r>
          </a:p>
        </p:txBody>
      </p:sp>
    </p:spTree>
    <p:extLst>
      <p:ext uri="{BB962C8B-B14F-4D97-AF65-F5344CB8AC3E}">
        <p14:creationId xmlns:p14="http://schemas.microsoft.com/office/powerpoint/2010/main" val="67293327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31F3316-D145-4396-9C11-C7EC87427F19}"/>
              </a:ext>
            </a:extLst>
          </p:cNvPr>
          <p:cNvSpPr>
            <a:spLocks noGrp="1"/>
          </p:cNvSpPr>
          <p:nvPr/>
        </p:nvSpPr>
        <p:spPr>
          <a:xfrm>
            <a:off x="914400" y="609600"/>
            <a:ext cx="16459200" cy="952500"/>
          </a:xfrm>
          <a:prstGeom prst="rect">
            <a:avLst/>
          </a:prstGeom>
          <a:noFill/>
          <a:ln w="0">
            <a:noFill/>
          </a:ln>
        </p:spPr>
        <p:txBody>
          <a:bodyPr/>
          <a:lstStyle>
            <a:defPPr>
              <a:defRPr sz="4200" b="1">
                <a:solidFill>
                  <a:srgbClr val="2C5BA9"/>
                </a:solidFill>
                <a:latin typeface="Noto Sans CJK KR"/>
                <a:ea typeface="Noto Sans CJK KR"/>
                <a:cs typeface="Noto Sans CJK KR"/>
              </a:defRPr>
            </a:defPPr>
          </a:lstStyle>
          <a:p>
            <a:pPr>
              <a:defRPr sz="4200" b="1">
                <a:solidFill>
                  <a:srgbClr val="2C5BA9"/>
                </a:solidFill>
                <a:latin typeface="Noto Sans CJK KR"/>
                <a:ea typeface="Noto Sans CJK KR"/>
                <a:cs typeface="Noto Sans CJK KR"/>
              </a:defRPr>
            </a:pPr>
            <a:r>
              <a:rPr sz="6000" b="1" dirty="0">
                <a:solidFill>
                  <a:srgbClr val="2C5BA9"/>
                </a:solidFill>
                <a:latin typeface="Noto Sans CJK KR"/>
                <a:ea typeface="Noto Sans CJK KR"/>
                <a:cs typeface="Noto Sans CJK KR"/>
              </a:rPr>
              <a:t>Initial Requirements</a:t>
            </a:r>
          </a:p>
        </p:txBody>
      </p:sp>
      <p:sp>
        <p:nvSpPr>
          <p:cNvPr id="2" name="Rectangle 1">
            <a:extLst>
              <a:ext uri="{FF2B5EF4-FFF2-40B4-BE49-F238E27FC236}">
                <a16:creationId xmlns:a16="http://schemas.microsoft.com/office/drawing/2014/main" id="{BC07E083-5DEC-4FBC-AF88-95532EBED2FA}"/>
              </a:ext>
            </a:extLst>
          </p:cNvPr>
          <p:cNvSpPr>
            <a:spLocks noGrp="1"/>
          </p:cNvSpPr>
          <p:nvPr/>
        </p:nvSpPr>
        <p:spPr>
          <a:xfrm>
            <a:off x="914400" y="1790700"/>
            <a:ext cx="77724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Specification V1 Scope</a:t>
            </a:r>
          </a:p>
        </p:txBody>
      </p:sp>
      <p:sp>
        <p:nvSpPr>
          <p:cNvPr id="3" name="Rectangle 2">
            <a:extLst>
              <a:ext uri="{FF2B5EF4-FFF2-40B4-BE49-F238E27FC236}">
                <a16:creationId xmlns:a16="http://schemas.microsoft.com/office/drawing/2014/main" id="{B83B2904-6E04-44E8-B14E-81C3AC92277D}"/>
              </a:ext>
            </a:extLst>
          </p:cNvPr>
          <p:cNvSpPr>
            <a:spLocks noGrp="1"/>
          </p:cNvSpPr>
          <p:nvPr/>
        </p:nvSpPr>
        <p:spPr>
          <a:xfrm>
            <a:off x="914400" y="2457450"/>
            <a:ext cx="7772400" cy="371475"/>
          </a:xfrm>
          <a:prstGeom prst="rect">
            <a:avLst/>
          </a:prstGeom>
          <a:noFill/>
          <a:ln w="0">
            <a:noFill/>
          </a:ln>
        </p:spPr>
        <p:txBody>
          <a:bodyPr/>
          <a:lstStyle>
            <a:defPPr>
              <a:defRPr sz="2175" b="0">
                <a:solidFill>
                  <a:srgbClr val="17212D"/>
                </a:solidFill>
                <a:latin typeface="Noto Sans CJK KR"/>
                <a:ea typeface="Noto Sans CJK KR"/>
                <a:cs typeface="Noto Sans CJK KR"/>
              </a:defRPr>
            </a:defPPr>
          </a:lstStyle>
          <a:p>
            <a:pPr marL="342900" indent="-342900">
              <a:buFont typeface="Arial" panose="020B0604020202020204" pitchFamily="34" charset="0"/>
              <a:buChar char="•"/>
              <a:defRPr sz="2175" b="0">
                <a:solidFill>
                  <a:srgbClr val="17212D"/>
                </a:solidFill>
                <a:latin typeface="Noto Sans CJK KR"/>
                <a:ea typeface="Noto Sans CJK KR"/>
                <a:cs typeface="Noto Sans CJK KR"/>
              </a:defRPr>
            </a:pPr>
            <a:r>
              <a:rPr sz="2175" b="0" dirty="0">
                <a:solidFill>
                  <a:srgbClr val="17212D"/>
                </a:solidFill>
                <a:latin typeface="Noto Sans CJK KR"/>
                <a:ea typeface="Noto Sans CJK KR"/>
                <a:cs typeface="Noto Sans CJK KR"/>
              </a:rPr>
              <a:t>Pre-captured camera images</a:t>
            </a:r>
          </a:p>
        </p:txBody>
      </p:sp>
      <p:sp>
        <p:nvSpPr>
          <p:cNvPr id="4" name="Rectangle 3">
            <a:extLst>
              <a:ext uri="{FF2B5EF4-FFF2-40B4-BE49-F238E27FC236}">
                <a16:creationId xmlns:a16="http://schemas.microsoft.com/office/drawing/2014/main" id="{C6F938B4-5FC2-4057-BC85-A97CCD9AFFB5}"/>
              </a:ext>
            </a:extLst>
          </p:cNvPr>
          <p:cNvSpPr>
            <a:spLocks noGrp="1"/>
          </p:cNvSpPr>
          <p:nvPr/>
        </p:nvSpPr>
        <p:spPr>
          <a:xfrm>
            <a:off x="914400" y="2876550"/>
            <a:ext cx="7772400" cy="371475"/>
          </a:xfrm>
          <a:prstGeom prst="rect">
            <a:avLst/>
          </a:prstGeom>
          <a:noFill/>
          <a:ln w="0">
            <a:noFill/>
          </a:ln>
        </p:spPr>
        <p:txBody>
          <a:bodyPr/>
          <a:lstStyle>
            <a:defPPr>
              <a:defRPr sz="2175" b="0">
                <a:solidFill>
                  <a:srgbClr val="17212D"/>
                </a:solidFill>
                <a:latin typeface="Noto Sans CJK KR"/>
                <a:ea typeface="Noto Sans CJK KR"/>
                <a:cs typeface="Noto Sans CJK KR"/>
              </a:defRPr>
            </a:defPPr>
          </a:lstStyle>
          <a:p>
            <a:pPr marL="342900" indent="-342900">
              <a:buFont typeface="Arial" panose="020B0604020202020204" pitchFamily="34" charset="0"/>
              <a:buChar char="•"/>
              <a:defRPr sz="2175" b="0">
                <a:solidFill>
                  <a:srgbClr val="17212D"/>
                </a:solidFill>
                <a:latin typeface="Noto Sans CJK KR"/>
                <a:ea typeface="Noto Sans CJK KR"/>
                <a:cs typeface="Noto Sans CJK KR"/>
              </a:defRPr>
            </a:pPr>
            <a:r>
              <a:rPr sz="2175" b="0" dirty="0">
                <a:solidFill>
                  <a:srgbClr val="17212D"/>
                </a:solidFill>
                <a:latin typeface="Noto Sans CJK KR"/>
                <a:ea typeface="Noto Sans CJK KR"/>
                <a:cs typeface="Noto Sans CJK KR"/>
              </a:rPr>
              <a:t>Limited number of everyday objects</a:t>
            </a:r>
          </a:p>
        </p:txBody>
      </p:sp>
      <p:sp>
        <p:nvSpPr>
          <p:cNvPr id="5" name="Rectangle 4">
            <a:extLst>
              <a:ext uri="{FF2B5EF4-FFF2-40B4-BE49-F238E27FC236}">
                <a16:creationId xmlns:a16="http://schemas.microsoft.com/office/drawing/2014/main" id="{6F228C3D-8563-465B-9584-1B2DEEEED73F}"/>
              </a:ext>
            </a:extLst>
          </p:cNvPr>
          <p:cNvSpPr>
            <a:spLocks noGrp="1"/>
          </p:cNvSpPr>
          <p:nvPr/>
        </p:nvSpPr>
        <p:spPr>
          <a:xfrm>
            <a:off x="914400" y="3295650"/>
            <a:ext cx="7772400" cy="371475"/>
          </a:xfrm>
          <a:prstGeom prst="rect">
            <a:avLst/>
          </a:prstGeom>
          <a:noFill/>
          <a:ln w="0">
            <a:noFill/>
          </a:ln>
        </p:spPr>
        <p:txBody>
          <a:bodyPr/>
          <a:lstStyle>
            <a:defPPr>
              <a:defRPr sz="2175" b="0">
                <a:solidFill>
                  <a:srgbClr val="17212D"/>
                </a:solidFill>
                <a:latin typeface="Noto Sans CJK KR"/>
                <a:ea typeface="Noto Sans CJK KR"/>
                <a:cs typeface="Noto Sans CJK KR"/>
              </a:defRPr>
            </a:defPPr>
          </a:lstStyle>
          <a:p>
            <a:pPr marL="342900" indent="-342900">
              <a:buFont typeface="Arial" panose="020B0604020202020204" pitchFamily="34" charset="0"/>
              <a:buChar char="•"/>
              <a:defRPr sz="2175" b="0">
                <a:solidFill>
                  <a:srgbClr val="17212D"/>
                </a:solidFill>
                <a:latin typeface="Noto Sans CJK KR"/>
                <a:ea typeface="Noto Sans CJK KR"/>
                <a:cs typeface="Noto Sans CJK KR"/>
              </a:defRPr>
            </a:pPr>
            <a:r>
              <a:rPr sz="2175" b="0" dirty="0">
                <a:solidFill>
                  <a:srgbClr val="17212D"/>
                </a:solidFill>
                <a:latin typeface="Noto Sans CJK KR"/>
                <a:ea typeface="Noto Sans CJK KR"/>
                <a:cs typeface="Noto Sans CJK KR"/>
              </a:rPr>
              <a:t>Simple text-based interface</a:t>
            </a:r>
          </a:p>
        </p:txBody>
      </p:sp>
      <p:sp>
        <p:nvSpPr>
          <p:cNvPr id="6" name="Rectangle 5">
            <a:extLst>
              <a:ext uri="{FF2B5EF4-FFF2-40B4-BE49-F238E27FC236}">
                <a16:creationId xmlns:a16="http://schemas.microsoft.com/office/drawing/2014/main" id="{B7CDDDC3-DC2A-445D-8E43-6B10898D06FA}"/>
              </a:ext>
            </a:extLst>
          </p:cNvPr>
          <p:cNvSpPr>
            <a:spLocks noGrp="1"/>
          </p:cNvSpPr>
          <p:nvPr/>
        </p:nvSpPr>
        <p:spPr>
          <a:xfrm>
            <a:off x="914400" y="3838575"/>
            <a:ext cx="164592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Initial Evaluation Targets</a:t>
            </a:r>
          </a:p>
        </p:txBody>
      </p:sp>
      <p:graphicFrame>
        <p:nvGraphicFramePr>
          <p:cNvPr id="7" name="Table 6">
            <a:extLst>
              <a:ext uri="{FF2B5EF4-FFF2-40B4-BE49-F238E27FC236}">
                <a16:creationId xmlns:a16="http://schemas.microsoft.com/office/drawing/2014/main" id="{98646891-B778-48B0-AC29-B6D672B81ADE}"/>
              </a:ext>
            </a:extLst>
          </p:cNvPr>
          <p:cNvGraphicFramePr/>
          <p:nvPr/>
        </p:nvGraphicFramePr>
        <p:xfrm>
          <a:off x="914400" y="4495800"/>
          <a:ext cx="16459200" cy="1428750"/>
        </p:xfrm>
        <a:graphic>
          <a:graphicData uri="http://schemas.openxmlformats.org/drawingml/2006/table">
            <a:tbl>
              <a:tblPr/>
              <a:tblGrid>
                <a:gridCol w="180975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gridCol w="4714875">
                  <a:extLst>
                    <a:ext uri="{9D8B030D-6E8A-4147-A177-3AD203B41FA5}">
                      <a16:colId xmlns:a16="http://schemas.microsoft.com/office/drawing/2014/main" val="20002"/>
                    </a:ext>
                  </a:extLst>
                </a:gridCol>
                <a:gridCol w="4791075">
                  <a:extLst>
                    <a:ext uri="{9D8B030D-6E8A-4147-A177-3AD203B41FA5}">
                      <a16:colId xmlns:a16="http://schemas.microsoft.com/office/drawing/2014/main" val="20003"/>
                    </a:ext>
                  </a:extLst>
                </a:gridCol>
              </a:tblGrid>
              <a:tr h="714375">
                <a:tc>
                  <a:txBody>
                    <a:bodyPr/>
                    <a:lstStyle/>
                    <a:p>
                      <a:r>
                        <a:rPr sz="2175" b="1">
                          <a:solidFill>
                            <a:srgbClr val="FFFFFF"/>
                          </a:solidFill>
                          <a:latin typeface="Noto Sans CJK KR"/>
                          <a:ea typeface="Noto Sans CJK KR"/>
                          <a:cs typeface="Noto Sans CJK KR"/>
                        </a:rPr>
                        <a:t>Metric</a:t>
                      </a:r>
                    </a:p>
                  </a:txBody>
                  <a:tcPr>
                    <a:solidFill>
                      <a:srgbClr val="2C5BA9"/>
                    </a:solidFill>
                  </a:tcPr>
                </a:tc>
                <a:tc>
                  <a:txBody>
                    <a:bodyPr/>
                    <a:lstStyle/>
                    <a:p>
                      <a:r>
                        <a:rPr sz="2175" b="1">
                          <a:solidFill>
                            <a:srgbClr val="FFFFFF"/>
                          </a:solidFill>
                          <a:latin typeface="Noto Sans CJK KR"/>
                          <a:ea typeface="Noto Sans CJK KR"/>
                          <a:cs typeface="Noto Sans CJK KR"/>
                        </a:rPr>
                        <a:t>Object Detection Accuracy</a:t>
                      </a:r>
                    </a:p>
                  </a:txBody>
                  <a:tcPr>
                    <a:solidFill>
                      <a:srgbClr val="2C5BA9"/>
                    </a:solidFill>
                  </a:tcPr>
                </a:tc>
                <a:tc>
                  <a:txBody>
                    <a:bodyPr/>
                    <a:lstStyle/>
                    <a:p>
                      <a:r>
                        <a:rPr sz="2175" b="1">
                          <a:solidFill>
                            <a:srgbClr val="FFFFFF"/>
                          </a:solidFill>
                          <a:latin typeface="Noto Sans CJK KR"/>
                          <a:ea typeface="Noto Sans CJK KR"/>
                          <a:cs typeface="Noto Sans CJK KR"/>
                        </a:rPr>
                        <a:t>False Positive Rate</a:t>
                      </a:r>
                    </a:p>
                  </a:txBody>
                  <a:tcPr>
                    <a:solidFill>
                      <a:srgbClr val="2C5BA9"/>
                    </a:solidFill>
                  </a:tcPr>
                </a:tc>
                <a:tc>
                  <a:txBody>
                    <a:bodyPr/>
                    <a:lstStyle/>
                    <a:p>
                      <a:r>
                        <a:rPr sz="2175" b="1">
                          <a:solidFill>
                            <a:srgbClr val="FFFFFF"/>
                          </a:solidFill>
                          <a:latin typeface="Noto Sans CJK KR"/>
                          <a:ea typeface="Noto Sans CJK KR"/>
                          <a:cs typeface="Noto Sans CJK KR"/>
                        </a:rPr>
                        <a:t>Total Response Time</a:t>
                      </a:r>
                    </a:p>
                  </a:txBody>
                  <a:tcPr>
                    <a:solidFill>
                      <a:srgbClr val="2C5BA9"/>
                    </a:solidFill>
                  </a:tcPr>
                </a:tc>
                <a:extLst>
                  <a:ext uri="{0D108BD9-81ED-4DB2-BD59-A6C34878D82A}">
                    <a16:rowId xmlns:a16="http://schemas.microsoft.com/office/drawing/2014/main" val="10000"/>
                  </a:ext>
                </a:extLst>
              </a:tr>
              <a:tr h="714375">
                <a:tc>
                  <a:txBody>
                    <a:bodyPr/>
                    <a:lstStyle/>
                    <a:p>
                      <a:r>
                        <a:rPr sz="2175" b="0">
                          <a:solidFill>
                            <a:srgbClr val="17212D"/>
                          </a:solidFill>
                          <a:latin typeface="Noto Sans CJK KR"/>
                          <a:ea typeface="Noto Sans CJK KR"/>
                          <a:cs typeface="Noto Sans CJK KR"/>
                        </a:rPr>
                        <a:t>Target</a:t>
                      </a:r>
                    </a:p>
                  </a:txBody>
                  <a:tcPr>
                    <a:solidFill>
                      <a:srgbClr val="FFFFFF"/>
                    </a:solidFill>
                  </a:tcPr>
                </a:tc>
                <a:tc>
                  <a:txBody>
                    <a:bodyPr/>
                    <a:lstStyle/>
                    <a:p>
                      <a:r>
                        <a:rPr sz="2175" b="0">
                          <a:solidFill>
                            <a:srgbClr val="17212D"/>
                          </a:solidFill>
                          <a:latin typeface="Noto Sans CJK KR"/>
                          <a:ea typeface="Noto Sans CJK KR"/>
                          <a:cs typeface="Noto Sans CJK KR"/>
                        </a:rPr>
                        <a:t>&gt; 90%</a:t>
                      </a:r>
                    </a:p>
                  </a:txBody>
                  <a:tcPr>
                    <a:solidFill>
                      <a:srgbClr val="FFFFFF"/>
                    </a:solidFill>
                  </a:tcPr>
                </a:tc>
                <a:tc>
                  <a:txBody>
                    <a:bodyPr/>
                    <a:lstStyle/>
                    <a:p>
                      <a:r>
                        <a:rPr sz="2175" b="0">
                          <a:solidFill>
                            <a:srgbClr val="17212D"/>
                          </a:solidFill>
                          <a:latin typeface="Noto Sans CJK KR"/>
                          <a:ea typeface="Noto Sans CJK KR"/>
                          <a:cs typeface="Noto Sans CJK KR"/>
                        </a:rPr>
                        <a:t>&lt; 5%</a:t>
                      </a:r>
                    </a:p>
                  </a:txBody>
                  <a:tcPr>
                    <a:solidFill>
                      <a:srgbClr val="FFFFFF"/>
                    </a:solidFill>
                  </a:tcPr>
                </a:tc>
                <a:tc>
                  <a:txBody>
                    <a:bodyPr/>
                    <a:lstStyle/>
                    <a:p>
                      <a:r>
                        <a:rPr sz="2175" b="0">
                          <a:solidFill>
                            <a:srgbClr val="17212D"/>
                          </a:solidFill>
                          <a:latin typeface="Noto Sans CJK KR"/>
                          <a:ea typeface="Noto Sans CJK KR"/>
                          <a:cs typeface="Noto Sans CJK KR"/>
                        </a:rPr>
                        <a:t>&lt; 6 seconds</a:t>
                      </a:r>
                    </a:p>
                  </a:txBody>
                  <a:tcPr>
                    <a:solidFill>
                      <a:srgbClr val="FFFFFF"/>
                    </a:solidFill>
                  </a:tcPr>
                </a:tc>
                <a:extLst>
                  <a:ext uri="{0D108BD9-81ED-4DB2-BD59-A6C34878D82A}">
                    <a16:rowId xmlns:a16="http://schemas.microsoft.com/office/drawing/2014/main" val="10001"/>
                  </a:ext>
                </a:extLst>
              </a:tr>
            </a:tbl>
          </a:graphicData>
        </a:graphic>
      </p:graphicFrame>
      <p:sp>
        <p:nvSpPr>
          <p:cNvPr id="8" name="Rectangle 7">
            <a:extLst>
              <a:ext uri="{FF2B5EF4-FFF2-40B4-BE49-F238E27FC236}">
                <a16:creationId xmlns:a16="http://schemas.microsoft.com/office/drawing/2014/main" id="{F40DB73D-09B5-4443-AAE4-E08F92840524}"/>
              </a:ext>
            </a:extLst>
          </p:cNvPr>
          <p:cNvSpPr>
            <a:spLocks noGrp="1"/>
          </p:cNvSpPr>
          <p:nvPr/>
        </p:nvSpPr>
        <p:spPr>
          <a:xfrm>
            <a:off x="914400" y="6153150"/>
            <a:ext cx="16459200" cy="523875"/>
          </a:xfrm>
          <a:prstGeom prst="rect">
            <a:avLst/>
          </a:prstGeom>
          <a:noFill/>
          <a:ln w="0">
            <a:noFill/>
          </a:ln>
        </p:spPr>
        <p:txBody>
          <a:bodyPr/>
          <a:lstStyle>
            <a:defPPr>
              <a:defRPr sz="2100" b="1">
                <a:solidFill>
                  <a:srgbClr val="BD3C1E"/>
                </a:solidFill>
                <a:latin typeface="Noto Sans CJK KR"/>
                <a:ea typeface="Noto Sans CJK KR"/>
                <a:cs typeface="Noto Sans CJK KR"/>
              </a:defRPr>
            </a:defPPr>
          </a:lstStyle>
          <a:p>
            <a:pPr>
              <a:defRPr sz="2100" b="1">
                <a:solidFill>
                  <a:srgbClr val="BD3C1E"/>
                </a:solidFill>
                <a:latin typeface="Noto Sans CJK KR"/>
                <a:ea typeface="Noto Sans CJK KR"/>
                <a:cs typeface="Noto Sans CJK KR"/>
              </a:defRPr>
            </a:pPr>
            <a:r>
              <a:rPr sz="2100" b="1" dirty="0">
                <a:solidFill>
                  <a:srgbClr val="BD3C1E"/>
                </a:solidFill>
                <a:latin typeface="Noto Sans CJK KR"/>
                <a:ea typeface="Noto Sans CJK KR"/>
                <a:cs typeface="Noto Sans CJK KR"/>
              </a:rPr>
              <a:t>Note: These are development targets, not achieved results.</a:t>
            </a:r>
          </a:p>
        </p:txBody>
      </p:sp>
      <p:sp>
        <p:nvSpPr>
          <p:cNvPr id="9" name="Rectangle 8">
            <a:extLst>
              <a:ext uri="{FF2B5EF4-FFF2-40B4-BE49-F238E27FC236}">
                <a16:creationId xmlns:a16="http://schemas.microsoft.com/office/drawing/2014/main" id="{37F1F0F6-E3C6-4565-87D5-0E350B9B53FC}"/>
              </a:ext>
            </a:extLst>
          </p:cNvPr>
          <p:cNvSpPr>
            <a:spLocks noGrp="1"/>
          </p:cNvSpPr>
          <p:nvPr/>
        </p:nvSpPr>
        <p:spPr>
          <a:xfrm>
            <a:off x="914400" y="6812280"/>
            <a:ext cx="164592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Acceptance Criteria (testable)</a:t>
            </a:r>
          </a:p>
        </p:txBody>
      </p:sp>
      <p:sp>
        <p:nvSpPr>
          <p:cNvPr id="12" name="Rectangle 11">
            <a:extLst>
              <a:ext uri="{FF2B5EF4-FFF2-40B4-BE49-F238E27FC236}">
                <a16:creationId xmlns:a16="http://schemas.microsoft.com/office/drawing/2014/main" id="{85D6DF62-8F94-4DA0-9950-9A5C3BA74A46}"/>
              </a:ext>
            </a:extLst>
          </p:cNvPr>
          <p:cNvSpPr>
            <a:spLocks noGrp="1"/>
          </p:cNvSpPr>
          <p:nvPr/>
        </p:nvSpPr>
        <p:spPr>
          <a:xfrm>
            <a:off x="914400" y="7452360"/>
            <a:ext cx="16459200" cy="1737360"/>
          </a:xfrm>
          <a:prstGeom prst="rect">
            <a:avLst/>
          </a:prstGeom>
          <a:noFill/>
          <a:ln w="0">
            <a:noFill/>
          </a:ln>
        </p:spPr>
        <p:txBody>
          <a:bodyPr/>
          <a:lstStyle>
            <a:defPPr>
              <a:defRPr sz="1950" b="0">
                <a:solidFill>
                  <a:srgbClr val="17212D"/>
                </a:solidFill>
                <a:latin typeface="Noto Sans CJK KR"/>
                <a:ea typeface="Noto Sans CJK KR"/>
                <a:cs typeface="Noto Sans CJK KR"/>
              </a:defRPr>
            </a:defPPr>
          </a:lstStyle>
          <a:p>
            <a:pPr marL="342900" indent="-342900">
              <a:buFont typeface="Arial" panose="020B0604020202020204" pitchFamily="34" charset="0"/>
              <a:buChar char="•"/>
              <a:defRPr sz="1950" b="0">
                <a:solidFill>
                  <a:srgbClr val="17212D"/>
                </a:solidFill>
                <a:latin typeface="Noto Sans CJK KR"/>
                <a:ea typeface="Noto Sans CJK KR"/>
                <a:cs typeface="Noto Sans CJK KR"/>
              </a:defRPr>
            </a:pPr>
            <a:r>
              <a:rPr sz="2200" b="0" dirty="0">
                <a:solidFill>
                  <a:srgbClr val="17212D"/>
                </a:solidFill>
                <a:latin typeface="Noto Sans CJK KR"/>
                <a:ea typeface="Noto Sans CJK KR"/>
                <a:cs typeface="Noto Sans CJK KR"/>
              </a:rPr>
              <a:t>A detection with only 60% confidence must not be used as a confirmed location (threshold: 75%).</a:t>
            </a:r>
          </a:p>
          <a:p>
            <a:pPr marL="342900" indent="-342900">
              <a:buFont typeface="Arial" panose="020B0604020202020204" pitchFamily="34" charset="0"/>
              <a:buChar char="•"/>
              <a:defRPr sz="1950" b="0">
                <a:solidFill>
                  <a:srgbClr val="17212D"/>
                </a:solidFill>
                <a:latin typeface="Noto Sans CJK KR"/>
                <a:ea typeface="Noto Sans CJK KR"/>
                <a:cs typeface="Noto Sans CJK KR"/>
              </a:defRPr>
            </a:pPr>
            <a:r>
              <a:rPr sz="2200" b="0" dirty="0">
                <a:solidFill>
                  <a:srgbClr val="17212D"/>
                </a:solidFill>
                <a:latin typeface="Noto Sans CJK KR"/>
                <a:ea typeface="Noto Sans CJK KR"/>
                <a:cs typeface="Noto Sans CJK KR"/>
              </a:rPr>
              <a:t>If no reliable detection exists, the system must say the location cannot be determined instead of guessing.</a:t>
            </a:r>
          </a:p>
          <a:p>
            <a:pPr marL="342900" indent="-342900">
              <a:buFont typeface="Arial" panose="020B0604020202020204" pitchFamily="34" charset="0"/>
              <a:buChar char="•"/>
              <a:defRPr sz="1950" b="0">
                <a:solidFill>
                  <a:srgbClr val="17212D"/>
                </a:solidFill>
                <a:latin typeface="Noto Sans CJK KR"/>
                <a:ea typeface="Noto Sans CJK KR"/>
                <a:cs typeface="Noto Sans CJK KR"/>
              </a:defRPr>
            </a:pPr>
            <a:r>
              <a:rPr sz="2200" b="0" dirty="0">
                <a:solidFill>
                  <a:srgbClr val="17212D"/>
                </a:solidFill>
                <a:latin typeface="Noto Sans CJK KR"/>
                <a:ea typeface="Noto Sans CJK KR"/>
                <a:cs typeface="Noto Sans CJK KR"/>
              </a:rPr>
              <a:t>If the latest image does not show the item, the system must not claim it is still there.</a:t>
            </a:r>
          </a:p>
        </p:txBody>
      </p:sp>
      <p:sp>
        <p:nvSpPr>
          <p:cNvPr id="18" name="Rectangle 1">
            <a:extLst>
              <a:ext uri="{FF2B5EF4-FFF2-40B4-BE49-F238E27FC236}">
                <a16:creationId xmlns:a16="http://schemas.microsoft.com/office/drawing/2014/main" id="{BC07E083-5DEC-4FBC-AF88-95532EBED2FA}"/>
              </a:ext>
            </a:extLst>
          </p:cNvPr>
          <p:cNvSpPr>
            <a:spLocks noGrp="1"/>
          </p:cNvSpPr>
          <p:nvPr/>
        </p:nvSpPr>
        <p:spPr>
          <a:xfrm>
            <a:off x="9601200" y="1792224"/>
            <a:ext cx="77724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Not Included in V1</a:t>
            </a:r>
          </a:p>
        </p:txBody>
      </p:sp>
      <p:sp>
        <p:nvSpPr>
          <p:cNvPr id="19" name="Rectangle 2">
            <a:extLst>
              <a:ext uri="{FF2B5EF4-FFF2-40B4-BE49-F238E27FC236}">
                <a16:creationId xmlns:a16="http://schemas.microsoft.com/office/drawing/2014/main" id="{B83B2904-6E04-44E8-B14E-81C3AC92277D}"/>
              </a:ext>
            </a:extLst>
          </p:cNvPr>
          <p:cNvSpPr>
            <a:spLocks noGrp="1"/>
          </p:cNvSpPr>
          <p:nvPr/>
        </p:nvSpPr>
        <p:spPr>
          <a:xfrm>
            <a:off x="9601200" y="2459736"/>
            <a:ext cx="7772400" cy="371475"/>
          </a:xfrm>
          <a:prstGeom prst="rect">
            <a:avLst/>
          </a:prstGeom>
          <a:noFill/>
          <a:ln w="0">
            <a:noFill/>
          </a:ln>
        </p:spPr>
        <p:txBody>
          <a:bodyPr/>
          <a:lstStyle>
            <a:defPPr>
              <a:defRPr sz="2175" b="0">
                <a:solidFill>
                  <a:srgbClr val="17212D"/>
                </a:solidFill>
                <a:latin typeface="Noto Sans CJK KR"/>
                <a:ea typeface="Noto Sans CJK KR"/>
                <a:cs typeface="Noto Sans CJK KR"/>
              </a:defRPr>
            </a:defPPr>
          </a:lstStyle>
          <a:p>
            <a:pPr marL="342900" indent="-342900">
              <a:buFont typeface="Arial" panose="020B0604020202020204" pitchFamily="34" charset="0"/>
              <a:buChar char="•"/>
              <a:defRPr sz="2175" b="0">
                <a:solidFill>
                  <a:srgbClr val="17212D"/>
                </a:solidFill>
                <a:latin typeface="Noto Sans CJK KR"/>
                <a:ea typeface="Noto Sans CJK KR"/>
                <a:cs typeface="Noto Sans CJK KR"/>
              </a:defRPr>
            </a:pPr>
            <a:r>
              <a:rPr lang="en-US" sz="2175" dirty="0">
                <a:solidFill>
                  <a:srgbClr val="17212D"/>
                </a:solidFill>
                <a:latin typeface="Noto Sans CJK KR"/>
                <a:ea typeface="Noto Sans CJK KR"/>
                <a:cs typeface="Noto Sans CJK KR"/>
              </a:rPr>
              <a:t>Multiple-c</a:t>
            </a:r>
            <a:r>
              <a:rPr sz="2175" b="0" dirty="0">
                <a:solidFill>
                  <a:srgbClr val="17212D"/>
                </a:solidFill>
                <a:latin typeface="Noto Sans CJK KR"/>
                <a:ea typeface="Noto Sans CJK KR"/>
                <a:cs typeface="Noto Sans CJK KR"/>
              </a:rPr>
              <a:t>amera tracking</a:t>
            </a:r>
          </a:p>
        </p:txBody>
      </p:sp>
      <p:sp>
        <p:nvSpPr>
          <p:cNvPr id="20" name="Rectangle 2">
            <a:extLst>
              <a:ext uri="{FF2B5EF4-FFF2-40B4-BE49-F238E27FC236}">
                <a16:creationId xmlns:a16="http://schemas.microsoft.com/office/drawing/2014/main" id="{B83B2904-6E04-44E8-B14E-81C3AC92277D}"/>
              </a:ext>
            </a:extLst>
          </p:cNvPr>
          <p:cNvSpPr>
            <a:spLocks noGrp="1"/>
          </p:cNvSpPr>
          <p:nvPr/>
        </p:nvSpPr>
        <p:spPr>
          <a:xfrm>
            <a:off x="9601200" y="2880360"/>
            <a:ext cx="7772400" cy="371475"/>
          </a:xfrm>
          <a:prstGeom prst="rect">
            <a:avLst/>
          </a:prstGeom>
          <a:noFill/>
          <a:ln w="0">
            <a:noFill/>
          </a:ln>
        </p:spPr>
        <p:txBody>
          <a:bodyPr/>
          <a:lstStyle>
            <a:defPPr>
              <a:defRPr sz="2175" b="0">
                <a:solidFill>
                  <a:srgbClr val="17212D"/>
                </a:solidFill>
                <a:latin typeface="Noto Sans CJK KR"/>
                <a:ea typeface="Noto Sans CJK KR"/>
                <a:cs typeface="Noto Sans CJK KR"/>
              </a:defRPr>
            </a:defPPr>
          </a:lstStyle>
          <a:p>
            <a:pPr marL="342900" indent="-342900">
              <a:buFont typeface="Arial" panose="020B0604020202020204" pitchFamily="34" charset="0"/>
              <a:buChar char="•"/>
              <a:defRPr sz="2175" b="0">
                <a:solidFill>
                  <a:srgbClr val="17212D"/>
                </a:solidFill>
                <a:latin typeface="Noto Sans CJK KR"/>
                <a:ea typeface="Noto Sans CJK KR"/>
                <a:cs typeface="Noto Sans CJK KR"/>
              </a:defRPr>
            </a:pPr>
            <a:r>
              <a:rPr sz="2175" b="0" dirty="0">
                <a:solidFill>
                  <a:srgbClr val="17212D"/>
                </a:solidFill>
                <a:latin typeface="Noto Sans CJK KR"/>
                <a:ea typeface="Noto Sans CJK KR"/>
                <a:cs typeface="Noto Sans CJK KR"/>
              </a:rPr>
              <a:t>Voice interaction</a:t>
            </a:r>
          </a:p>
        </p:txBody>
      </p:sp>
      <p:sp>
        <p:nvSpPr>
          <p:cNvPr id="21" name="Rectangle 2">
            <a:extLst>
              <a:ext uri="{FF2B5EF4-FFF2-40B4-BE49-F238E27FC236}">
                <a16:creationId xmlns:a16="http://schemas.microsoft.com/office/drawing/2014/main" id="{B83B2904-6E04-44E8-B14E-81C3AC92277D}"/>
              </a:ext>
            </a:extLst>
          </p:cNvPr>
          <p:cNvSpPr>
            <a:spLocks noGrp="1"/>
          </p:cNvSpPr>
          <p:nvPr/>
        </p:nvSpPr>
        <p:spPr>
          <a:xfrm>
            <a:off x="9601200" y="3291840"/>
            <a:ext cx="7772400" cy="371475"/>
          </a:xfrm>
          <a:prstGeom prst="rect">
            <a:avLst/>
          </a:prstGeom>
          <a:noFill/>
          <a:ln w="0">
            <a:noFill/>
          </a:ln>
        </p:spPr>
        <p:txBody>
          <a:bodyPr/>
          <a:lstStyle>
            <a:defPPr>
              <a:defRPr sz="2175" b="0">
                <a:solidFill>
                  <a:srgbClr val="17212D"/>
                </a:solidFill>
                <a:latin typeface="Noto Sans CJK KR"/>
                <a:ea typeface="Noto Sans CJK KR"/>
                <a:cs typeface="Noto Sans CJK KR"/>
              </a:defRPr>
            </a:defPPr>
          </a:lstStyle>
          <a:p>
            <a:pPr marL="342900" indent="-342900">
              <a:buFont typeface="Arial" panose="020B0604020202020204" pitchFamily="34" charset="0"/>
              <a:buChar char="•"/>
              <a:defRPr sz="2175" b="0">
                <a:solidFill>
                  <a:srgbClr val="17212D"/>
                </a:solidFill>
                <a:latin typeface="Noto Sans CJK KR"/>
                <a:ea typeface="Noto Sans CJK KR"/>
                <a:cs typeface="Noto Sans CJK KR"/>
              </a:defRPr>
            </a:pPr>
            <a:r>
              <a:rPr sz="2175" b="0" dirty="0">
                <a:solidFill>
                  <a:srgbClr val="17212D"/>
                </a:solidFill>
                <a:latin typeface="Noto Sans CJK KR"/>
                <a:ea typeface="Noto Sans CJK KR"/>
                <a:cs typeface="Noto Sans CJK KR"/>
              </a:rPr>
              <a:t>Predictive search</a:t>
            </a:r>
          </a:p>
        </p:txBody>
      </p:sp>
    </p:spTree>
    <p:extLst>
      <p:ext uri="{BB962C8B-B14F-4D97-AF65-F5344CB8AC3E}">
        <p14:creationId xmlns:p14="http://schemas.microsoft.com/office/powerpoint/2010/main" val="100330305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Rounded Corners 3">
            <a:extLst>
              <a:ext uri="{FF2B5EF4-FFF2-40B4-BE49-F238E27FC236}">
                <a16:creationId xmlns:a16="http://schemas.microsoft.com/office/drawing/2014/main" id="{50920E87-72BA-4CFB-911E-720E018AD071}"/>
              </a:ext>
            </a:extLst>
          </p:cNvPr>
          <p:cNvSpPr>
            <a:spLocks noGrp="1"/>
          </p:cNvSpPr>
          <p:nvPr/>
        </p:nvSpPr>
        <p:spPr>
          <a:xfrm>
            <a:off x="9509760" y="1828800"/>
            <a:ext cx="7863840" cy="6035040"/>
          </a:xfrm>
          <a:prstGeom prst="roundRect">
            <a:avLst>
              <a:gd name="adj" fmla="val 2857"/>
            </a:avLst>
          </a:prstGeom>
          <a:solidFill>
            <a:srgbClr val="F4F7FC"/>
          </a:solidFill>
          <a:ln w="14288">
            <a:solidFill>
              <a:srgbClr val="2C5BA9"/>
            </a:solidFill>
          </a:ln>
        </p:spPr>
        <p:txBody>
          <a:bodyPr/>
          <a:lstStyle/>
          <a:p>
            <a:endParaRPr lang="en-US"/>
          </a:p>
        </p:txBody>
      </p:sp>
      <p:sp>
        <p:nvSpPr>
          <p:cNvPr id="18" name="Rectangle: Rounded Corners 3">
            <a:extLst>
              <a:ext uri="{FF2B5EF4-FFF2-40B4-BE49-F238E27FC236}">
                <a16:creationId xmlns:a16="http://schemas.microsoft.com/office/drawing/2014/main" id="{50920E87-72BA-4CFB-911E-720E018AD071}"/>
              </a:ext>
            </a:extLst>
          </p:cNvPr>
          <p:cNvSpPr>
            <a:spLocks noGrp="1"/>
          </p:cNvSpPr>
          <p:nvPr/>
        </p:nvSpPr>
        <p:spPr>
          <a:xfrm>
            <a:off x="914400" y="1828800"/>
            <a:ext cx="7863840" cy="6035040"/>
          </a:xfrm>
          <a:prstGeom prst="roundRect">
            <a:avLst>
              <a:gd name="adj" fmla="val 2857"/>
            </a:avLst>
          </a:prstGeom>
          <a:solidFill>
            <a:srgbClr val="F4F7FC"/>
          </a:solidFill>
          <a:ln w="14288">
            <a:solidFill>
              <a:srgbClr val="2C5BA9"/>
            </a:solidFill>
          </a:ln>
        </p:spPr>
        <p:txBody>
          <a:bodyPr/>
          <a:lstStyle/>
          <a:p>
            <a:endParaRPr lang="en-US"/>
          </a:p>
        </p:txBody>
      </p:sp>
      <p:sp>
        <p:nvSpPr>
          <p:cNvPr id="17" name="Rectangle 16">
            <a:extLst>
              <a:ext uri="{FF2B5EF4-FFF2-40B4-BE49-F238E27FC236}">
                <a16:creationId xmlns:a16="http://schemas.microsoft.com/office/drawing/2014/main" id="{931F3316-D145-4396-9C11-C7EC87427F19}"/>
              </a:ext>
            </a:extLst>
          </p:cNvPr>
          <p:cNvSpPr>
            <a:spLocks noGrp="1"/>
          </p:cNvSpPr>
          <p:nvPr/>
        </p:nvSpPr>
        <p:spPr>
          <a:xfrm>
            <a:off x="914400" y="609600"/>
            <a:ext cx="16459200" cy="952500"/>
          </a:xfrm>
          <a:prstGeom prst="rect">
            <a:avLst/>
          </a:prstGeom>
          <a:noFill/>
          <a:ln w="0">
            <a:noFill/>
          </a:ln>
        </p:spPr>
        <p:txBody>
          <a:bodyPr/>
          <a:lstStyle>
            <a:defPPr>
              <a:defRPr sz="4200" b="1">
                <a:solidFill>
                  <a:srgbClr val="2C5BA9"/>
                </a:solidFill>
                <a:latin typeface="Noto Sans CJK KR"/>
                <a:ea typeface="Noto Sans CJK KR"/>
                <a:cs typeface="Noto Sans CJK KR"/>
              </a:defRPr>
            </a:defPPr>
          </a:lstStyle>
          <a:p>
            <a:pPr>
              <a:defRPr sz="4200" b="1">
                <a:solidFill>
                  <a:srgbClr val="2C5BA9"/>
                </a:solidFill>
                <a:latin typeface="Noto Sans CJK KR"/>
                <a:ea typeface="Noto Sans CJK KR"/>
                <a:cs typeface="Noto Sans CJK KR"/>
              </a:defRPr>
            </a:pPr>
            <a:r>
              <a:rPr sz="6000" b="1" dirty="0">
                <a:solidFill>
                  <a:srgbClr val="2C5BA9"/>
                </a:solidFill>
                <a:latin typeface="Noto Sans CJK KR"/>
                <a:ea typeface="Noto Sans CJK KR"/>
                <a:cs typeface="Noto Sans CJK KR"/>
              </a:rPr>
              <a:t>Validation &amp; Limitations</a:t>
            </a:r>
          </a:p>
        </p:txBody>
      </p:sp>
      <p:sp>
        <p:nvSpPr>
          <p:cNvPr id="10" name="Rectangle 9">
            <a:extLst>
              <a:ext uri="{FF2B5EF4-FFF2-40B4-BE49-F238E27FC236}">
                <a16:creationId xmlns:a16="http://schemas.microsoft.com/office/drawing/2014/main" id="{FD987E50-6843-4E74-84D4-9FD4AE1588E2}"/>
              </a:ext>
            </a:extLst>
          </p:cNvPr>
          <p:cNvSpPr>
            <a:spLocks noGrp="1"/>
          </p:cNvSpPr>
          <p:nvPr/>
        </p:nvSpPr>
        <p:spPr>
          <a:xfrm>
            <a:off x="1234440" y="2057400"/>
            <a:ext cx="73152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Validation Plan</a:t>
            </a:r>
          </a:p>
        </p:txBody>
      </p:sp>
      <p:sp>
        <p:nvSpPr>
          <p:cNvPr id="11" name="Rectangle 10">
            <a:extLst>
              <a:ext uri="{FF2B5EF4-FFF2-40B4-BE49-F238E27FC236}">
                <a16:creationId xmlns:a16="http://schemas.microsoft.com/office/drawing/2014/main" id="{EB72E32D-56FD-4CE4-966D-6942B39E2C2B}"/>
              </a:ext>
            </a:extLst>
          </p:cNvPr>
          <p:cNvSpPr>
            <a:spLocks noGrp="1"/>
          </p:cNvSpPr>
          <p:nvPr/>
        </p:nvSpPr>
        <p:spPr>
          <a:xfrm>
            <a:off x="1234440" y="2743200"/>
            <a:ext cx="7315200" cy="1188720"/>
          </a:xfrm>
          <a:prstGeom prst="rect">
            <a:avLst/>
          </a:prstGeom>
          <a:noFill/>
          <a:ln w="0">
            <a:noFill/>
          </a:ln>
        </p:spPr>
        <p:txBody>
          <a:bodyPr/>
          <a:lstStyle>
            <a:defPPr>
              <a:defRPr sz="2025" b="0">
                <a:solidFill>
                  <a:srgbClr val="17212D"/>
                </a:solidFill>
                <a:latin typeface="Noto Sans CJK KR"/>
                <a:ea typeface="Noto Sans CJK KR"/>
                <a:cs typeface="Noto Sans CJK KR"/>
              </a:defRPr>
            </a:defPPr>
          </a:lstStyle>
          <a:p>
            <a:pPr>
              <a:defRPr sz="2025" b="0">
                <a:solidFill>
                  <a:srgbClr val="17212D"/>
                </a:solidFill>
                <a:latin typeface="Noto Sans CJK KR"/>
                <a:ea typeface="Noto Sans CJK KR"/>
                <a:cs typeface="Noto Sans CJK KR"/>
              </a:defRPr>
            </a:pPr>
            <a:r>
              <a:rPr sz="2400" b="0">
                <a:solidFill>
                  <a:srgbClr val="17212D"/>
                </a:solidFill>
                <a:latin typeface="Noto Sans CJK KR"/>
                <a:ea typeface="Noto Sans CJK KR"/>
                <a:cs typeface="Noto Sans CJK KR"/>
              </a:rPr>
              <a:t>We will compare search time with and without Where-Is-It AI and check whether the system:</a:t>
            </a:r>
          </a:p>
        </p:txBody>
      </p:sp>
      <p:sp>
        <p:nvSpPr>
          <p:cNvPr id="12" name="Rectangle 11">
            <a:extLst>
              <a:ext uri="{FF2B5EF4-FFF2-40B4-BE49-F238E27FC236}">
                <a16:creationId xmlns:a16="http://schemas.microsoft.com/office/drawing/2014/main" id="{85D6DF62-8F94-4DA0-9950-9A5C3BA74A46}"/>
              </a:ext>
            </a:extLst>
          </p:cNvPr>
          <p:cNvSpPr>
            <a:spLocks noGrp="1"/>
          </p:cNvSpPr>
          <p:nvPr/>
        </p:nvSpPr>
        <p:spPr>
          <a:xfrm>
            <a:off x="1234440" y="4069080"/>
            <a:ext cx="7315200" cy="3474720"/>
          </a:xfrm>
          <a:prstGeom prst="rect">
            <a:avLst/>
          </a:prstGeom>
          <a:noFill/>
          <a:ln w="0">
            <a:noFill/>
          </a:ln>
        </p:spPr>
        <p:txBody>
          <a:bodyPr/>
          <a:lstStyle>
            <a:defPPr>
              <a:defRPr sz="1950" b="0">
                <a:solidFill>
                  <a:srgbClr val="17212D"/>
                </a:solidFill>
                <a:latin typeface="Noto Sans CJK KR"/>
                <a:ea typeface="Noto Sans CJK KR"/>
                <a:cs typeface="Noto Sans CJK KR"/>
              </a:defRPr>
            </a:defPPr>
          </a:lstStyle>
          <a:p>
            <a:pPr marL="342900" indent="-342900">
              <a:buFont typeface="Arial" panose="020B0604020202020204" pitchFamily="34" charset="0"/>
              <a:buChar char="•"/>
              <a:defRPr sz="1950" b="0">
                <a:solidFill>
                  <a:srgbClr val="17212D"/>
                </a:solidFill>
                <a:latin typeface="Noto Sans CJK KR"/>
                <a:ea typeface="Noto Sans CJK KR"/>
                <a:cs typeface="Noto Sans CJK KR"/>
              </a:defRPr>
            </a:pPr>
            <a:r>
              <a:rPr sz="2400" b="0" dirty="0">
                <a:solidFill>
                  <a:srgbClr val="17212D"/>
                </a:solidFill>
                <a:latin typeface="Noto Sans CJK KR"/>
                <a:ea typeface="Noto Sans CJK KR"/>
                <a:cs typeface="Noto Sans CJK KR"/>
              </a:rPr>
              <a:t>Gives correct last-seen information</a:t>
            </a:r>
          </a:p>
          <a:p>
            <a:pPr marL="342900" indent="-342900">
              <a:buFont typeface="Arial" panose="020B0604020202020204" pitchFamily="34" charset="0"/>
              <a:buChar char="•"/>
              <a:defRPr sz="1950" b="0">
                <a:solidFill>
                  <a:srgbClr val="17212D"/>
                </a:solidFill>
                <a:latin typeface="Noto Sans CJK KR"/>
                <a:ea typeface="Noto Sans CJK KR"/>
                <a:cs typeface="Noto Sans CJK KR"/>
              </a:defRPr>
            </a:pPr>
            <a:r>
              <a:rPr sz="2400" b="0" dirty="0">
                <a:solidFill>
                  <a:srgbClr val="17212D"/>
                </a:solidFill>
                <a:latin typeface="Noto Sans CJK KR"/>
                <a:ea typeface="Noto Sans CJK KR"/>
                <a:cs typeface="Noto Sans CJK KR"/>
              </a:rPr>
              <a:t>Encourages users to check the suggested last-seen location</a:t>
            </a:r>
          </a:p>
          <a:p>
            <a:pPr marL="342900" indent="-342900">
              <a:buFont typeface="Arial" panose="020B0604020202020204" pitchFamily="34" charset="0"/>
              <a:buChar char="•"/>
              <a:defRPr sz="1950" b="0">
                <a:solidFill>
                  <a:srgbClr val="17212D"/>
                </a:solidFill>
                <a:latin typeface="Noto Sans CJK KR"/>
                <a:ea typeface="Noto Sans CJK KR"/>
                <a:cs typeface="Noto Sans CJK KR"/>
              </a:defRPr>
            </a:pPr>
            <a:r>
              <a:rPr sz="2400" b="0" dirty="0">
                <a:solidFill>
                  <a:srgbClr val="17212D"/>
                </a:solidFill>
                <a:latin typeface="Noto Sans CJK KR"/>
                <a:ea typeface="Noto Sans CJK KR"/>
                <a:cs typeface="Noto Sans CJK KR"/>
              </a:rPr>
              <a:t>Helps users search the suggested location first</a:t>
            </a:r>
          </a:p>
          <a:p>
            <a:pPr marL="342900" indent="-342900">
              <a:buFont typeface="Arial" panose="020B0604020202020204" pitchFamily="34" charset="0"/>
              <a:buChar char="•"/>
              <a:defRPr sz="1950" b="0">
                <a:solidFill>
                  <a:srgbClr val="17212D"/>
                </a:solidFill>
                <a:latin typeface="Noto Sans CJK KR"/>
                <a:ea typeface="Noto Sans CJK KR"/>
                <a:cs typeface="Noto Sans CJK KR"/>
              </a:defRPr>
            </a:pPr>
            <a:r>
              <a:rPr sz="2400" b="0" dirty="0">
                <a:solidFill>
                  <a:srgbClr val="17212D"/>
                </a:solidFill>
                <a:latin typeface="Noto Sans CJK KR"/>
                <a:ea typeface="Noto Sans CJK KR"/>
                <a:cs typeface="Noto Sans CJK KR"/>
              </a:rPr>
              <a:t>Reduces the time needed to find belongings</a:t>
            </a:r>
          </a:p>
        </p:txBody>
      </p:sp>
      <p:sp>
        <p:nvSpPr>
          <p:cNvPr id="13" name="Rectangle 12">
            <a:extLst>
              <a:ext uri="{FF2B5EF4-FFF2-40B4-BE49-F238E27FC236}">
                <a16:creationId xmlns:a16="http://schemas.microsoft.com/office/drawing/2014/main" id="{564875C1-2D55-4933-9A56-55C566912192}"/>
              </a:ext>
            </a:extLst>
          </p:cNvPr>
          <p:cNvSpPr>
            <a:spLocks noGrp="1"/>
          </p:cNvSpPr>
          <p:nvPr/>
        </p:nvSpPr>
        <p:spPr>
          <a:xfrm>
            <a:off x="9829800" y="2057400"/>
            <a:ext cx="73152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Current Limitations</a:t>
            </a:r>
          </a:p>
        </p:txBody>
      </p:sp>
      <p:sp>
        <p:nvSpPr>
          <p:cNvPr id="14" name="Rectangle 13">
            <a:extLst>
              <a:ext uri="{FF2B5EF4-FFF2-40B4-BE49-F238E27FC236}">
                <a16:creationId xmlns:a16="http://schemas.microsoft.com/office/drawing/2014/main" id="{644326AE-FE05-44ED-9736-F49B28F841B9}"/>
              </a:ext>
            </a:extLst>
          </p:cNvPr>
          <p:cNvSpPr>
            <a:spLocks noGrp="1"/>
          </p:cNvSpPr>
          <p:nvPr/>
        </p:nvSpPr>
        <p:spPr>
          <a:xfrm>
            <a:off x="9829800" y="2743200"/>
            <a:ext cx="7315200" cy="4389120"/>
          </a:xfrm>
          <a:prstGeom prst="rect">
            <a:avLst/>
          </a:prstGeom>
          <a:noFill/>
          <a:ln w="0">
            <a:noFill/>
          </a:ln>
        </p:spPr>
        <p:txBody>
          <a:bodyPr/>
          <a:lstStyle>
            <a:defPPr>
              <a:defRPr sz="1950" b="0">
                <a:solidFill>
                  <a:srgbClr val="17212D"/>
                </a:solidFill>
                <a:latin typeface="Noto Sans CJK KR"/>
                <a:ea typeface="Noto Sans CJK KR"/>
                <a:cs typeface="Noto Sans CJK KR"/>
              </a:defRPr>
            </a:defPPr>
          </a:lstStyle>
          <a:p>
            <a:pPr marL="342900" indent="-342900">
              <a:buFont typeface="Arial" panose="020B0604020202020204" pitchFamily="34" charset="0"/>
              <a:buChar char="•"/>
              <a:defRPr sz="1950" b="0">
                <a:solidFill>
                  <a:srgbClr val="17212D"/>
                </a:solidFill>
                <a:latin typeface="Noto Sans CJK KR"/>
                <a:ea typeface="Noto Sans CJK KR"/>
                <a:cs typeface="Noto Sans CJK KR"/>
              </a:defRPr>
            </a:pPr>
            <a:r>
              <a:rPr sz="2400" b="0" dirty="0">
                <a:solidFill>
                  <a:srgbClr val="17212D"/>
                </a:solidFill>
                <a:latin typeface="Noto Sans CJK KR"/>
                <a:ea typeface="Noto Sans CJK KR"/>
                <a:cs typeface="Noto Sans CJK KR"/>
              </a:rPr>
              <a:t>Camera Visibility: Cannot detect objects hidden in closed bags or drawers.</a:t>
            </a:r>
          </a:p>
          <a:p>
            <a:pPr marL="342900" indent="-342900">
              <a:buFont typeface="Arial" panose="020B0604020202020204" pitchFamily="34" charset="0"/>
              <a:buChar char="•"/>
              <a:defRPr sz="1950" b="0">
                <a:solidFill>
                  <a:srgbClr val="17212D"/>
                </a:solidFill>
                <a:latin typeface="Noto Sans CJK KR"/>
                <a:ea typeface="Noto Sans CJK KR"/>
                <a:cs typeface="Noto Sans CJK KR"/>
              </a:defRPr>
            </a:pPr>
            <a:r>
              <a:rPr sz="2400" b="0" dirty="0">
                <a:solidFill>
                  <a:srgbClr val="17212D"/>
                </a:solidFill>
                <a:latin typeface="Noto Sans CJK KR"/>
                <a:ea typeface="Noto Sans CJK KR"/>
                <a:cs typeface="Noto Sans CJK KR"/>
              </a:rPr>
              <a:t>Detection Uncertainty: Without reliable evidence, the system says the location cannot be confirmed instead of guessing.</a:t>
            </a:r>
          </a:p>
          <a:p>
            <a:pPr marL="342900" indent="-342900">
              <a:buFont typeface="Arial" panose="020B0604020202020204" pitchFamily="34" charset="0"/>
              <a:buChar char="•"/>
              <a:defRPr sz="1950" b="0">
                <a:solidFill>
                  <a:srgbClr val="17212D"/>
                </a:solidFill>
                <a:latin typeface="Noto Sans CJK KR"/>
                <a:ea typeface="Noto Sans CJK KR"/>
                <a:cs typeface="Noto Sans CJK KR"/>
              </a:defRPr>
            </a:pPr>
            <a:r>
              <a:rPr sz="2400" b="0" dirty="0">
                <a:solidFill>
                  <a:srgbClr val="17212D"/>
                </a:solidFill>
                <a:latin typeface="Noto Sans CJK KR"/>
                <a:ea typeface="Noto Sans CJK KR"/>
                <a:cs typeface="Noto Sans CJK KR"/>
              </a:rPr>
              <a:t>Privacy &amp; Security: Camera information requires appropriate protection.</a:t>
            </a:r>
          </a:p>
        </p:txBody>
      </p:sp>
      <p:sp>
        <p:nvSpPr>
          <p:cNvPr id="15" name="Rectangle 14">
            <a:extLst>
              <a:ext uri="{FF2B5EF4-FFF2-40B4-BE49-F238E27FC236}">
                <a16:creationId xmlns:a16="http://schemas.microsoft.com/office/drawing/2014/main" id="{5A90589D-F68E-4C31-B079-6E033BCCD405}"/>
              </a:ext>
            </a:extLst>
          </p:cNvPr>
          <p:cNvSpPr>
            <a:spLocks noGrp="1"/>
          </p:cNvSpPr>
          <p:nvPr/>
        </p:nvSpPr>
        <p:spPr>
          <a:xfrm>
            <a:off x="914400" y="8458200"/>
            <a:ext cx="2377440" cy="409575"/>
          </a:xfrm>
          <a:prstGeom prst="rect">
            <a:avLst/>
          </a:prstGeom>
          <a:noFill/>
          <a:ln w="0">
            <a:noFill/>
          </a:ln>
        </p:spPr>
        <p:txBody>
          <a:bodyPr/>
          <a:lstStyle>
            <a:defPPr>
              <a:defRPr sz="1875" b="1">
                <a:solidFill>
                  <a:srgbClr val="2C5BA9"/>
                </a:solidFill>
                <a:latin typeface="Noto Sans CJK KR"/>
                <a:ea typeface="Noto Sans CJK KR"/>
                <a:cs typeface="Noto Sans CJK KR"/>
              </a:defRPr>
            </a:defPPr>
          </a:lstStyle>
          <a:p>
            <a:pPr>
              <a:defRPr sz="1875" b="1">
                <a:solidFill>
                  <a:srgbClr val="2C5BA9"/>
                </a:solidFill>
                <a:latin typeface="Noto Sans CJK KR"/>
                <a:ea typeface="Noto Sans CJK KR"/>
                <a:cs typeface="Noto Sans CJK KR"/>
              </a:defRPr>
            </a:pPr>
            <a:r>
              <a:rPr sz="2200" b="1" dirty="0">
                <a:solidFill>
                  <a:srgbClr val="2C5BA9"/>
                </a:solidFill>
                <a:latin typeface="Noto Sans CJK KR"/>
                <a:ea typeface="Noto Sans CJK KR"/>
                <a:cs typeface="Noto Sans CJK KR"/>
              </a:rPr>
              <a:t>Current Status</a:t>
            </a:r>
          </a:p>
        </p:txBody>
      </p:sp>
      <p:sp>
        <p:nvSpPr>
          <p:cNvPr id="16" name="Rectangle 15">
            <a:extLst>
              <a:ext uri="{FF2B5EF4-FFF2-40B4-BE49-F238E27FC236}">
                <a16:creationId xmlns:a16="http://schemas.microsoft.com/office/drawing/2014/main" id="{DE565FC0-3D2E-4D8E-AF7D-9D420A068015}"/>
              </a:ext>
            </a:extLst>
          </p:cNvPr>
          <p:cNvSpPr>
            <a:spLocks noGrp="1"/>
          </p:cNvSpPr>
          <p:nvPr/>
        </p:nvSpPr>
        <p:spPr>
          <a:xfrm>
            <a:off x="3291840" y="8412480"/>
            <a:ext cx="14081760" cy="571500"/>
          </a:xfrm>
          <a:prstGeom prst="rect">
            <a:avLst/>
          </a:prstGeom>
          <a:noFill/>
          <a:ln w="0">
            <a:noFill/>
          </a:ln>
        </p:spPr>
        <p:txBody>
          <a:bodyPr/>
          <a:lstStyle>
            <a:defPPr>
              <a:defRPr sz="1875" b="0">
                <a:solidFill>
                  <a:srgbClr val="17212D"/>
                </a:solidFill>
                <a:latin typeface="Noto Sans CJK KR"/>
                <a:ea typeface="Noto Sans CJK KR"/>
                <a:cs typeface="Noto Sans CJK KR"/>
              </a:defRPr>
            </a:defPPr>
          </a:lstStyle>
          <a:p>
            <a:pPr>
              <a:defRPr sz="1875" b="0">
                <a:solidFill>
                  <a:srgbClr val="17212D"/>
                </a:solidFill>
                <a:latin typeface="Noto Sans CJK KR"/>
                <a:ea typeface="Noto Sans CJK KR"/>
                <a:cs typeface="Noto Sans CJK KR"/>
              </a:defRPr>
            </a:pPr>
            <a:r>
              <a:rPr sz="2200" b="0" dirty="0">
                <a:solidFill>
                  <a:srgbClr val="17212D"/>
                </a:solidFill>
                <a:latin typeface="Noto Sans CJK KR"/>
                <a:ea typeface="Noto Sans CJK KR"/>
                <a:cs typeface="Noto Sans CJK KR"/>
              </a:rPr>
              <a:t>Interviews support the existence of the problem, but the proposed solution still requires testing.</a:t>
            </a:r>
          </a:p>
        </p:txBody>
      </p:sp>
    </p:spTree>
    <p:extLst>
      <p:ext uri="{BB962C8B-B14F-4D97-AF65-F5344CB8AC3E}">
        <p14:creationId xmlns:p14="http://schemas.microsoft.com/office/powerpoint/2010/main" val="100330305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6" name="Straight Arrow Connector 15">
            <a:extLst>
              <a:ext uri="{FF2B5EF4-FFF2-40B4-BE49-F238E27FC236}">
                <a16:creationId xmlns:a16="http://schemas.microsoft.com/office/drawing/2014/main" id="{EB5D6B6C-F791-4009-ACFA-E02DADA52BFB}"/>
              </a:ext>
            </a:extLst>
          </p:cNvPr>
          <p:cNvCxnSpPr>
            <a:stCxn id="9" idx="3"/>
            <a:endCxn id="11" idx="1"/>
          </p:cNvCxnSpPr>
          <p:nvPr/>
        </p:nvCxnSpPr>
        <p:spPr>
          <a:xfrm>
            <a:off x="13868400" y="4500563"/>
            <a:ext cx="381000" cy="0"/>
          </a:xfrm>
          <a:prstGeom prst="straightConnector1">
            <a:avLst/>
          </a:prstGeom>
          <a:ln w="28575">
            <a:solidFill>
              <a:srgbClr val="2C5BA9"/>
            </a:solidFill>
            <a:tailEnd type="triangle" w="sm" len="sm"/>
          </a:ln>
        </p:spPr>
      </p:cxnSp>
      <p:cxnSp>
        <p:nvCxnSpPr>
          <p:cNvPr id="15" name="Straight Arrow Connector 14">
            <a:extLst>
              <a:ext uri="{FF2B5EF4-FFF2-40B4-BE49-F238E27FC236}">
                <a16:creationId xmlns:a16="http://schemas.microsoft.com/office/drawing/2014/main" id="{A2EE653E-4903-4076-890D-B4F2B9B0A56A}"/>
              </a:ext>
            </a:extLst>
          </p:cNvPr>
          <p:cNvCxnSpPr>
            <a:stCxn id="7" idx="3"/>
            <a:endCxn id="9" idx="1"/>
          </p:cNvCxnSpPr>
          <p:nvPr/>
        </p:nvCxnSpPr>
        <p:spPr>
          <a:xfrm>
            <a:off x="10534650" y="4500563"/>
            <a:ext cx="381000" cy="0"/>
          </a:xfrm>
          <a:prstGeom prst="straightConnector1">
            <a:avLst/>
          </a:prstGeom>
          <a:ln w="28575">
            <a:solidFill>
              <a:srgbClr val="2C5BA9"/>
            </a:solidFill>
            <a:tailEnd type="triangle" w="sm" len="sm"/>
          </a:ln>
        </p:spPr>
      </p:cxnSp>
      <p:cxnSp>
        <p:nvCxnSpPr>
          <p:cNvPr id="14" name="Straight Arrow Connector 13">
            <a:extLst>
              <a:ext uri="{FF2B5EF4-FFF2-40B4-BE49-F238E27FC236}">
                <a16:creationId xmlns:a16="http://schemas.microsoft.com/office/drawing/2014/main" id="{B86F5843-5463-4D2F-B955-709F08590520}"/>
              </a:ext>
            </a:extLst>
          </p:cNvPr>
          <p:cNvCxnSpPr>
            <a:stCxn id="5" idx="3"/>
            <a:endCxn id="7" idx="1"/>
          </p:cNvCxnSpPr>
          <p:nvPr/>
        </p:nvCxnSpPr>
        <p:spPr>
          <a:xfrm>
            <a:off x="7200900" y="4500563"/>
            <a:ext cx="381000" cy="0"/>
          </a:xfrm>
          <a:prstGeom prst="straightConnector1">
            <a:avLst/>
          </a:prstGeom>
          <a:ln w="28575">
            <a:solidFill>
              <a:srgbClr val="2C5BA9"/>
            </a:solidFill>
            <a:tailEnd type="triangle" w="sm" len="sm"/>
          </a:ln>
        </p:spPr>
      </p:cxnSp>
      <p:cxnSp>
        <p:nvCxnSpPr>
          <p:cNvPr id="13" name="Straight Arrow Connector 12">
            <a:extLst>
              <a:ext uri="{FF2B5EF4-FFF2-40B4-BE49-F238E27FC236}">
                <a16:creationId xmlns:a16="http://schemas.microsoft.com/office/drawing/2014/main" id="{62CF2977-BEA7-4AA4-941B-B6E687F0CB12}"/>
              </a:ext>
            </a:extLst>
          </p:cNvPr>
          <p:cNvCxnSpPr>
            <a:stCxn id="3" idx="3"/>
            <a:endCxn id="5" idx="1"/>
          </p:cNvCxnSpPr>
          <p:nvPr/>
        </p:nvCxnSpPr>
        <p:spPr>
          <a:xfrm>
            <a:off x="3867150" y="4500563"/>
            <a:ext cx="381000" cy="0"/>
          </a:xfrm>
          <a:prstGeom prst="straightConnector1">
            <a:avLst/>
          </a:prstGeom>
          <a:ln w="28575">
            <a:solidFill>
              <a:srgbClr val="2C5BA9"/>
            </a:solidFill>
            <a:tailEnd type="triangle" w="sm" len="sm"/>
          </a:ln>
        </p:spPr>
      </p:cxnSp>
      <p:sp>
        <p:nvSpPr>
          <p:cNvPr id="20" name="Rectangle 19">
            <a:extLst>
              <a:ext uri="{FF2B5EF4-FFF2-40B4-BE49-F238E27FC236}">
                <a16:creationId xmlns:a16="http://schemas.microsoft.com/office/drawing/2014/main" id="{B404E45E-C7E7-4BB0-9C86-9106EFD41C2D}"/>
              </a:ext>
            </a:extLst>
          </p:cNvPr>
          <p:cNvSpPr>
            <a:spLocks noGrp="1"/>
          </p:cNvSpPr>
          <p:nvPr/>
        </p:nvSpPr>
        <p:spPr>
          <a:xfrm>
            <a:off x="914400" y="609600"/>
            <a:ext cx="16459200" cy="952500"/>
          </a:xfrm>
          <a:prstGeom prst="rect">
            <a:avLst/>
          </a:prstGeom>
          <a:noFill/>
          <a:ln w="0">
            <a:noFill/>
          </a:ln>
        </p:spPr>
        <p:txBody>
          <a:bodyPr/>
          <a:lstStyle>
            <a:defPPr>
              <a:defRPr sz="4200" b="1">
                <a:solidFill>
                  <a:srgbClr val="2C5BA9"/>
                </a:solidFill>
                <a:latin typeface="Noto Sans CJK KR"/>
                <a:ea typeface="Noto Sans CJK KR"/>
                <a:cs typeface="Noto Sans CJK KR"/>
              </a:defRPr>
            </a:defPPr>
          </a:lstStyle>
          <a:p>
            <a:pPr>
              <a:defRPr sz="4200" b="1">
                <a:solidFill>
                  <a:srgbClr val="2C5BA9"/>
                </a:solidFill>
                <a:latin typeface="Noto Sans CJK KR"/>
                <a:ea typeface="Noto Sans CJK KR"/>
                <a:cs typeface="Noto Sans CJK KR"/>
              </a:defRPr>
            </a:pPr>
            <a:r>
              <a:rPr sz="6000" b="1" dirty="0">
                <a:solidFill>
                  <a:srgbClr val="2C5BA9"/>
                </a:solidFill>
                <a:latin typeface="Noto Sans CJK KR"/>
                <a:ea typeface="Noto Sans CJK KR"/>
                <a:cs typeface="Noto Sans CJK KR"/>
              </a:rPr>
              <a:t>Conclusion</a:t>
            </a:r>
          </a:p>
        </p:txBody>
      </p:sp>
      <p:sp>
        <p:nvSpPr>
          <p:cNvPr id="2" name="Rectangle 1">
            <a:extLst>
              <a:ext uri="{FF2B5EF4-FFF2-40B4-BE49-F238E27FC236}">
                <a16:creationId xmlns:a16="http://schemas.microsoft.com/office/drawing/2014/main" id="{1CFAE702-C806-493F-B418-C3FABF4872E9}"/>
              </a:ext>
            </a:extLst>
          </p:cNvPr>
          <p:cNvSpPr>
            <a:spLocks noGrp="1"/>
          </p:cNvSpPr>
          <p:nvPr/>
        </p:nvSpPr>
        <p:spPr>
          <a:xfrm>
            <a:off x="914400" y="2095500"/>
            <a:ext cx="164592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a:solidFill>
                  <a:srgbClr val="2C5BA9"/>
                </a:solidFill>
                <a:latin typeface="Noto Sans CJK KR"/>
                <a:ea typeface="Noto Sans CJK KR"/>
                <a:cs typeface="Noto Sans CJK KR"/>
              </a:rPr>
              <a:t>What We Accomplished</a:t>
            </a:r>
          </a:p>
        </p:txBody>
      </p:sp>
      <p:sp>
        <p:nvSpPr>
          <p:cNvPr id="3" name="Rectangle: Rounded Corners 2">
            <a:extLst>
              <a:ext uri="{FF2B5EF4-FFF2-40B4-BE49-F238E27FC236}">
                <a16:creationId xmlns:a16="http://schemas.microsoft.com/office/drawing/2014/main" id="{EC629C6D-B8AF-413F-BA34-B5A0052E63E7}"/>
              </a:ext>
            </a:extLst>
          </p:cNvPr>
          <p:cNvSpPr>
            <a:spLocks noGrp="1"/>
          </p:cNvSpPr>
          <p:nvPr/>
        </p:nvSpPr>
        <p:spPr>
          <a:xfrm>
            <a:off x="914400" y="3333750"/>
            <a:ext cx="2952750" cy="2333625"/>
          </a:xfrm>
          <a:prstGeom prst="roundRect">
            <a:avLst>
              <a:gd name="adj" fmla="val 3265"/>
            </a:avLst>
          </a:prstGeom>
          <a:solidFill>
            <a:srgbClr val="F1F4F8"/>
          </a:solidFill>
          <a:ln w="19050">
            <a:solidFill>
              <a:srgbClr val="2C5BA9"/>
            </a:solidFill>
          </a:ln>
        </p:spPr>
        <p:txBody>
          <a:bodyPr/>
          <a:lstStyle/>
          <a:p>
            <a:endParaRPr lang="en-US"/>
          </a:p>
        </p:txBody>
      </p:sp>
      <p:sp>
        <p:nvSpPr>
          <p:cNvPr id="4" name="Rectangle 3">
            <a:extLst>
              <a:ext uri="{FF2B5EF4-FFF2-40B4-BE49-F238E27FC236}">
                <a16:creationId xmlns:a16="http://schemas.microsoft.com/office/drawing/2014/main" id="{58F1047B-91F6-4B10-95DB-A29A64E74FAE}"/>
              </a:ext>
            </a:extLst>
          </p:cNvPr>
          <p:cNvSpPr>
            <a:spLocks noGrp="1"/>
          </p:cNvSpPr>
          <p:nvPr/>
        </p:nvSpPr>
        <p:spPr>
          <a:xfrm>
            <a:off x="1143000" y="3819525"/>
            <a:ext cx="2495550" cy="1714500"/>
          </a:xfrm>
          <a:prstGeom prst="rect">
            <a:avLst/>
          </a:prstGeom>
          <a:noFill/>
          <a:ln w="0">
            <a:noFill/>
          </a:ln>
        </p:spPr>
        <p:txBody>
          <a:bodyPr/>
          <a:lstStyle>
            <a:defPPr>
              <a:defRPr sz="2400" b="1">
                <a:solidFill>
                  <a:srgbClr val="2C5BA9"/>
                </a:solidFill>
                <a:latin typeface="Noto Sans CJK KR"/>
                <a:ea typeface="Noto Sans CJK KR"/>
                <a:cs typeface="Noto Sans CJK KR"/>
              </a:defRPr>
            </a:defPPr>
          </a:lstStyle>
          <a:p>
            <a:pPr>
              <a:defRPr sz="2400" b="1">
                <a:solidFill>
                  <a:srgbClr val="2C5BA9"/>
                </a:solidFill>
                <a:latin typeface="Noto Sans CJK KR"/>
                <a:ea typeface="Noto Sans CJK KR"/>
                <a:cs typeface="Noto Sans CJK KR"/>
              </a:defRPr>
            </a:pPr>
            <a:r>
              <a:rPr sz="2400" b="1">
                <a:solidFill>
                  <a:srgbClr val="2C5BA9"/>
                </a:solidFill>
                <a:latin typeface="Noto Sans CJK KR"/>
                <a:ea typeface="Noto Sans CJK KR"/>
                <a:cs typeface="Noto Sans CJK KR"/>
              </a:rPr>
              <a:t>Interviewed 10 university students</a:t>
            </a:r>
          </a:p>
        </p:txBody>
      </p:sp>
      <p:sp>
        <p:nvSpPr>
          <p:cNvPr id="5" name="Rectangle: Rounded Corners 4">
            <a:extLst>
              <a:ext uri="{FF2B5EF4-FFF2-40B4-BE49-F238E27FC236}">
                <a16:creationId xmlns:a16="http://schemas.microsoft.com/office/drawing/2014/main" id="{67447DC8-49AA-44EF-A94A-7E8C62F952FD}"/>
              </a:ext>
            </a:extLst>
          </p:cNvPr>
          <p:cNvSpPr>
            <a:spLocks noGrp="1"/>
          </p:cNvSpPr>
          <p:nvPr/>
        </p:nvSpPr>
        <p:spPr>
          <a:xfrm>
            <a:off x="4248150" y="3333750"/>
            <a:ext cx="2952750" cy="2333625"/>
          </a:xfrm>
          <a:prstGeom prst="roundRect">
            <a:avLst>
              <a:gd name="adj" fmla="val 3265"/>
            </a:avLst>
          </a:prstGeom>
          <a:solidFill>
            <a:srgbClr val="F1F4F8"/>
          </a:solidFill>
          <a:ln w="19050">
            <a:solidFill>
              <a:srgbClr val="2C5BA9"/>
            </a:solidFill>
          </a:ln>
        </p:spPr>
        <p:txBody>
          <a:bodyPr/>
          <a:lstStyle/>
          <a:p>
            <a:endParaRPr lang="en-US"/>
          </a:p>
        </p:txBody>
      </p:sp>
      <p:sp>
        <p:nvSpPr>
          <p:cNvPr id="6" name="Rectangle 5">
            <a:extLst>
              <a:ext uri="{FF2B5EF4-FFF2-40B4-BE49-F238E27FC236}">
                <a16:creationId xmlns:a16="http://schemas.microsoft.com/office/drawing/2014/main" id="{9D874C0F-8423-4ECF-BCB6-C00356EA783E}"/>
              </a:ext>
            </a:extLst>
          </p:cNvPr>
          <p:cNvSpPr>
            <a:spLocks noGrp="1"/>
          </p:cNvSpPr>
          <p:nvPr/>
        </p:nvSpPr>
        <p:spPr>
          <a:xfrm>
            <a:off x="4476750" y="3819525"/>
            <a:ext cx="2495550" cy="1714500"/>
          </a:xfrm>
          <a:prstGeom prst="rect">
            <a:avLst/>
          </a:prstGeom>
          <a:noFill/>
          <a:ln w="0">
            <a:noFill/>
          </a:ln>
        </p:spPr>
        <p:txBody>
          <a:bodyPr/>
          <a:lstStyle>
            <a:defPPr>
              <a:defRPr sz="2400" b="1">
                <a:solidFill>
                  <a:srgbClr val="2C5BA9"/>
                </a:solidFill>
                <a:latin typeface="Noto Sans CJK KR"/>
                <a:ea typeface="Noto Sans CJK KR"/>
                <a:cs typeface="Noto Sans CJK KR"/>
              </a:defRPr>
            </a:defPPr>
          </a:lstStyle>
          <a:p>
            <a:pPr>
              <a:defRPr sz="2400" b="1">
                <a:solidFill>
                  <a:srgbClr val="2C5BA9"/>
                </a:solidFill>
                <a:latin typeface="Noto Sans CJK KR"/>
                <a:ea typeface="Noto Sans CJK KR"/>
                <a:cs typeface="Noto Sans CJK KR"/>
              </a:defRPr>
            </a:pPr>
            <a:r>
              <a:rPr sz="2400" b="1">
                <a:solidFill>
                  <a:srgbClr val="2C5BA9"/>
                </a:solidFill>
                <a:latin typeface="Noto Sans CJK KR"/>
                <a:ea typeface="Noto Sans CJK KR"/>
                <a:cs typeface="Noto Sans CJK KR"/>
              </a:rPr>
              <a:t>Identified five key findings</a:t>
            </a:r>
          </a:p>
        </p:txBody>
      </p:sp>
      <p:sp>
        <p:nvSpPr>
          <p:cNvPr id="7" name="Rectangle: Rounded Corners 6">
            <a:extLst>
              <a:ext uri="{FF2B5EF4-FFF2-40B4-BE49-F238E27FC236}">
                <a16:creationId xmlns:a16="http://schemas.microsoft.com/office/drawing/2014/main" id="{4AAF16CE-5122-4610-BC4B-9E1259FB9DD2}"/>
              </a:ext>
            </a:extLst>
          </p:cNvPr>
          <p:cNvSpPr>
            <a:spLocks noGrp="1"/>
          </p:cNvSpPr>
          <p:nvPr/>
        </p:nvSpPr>
        <p:spPr>
          <a:xfrm>
            <a:off x="7581900" y="3333750"/>
            <a:ext cx="2952750" cy="2333625"/>
          </a:xfrm>
          <a:prstGeom prst="roundRect">
            <a:avLst>
              <a:gd name="adj" fmla="val 3265"/>
            </a:avLst>
          </a:prstGeom>
          <a:solidFill>
            <a:srgbClr val="F1F4F8"/>
          </a:solidFill>
          <a:ln w="19050">
            <a:solidFill>
              <a:srgbClr val="2C5BA9"/>
            </a:solidFill>
          </a:ln>
        </p:spPr>
        <p:txBody>
          <a:bodyPr/>
          <a:lstStyle/>
          <a:p>
            <a:endParaRPr lang="en-US"/>
          </a:p>
        </p:txBody>
      </p:sp>
      <p:sp>
        <p:nvSpPr>
          <p:cNvPr id="8" name="Rectangle 7">
            <a:extLst>
              <a:ext uri="{FF2B5EF4-FFF2-40B4-BE49-F238E27FC236}">
                <a16:creationId xmlns:a16="http://schemas.microsoft.com/office/drawing/2014/main" id="{7850EE0F-B745-4063-80A5-2716F5EAD468}"/>
              </a:ext>
            </a:extLst>
          </p:cNvPr>
          <p:cNvSpPr>
            <a:spLocks noGrp="1"/>
          </p:cNvSpPr>
          <p:nvPr/>
        </p:nvSpPr>
        <p:spPr>
          <a:xfrm>
            <a:off x="7810500" y="3819525"/>
            <a:ext cx="2495550" cy="1714500"/>
          </a:xfrm>
          <a:prstGeom prst="rect">
            <a:avLst/>
          </a:prstGeom>
          <a:noFill/>
          <a:ln w="0">
            <a:noFill/>
          </a:ln>
        </p:spPr>
        <p:txBody>
          <a:bodyPr/>
          <a:lstStyle>
            <a:defPPr>
              <a:defRPr sz="2400" b="1">
                <a:solidFill>
                  <a:srgbClr val="2C5BA9"/>
                </a:solidFill>
                <a:latin typeface="Noto Sans CJK KR"/>
                <a:ea typeface="Noto Sans CJK KR"/>
                <a:cs typeface="Noto Sans CJK KR"/>
              </a:defRPr>
            </a:defPPr>
          </a:lstStyle>
          <a:p>
            <a:pPr>
              <a:defRPr sz="2400" b="1">
                <a:solidFill>
                  <a:srgbClr val="2C5BA9"/>
                </a:solidFill>
                <a:latin typeface="Noto Sans CJK KR"/>
                <a:ea typeface="Noto Sans CJK KR"/>
                <a:cs typeface="Noto Sans CJK KR"/>
              </a:defRPr>
            </a:pPr>
            <a:r>
              <a:rPr sz="2400" b="1">
                <a:solidFill>
                  <a:srgbClr val="2C5BA9"/>
                </a:solidFill>
                <a:latin typeface="Noto Sans CJK KR"/>
                <a:ea typeface="Noto Sans CJK KR"/>
                <a:cs typeface="Noto Sans CJK KR"/>
              </a:rPr>
              <a:t>Defined the problem and target users</a:t>
            </a:r>
          </a:p>
        </p:txBody>
      </p:sp>
      <p:sp>
        <p:nvSpPr>
          <p:cNvPr id="9" name="Rectangle: Rounded Corners 8">
            <a:extLst>
              <a:ext uri="{FF2B5EF4-FFF2-40B4-BE49-F238E27FC236}">
                <a16:creationId xmlns:a16="http://schemas.microsoft.com/office/drawing/2014/main" id="{66933A20-DF8B-49E4-9552-426103F60CC2}"/>
              </a:ext>
            </a:extLst>
          </p:cNvPr>
          <p:cNvSpPr>
            <a:spLocks noGrp="1"/>
          </p:cNvSpPr>
          <p:nvPr/>
        </p:nvSpPr>
        <p:spPr>
          <a:xfrm>
            <a:off x="10915650" y="3333750"/>
            <a:ext cx="2952750" cy="2333625"/>
          </a:xfrm>
          <a:prstGeom prst="roundRect">
            <a:avLst>
              <a:gd name="adj" fmla="val 3265"/>
            </a:avLst>
          </a:prstGeom>
          <a:solidFill>
            <a:srgbClr val="F1F4F8"/>
          </a:solidFill>
          <a:ln w="19050">
            <a:solidFill>
              <a:srgbClr val="2C5BA9"/>
            </a:solidFill>
          </a:ln>
        </p:spPr>
        <p:txBody>
          <a:bodyPr/>
          <a:lstStyle/>
          <a:p>
            <a:endParaRPr lang="en-US"/>
          </a:p>
        </p:txBody>
      </p:sp>
      <p:sp>
        <p:nvSpPr>
          <p:cNvPr id="10" name="Rectangle 9">
            <a:extLst>
              <a:ext uri="{FF2B5EF4-FFF2-40B4-BE49-F238E27FC236}">
                <a16:creationId xmlns:a16="http://schemas.microsoft.com/office/drawing/2014/main" id="{658E902B-B8D1-49B4-9859-6861A95D527E}"/>
              </a:ext>
            </a:extLst>
          </p:cNvPr>
          <p:cNvSpPr>
            <a:spLocks noGrp="1"/>
          </p:cNvSpPr>
          <p:nvPr/>
        </p:nvSpPr>
        <p:spPr>
          <a:xfrm>
            <a:off x="11144250" y="3819525"/>
            <a:ext cx="2495550" cy="1714500"/>
          </a:xfrm>
          <a:prstGeom prst="rect">
            <a:avLst/>
          </a:prstGeom>
          <a:noFill/>
          <a:ln w="0">
            <a:noFill/>
          </a:ln>
        </p:spPr>
        <p:txBody>
          <a:bodyPr/>
          <a:lstStyle>
            <a:defPPr>
              <a:defRPr sz="2400" b="1">
                <a:solidFill>
                  <a:srgbClr val="2C5BA9"/>
                </a:solidFill>
                <a:latin typeface="Noto Sans CJK KR"/>
                <a:ea typeface="Noto Sans CJK KR"/>
                <a:cs typeface="Noto Sans CJK KR"/>
              </a:defRPr>
            </a:defPPr>
          </a:lstStyle>
          <a:p>
            <a:pPr>
              <a:defRPr sz="2400" b="1">
                <a:solidFill>
                  <a:srgbClr val="2C5BA9"/>
                </a:solidFill>
                <a:latin typeface="Noto Sans CJK KR"/>
                <a:ea typeface="Noto Sans CJK KR"/>
                <a:cs typeface="Noto Sans CJK KR"/>
              </a:defRPr>
            </a:pPr>
            <a:r>
              <a:rPr sz="2400" b="1">
                <a:solidFill>
                  <a:srgbClr val="2C5BA9"/>
                </a:solidFill>
                <a:latin typeface="Noto Sans CJK KR"/>
                <a:ea typeface="Noto Sans CJK KR"/>
                <a:cs typeface="Noto Sans CJK KR"/>
              </a:rPr>
              <a:t>Developed a mini ontology</a:t>
            </a:r>
          </a:p>
        </p:txBody>
      </p:sp>
      <p:sp>
        <p:nvSpPr>
          <p:cNvPr id="11" name="Rectangle: Rounded Corners 10">
            <a:extLst>
              <a:ext uri="{FF2B5EF4-FFF2-40B4-BE49-F238E27FC236}">
                <a16:creationId xmlns:a16="http://schemas.microsoft.com/office/drawing/2014/main" id="{1E2651FC-73AF-4391-953C-1996018B8210}"/>
              </a:ext>
            </a:extLst>
          </p:cNvPr>
          <p:cNvSpPr>
            <a:spLocks noGrp="1"/>
          </p:cNvSpPr>
          <p:nvPr/>
        </p:nvSpPr>
        <p:spPr>
          <a:xfrm>
            <a:off x="14249400" y="3333750"/>
            <a:ext cx="2952750" cy="2333625"/>
          </a:xfrm>
          <a:prstGeom prst="roundRect">
            <a:avLst>
              <a:gd name="adj" fmla="val 3265"/>
            </a:avLst>
          </a:prstGeom>
          <a:solidFill>
            <a:srgbClr val="F1F4F8"/>
          </a:solidFill>
          <a:ln w="19050">
            <a:solidFill>
              <a:srgbClr val="2C5BA9"/>
            </a:solidFill>
          </a:ln>
        </p:spPr>
        <p:txBody>
          <a:bodyPr/>
          <a:lstStyle/>
          <a:p>
            <a:endParaRPr lang="en-US"/>
          </a:p>
        </p:txBody>
      </p:sp>
      <p:sp>
        <p:nvSpPr>
          <p:cNvPr id="12" name="Rectangle 11">
            <a:extLst>
              <a:ext uri="{FF2B5EF4-FFF2-40B4-BE49-F238E27FC236}">
                <a16:creationId xmlns:a16="http://schemas.microsoft.com/office/drawing/2014/main" id="{FAEB97B5-4EB7-4BE5-BF2E-64B6FC2A7065}"/>
              </a:ext>
            </a:extLst>
          </p:cNvPr>
          <p:cNvSpPr>
            <a:spLocks noGrp="1"/>
          </p:cNvSpPr>
          <p:nvPr/>
        </p:nvSpPr>
        <p:spPr>
          <a:xfrm>
            <a:off x="14478000" y="3819525"/>
            <a:ext cx="2495550" cy="1714500"/>
          </a:xfrm>
          <a:prstGeom prst="rect">
            <a:avLst/>
          </a:prstGeom>
          <a:noFill/>
          <a:ln w="0">
            <a:noFill/>
          </a:ln>
        </p:spPr>
        <p:txBody>
          <a:bodyPr/>
          <a:lstStyle>
            <a:defPPr>
              <a:defRPr sz="2400" b="1">
                <a:solidFill>
                  <a:srgbClr val="2C5BA9"/>
                </a:solidFill>
                <a:latin typeface="Noto Sans CJK KR"/>
                <a:ea typeface="Noto Sans CJK KR"/>
                <a:cs typeface="Noto Sans CJK KR"/>
              </a:defRPr>
            </a:defPPr>
          </a:lstStyle>
          <a:p>
            <a:pPr>
              <a:defRPr sz="2400" b="1">
                <a:solidFill>
                  <a:srgbClr val="2C5BA9"/>
                </a:solidFill>
                <a:latin typeface="Noto Sans CJK KR"/>
                <a:ea typeface="Noto Sans CJK KR"/>
                <a:cs typeface="Noto Sans CJK KR"/>
              </a:defRPr>
            </a:pPr>
            <a:r>
              <a:rPr sz="2400" b="1">
                <a:solidFill>
                  <a:srgbClr val="2C5BA9"/>
                </a:solidFill>
                <a:latin typeface="Noto Sans CJK KR"/>
                <a:ea typeface="Noto Sans CJK KR"/>
                <a:cs typeface="Noto Sans CJK KR"/>
              </a:rPr>
              <a:t>Created Specification Version 1</a:t>
            </a:r>
          </a:p>
        </p:txBody>
      </p:sp>
      <p:sp>
        <p:nvSpPr>
          <p:cNvPr id="17" name="Rectangle 16">
            <a:extLst>
              <a:ext uri="{FF2B5EF4-FFF2-40B4-BE49-F238E27FC236}">
                <a16:creationId xmlns:a16="http://schemas.microsoft.com/office/drawing/2014/main" id="{2DA80D28-3759-4B77-BD10-A3107A5717A8}"/>
              </a:ext>
            </a:extLst>
          </p:cNvPr>
          <p:cNvSpPr>
            <a:spLocks noGrp="1"/>
          </p:cNvSpPr>
          <p:nvPr/>
        </p:nvSpPr>
        <p:spPr>
          <a:xfrm>
            <a:off x="914400" y="7543800"/>
            <a:ext cx="164592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dirty="0">
                <a:solidFill>
                  <a:srgbClr val="2C5BA9"/>
                </a:solidFill>
                <a:latin typeface="Noto Sans CJK KR"/>
                <a:ea typeface="Noto Sans CJK KR"/>
                <a:cs typeface="Noto Sans CJK KR"/>
              </a:rPr>
              <a:t>Next Step</a:t>
            </a:r>
          </a:p>
        </p:txBody>
      </p:sp>
      <p:sp>
        <p:nvSpPr>
          <p:cNvPr id="18" name="Rectangle 17">
            <a:extLst>
              <a:ext uri="{FF2B5EF4-FFF2-40B4-BE49-F238E27FC236}">
                <a16:creationId xmlns:a16="http://schemas.microsoft.com/office/drawing/2014/main" id="{4823AB6A-A9CE-461D-87EE-16584C9727BC}"/>
              </a:ext>
            </a:extLst>
          </p:cNvPr>
          <p:cNvSpPr>
            <a:spLocks noGrp="1"/>
          </p:cNvSpPr>
          <p:nvPr/>
        </p:nvSpPr>
        <p:spPr>
          <a:xfrm>
            <a:off x="914400" y="8046720"/>
            <a:ext cx="16459200" cy="822960"/>
          </a:xfrm>
          <a:prstGeom prst="rect">
            <a:avLst/>
          </a:prstGeom>
          <a:noFill/>
          <a:ln w="0">
            <a:noFill/>
          </a:ln>
        </p:spPr>
        <p:txBody>
          <a:bodyPr/>
          <a:lstStyle>
            <a:defPPr>
              <a:defRPr sz="2850" b="0">
                <a:solidFill>
                  <a:srgbClr val="17212D"/>
                </a:solidFill>
                <a:latin typeface="Noto Sans CJK KR"/>
                <a:ea typeface="Noto Sans CJK KR"/>
                <a:cs typeface="Noto Sans CJK KR"/>
              </a:defRPr>
            </a:defPPr>
          </a:lstStyle>
          <a:p>
            <a:pPr>
              <a:defRPr sz="2850" b="0">
                <a:solidFill>
                  <a:srgbClr val="17212D"/>
                </a:solidFill>
                <a:latin typeface="Noto Sans CJK KR"/>
                <a:ea typeface="Noto Sans CJK KR"/>
                <a:cs typeface="Noto Sans CJK KR"/>
              </a:defRPr>
            </a:pPr>
            <a:r>
              <a:rPr sz="2400" b="0" dirty="0">
                <a:solidFill>
                  <a:srgbClr val="17212D"/>
                </a:solidFill>
                <a:latin typeface="Noto Sans CJK KR"/>
                <a:ea typeface="Noto Sans CJK KR"/>
                <a:cs typeface="Noto Sans CJK KR"/>
              </a:rPr>
              <a:t>Run real user experiments to validate whether Where-Is-It AI helps users find misplaced belongings more efficiently.</a:t>
            </a:r>
          </a:p>
        </p:txBody>
      </p:sp>
      <p:sp>
        <p:nvSpPr>
          <p:cNvPr id="21" name="Rectangle 16">
            <a:extLst>
              <a:ext uri="{FF2B5EF4-FFF2-40B4-BE49-F238E27FC236}">
                <a16:creationId xmlns:a16="http://schemas.microsoft.com/office/drawing/2014/main" id="{2DA80D28-3759-4B77-BD10-A3107A5717A8}"/>
              </a:ext>
            </a:extLst>
          </p:cNvPr>
          <p:cNvSpPr>
            <a:spLocks noGrp="1"/>
          </p:cNvSpPr>
          <p:nvPr/>
        </p:nvSpPr>
        <p:spPr>
          <a:xfrm>
            <a:off x="914400" y="6172200"/>
            <a:ext cx="16459200" cy="57150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defRPr sz="2700" b="1">
                <a:solidFill>
                  <a:srgbClr val="2C5BA9"/>
                </a:solidFill>
                <a:latin typeface="Noto Sans CJK KR"/>
                <a:ea typeface="Noto Sans CJK KR"/>
                <a:cs typeface="Noto Sans CJK KR"/>
              </a:defRPr>
            </a:pPr>
            <a:r>
              <a:rPr sz="2700" b="1" dirty="0">
                <a:solidFill>
                  <a:srgbClr val="2C5BA9"/>
                </a:solidFill>
                <a:latin typeface="Noto Sans CJK KR"/>
                <a:ea typeface="Noto Sans CJK KR"/>
                <a:cs typeface="Noto Sans CJK KR"/>
              </a:rPr>
              <a:t>Key Takeaway</a:t>
            </a:r>
          </a:p>
        </p:txBody>
      </p:sp>
      <p:sp>
        <p:nvSpPr>
          <p:cNvPr id="22" name="Rectangle 17">
            <a:extLst>
              <a:ext uri="{FF2B5EF4-FFF2-40B4-BE49-F238E27FC236}">
                <a16:creationId xmlns:a16="http://schemas.microsoft.com/office/drawing/2014/main" id="{4823AB6A-A9CE-461D-87EE-16584C9727BC}"/>
              </a:ext>
            </a:extLst>
          </p:cNvPr>
          <p:cNvSpPr>
            <a:spLocks noGrp="1"/>
          </p:cNvSpPr>
          <p:nvPr/>
        </p:nvSpPr>
        <p:spPr>
          <a:xfrm>
            <a:off x="914400" y="6675120"/>
            <a:ext cx="16459200" cy="822960"/>
          </a:xfrm>
          <a:prstGeom prst="rect">
            <a:avLst/>
          </a:prstGeom>
          <a:noFill/>
          <a:ln w="0">
            <a:noFill/>
          </a:ln>
        </p:spPr>
        <p:txBody>
          <a:bodyPr/>
          <a:lstStyle>
            <a:defPPr>
              <a:defRPr sz="2850" b="0">
                <a:solidFill>
                  <a:srgbClr val="17212D"/>
                </a:solidFill>
                <a:latin typeface="Noto Sans CJK KR"/>
                <a:ea typeface="Noto Sans CJK KR"/>
                <a:cs typeface="Noto Sans CJK KR"/>
              </a:defRPr>
            </a:defPPr>
          </a:lstStyle>
          <a:p>
            <a:pPr>
              <a:defRPr sz="2850" b="0">
                <a:solidFill>
                  <a:srgbClr val="17212D"/>
                </a:solidFill>
                <a:latin typeface="Noto Sans CJK KR"/>
                <a:ea typeface="Noto Sans CJK KR"/>
                <a:cs typeface="Noto Sans CJK KR"/>
              </a:defRPr>
            </a:pPr>
            <a:r>
              <a:rPr sz="2400" b="0" dirty="0">
                <a:solidFill>
                  <a:srgbClr val="17212D"/>
                </a:solidFill>
                <a:latin typeface="Noto Sans CJK KR"/>
                <a:ea typeface="Noto Sans CJK KR"/>
                <a:cs typeface="Noto Sans CJK KR"/>
              </a:rPr>
              <a:t>Difficulty finding everyday belongings is a real problem for our participants, especially when they are in a hurry.</a:t>
            </a:r>
          </a:p>
        </p:txBody>
      </p:sp>
      <p:sp>
        <p:nvSpPr>
          <p:cNvPr id="23" name="Rectangle 16">
            <a:extLst>
              <a:ext uri="{FF2B5EF4-FFF2-40B4-BE49-F238E27FC236}">
                <a16:creationId xmlns:a16="http://schemas.microsoft.com/office/drawing/2014/main" id="{2DA80D28-3759-4B77-BD10-A3107A5717A8}"/>
              </a:ext>
            </a:extLst>
          </p:cNvPr>
          <p:cNvSpPr>
            <a:spLocks noGrp="1"/>
          </p:cNvSpPr>
          <p:nvPr/>
        </p:nvSpPr>
        <p:spPr>
          <a:xfrm>
            <a:off x="914400" y="9098280"/>
            <a:ext cx="16459200" cy="822960"/>
          </a:xfrm>
          <a:prstGeom prst="rect">
            <a:avLst/>
          </a:prstGeom>
          <a:noFill/>
          <a:ln w="0">
            <a:noFill/>
          </a:ln>
        </p:spPr>
        <p:txBody>
          <a:bodyPr/>
          <a:lstStyle>
            <a:defPPr>
              <a:defRPr sz="2700" b="1">
                <a:solidFill>
                  <a:srgbClr val="2C5BA9"/>
                </a:solidFill>
                <a:latin typeface="Noto Sans CJK KR"/>
                <a:ea typeface="Noto Sans CJK KR"/>
                <a:cs typeface="Noto Sans CJK KR"/>
              </a:defRPr>
            </a:defPPr>
          </a:lstStyle>
          <a:p>
            <a:pPr algn="ctr">
              <a:defRPr sz="2700" b="1">
                <a:solidFill>
                  <a:srgbClr val="2C5BA9"/>
                </a:solidFill>
                <a:latin typeface="Noto Sans CJK KR"/>
                <a:ea typeface="Noto Sans CJK KR"/>
                <a:cs typeface="Noto Sans CJK KR"/>
              </a:defRPr>
            </a:pPr>
            <a:r>
              <a:rPr sz="3600" b="1" dirty="0">
                <a:solidFill>
                  <a:srgbClr val="2C5BA9"/>
                </a:solidFill>
                <a:latin typeface="Noto Sans CJK KR"/>
                <a:ea typeface="Noto Sans CJK KR"/>
                <a:cs typeface="Noto Sans CJK KR"/>
              </a:rPr>
              <a:t>Thank You!  Questions?</a:t>
            </a:r>
          </a:p>
        </p:txBody>
      </p:sp>
    </p:spTree>
    <p:extLst>
      <p:ext uri="{BB962C8B-B14F-4D97-AF65-F5344CB8AC3E}">
        <p14:creationId xmlns:p14="http://schemas.microsoft.com/office/powerpoint/2010/main" val="40728552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2786</TotalTime>
  <Words>2992</Words>
  <Application>Microsoft Macintosh PowerPoint</Application>
  <DocSecurity>0</DocSecurity>
  <PresentationFormat>Custom</PresentationFormat>
  <Paragraphs>380</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Noto Sans CJK KR</vt:lpstr>
      <vt:lpstr>Aptos</vt:lpstr>
      <vt:lpstr>Aptos Light</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SHWE YIN MIN OO</cp:lastModifiedBy>
  <cp:revision>6</cp:revision>
  <dcterms:created xsi:type="dcterms:W3CDTF">2026-10-10T10:16:54Z</dcterms:created>
  <dcterms:modified xsi:type="dcterms:W3CDTF">2026-10-13T11:22:25Z</dcterms:modified>
</cp:coreProperties>
</file>